
<file path=[Content_Types].xml><?xml version="1.0" encoding="utf-8"?>
<Types xmlns="http://schemas.openxmlformats.org/package/2006/content-types">
  <Default Extension="org&amp;utm_campaign=index&amp;utm_content=original"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6" r:id="rId5"/>
    <p:sldId id="269" r:id="rId6"/>
    <p:sldId id="262" r:id="rId7"/>
    <p:sldId id="263" r:id="rId8"/>
    <p:sldId id="270" r:id="rId9"/>
    <p:sldId id="265" r:id="rId10"/>
    <p:sldId id="26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CFF"/>
    <a:srgbClr val="1E35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50"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3934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0:00–0:15
Hi everyone — we're Cobalt Data Society, and today we're pitching Innovation Radar. Four parts: how it works, what makes it unique, what it already found, and an honest look at features and limitations — then we'll show it to you 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0:15–1:10
Every signal we collect gets mapped onto a closed taxonomy: 14 fixed verticals, about 27 use cases, about 21 technologies — the classifier can never invent a new label, null is a valid answer instead of a guess. An Opportunity Space is exactly the triple of those three: Vertical times Use Case times Technology. On top of that, two more closed mappings: Business Domain, derived deterministically from the use case and technology, and Persona — a weighted table that decides which of the 8 reader views an opportunity surfaces 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1:10–2:05
Not all evidence means the same thing, so we classify every signal into one of six types. Buying signal — an active tender — ranks first in the ‘why hot now’ explanation. Regulation signals durable demand. Proof signal is hard, confirmed evidence. Competitor move feeds urgency. Market trend is the softest contributor. Tech maturity points to Later, not an imminent deal. Half are deterministic — rule-matched, no LLM involved — the other half need the LLM to classify, which is exactly where we spend our AI budget and nowhere else.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5:40–6:30
One radar, two playbooks. Defense times Anomaly detection times IoT Platforms tops every ranking we ran — 76% attractiveness, 75% Orange Fit, brand new. Strategists and Sales agree on the next three too. Where they split is rank five: strategists get breadth — 14 signals, lower fit, worth a priorities conversation. Sales gets fit — thin evidence, but the door's already open. One honest note out loud: several of these currently sit on the Watchlist, not yet the Radar — we're showing our full ranking methodology, but our product focus stays on what clears the gate.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6:30–7:20
Presales doesn't sell capability, it sells trust — and every single top-five pick already clears 75% Orange Fit. That's deliberate: Defense, Finance, Aerospace, Government. These are domains where the evidence practically writes the RFP language itself. Say this out loud: rankings also vary by geography — we can target opportunities to a specific region's suitability, not just a global average.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 — Business Findings 3 of 3
So, concretely. Strategist and Sales: attractiveness never really dips, 65 to 76 percent across the board, but Orange Fit swings from 25 to 75 — that's the real variable. Market size backs this up: most picks sit between 31 and 543 million euros, with one flagged outlier near 3.36 billion that deserves its own scrutiny before anyone quotes it. Our move: dig into the market and the industry — size and ROI first — before committing.
Presales flips the picture: Orange Fit is rock-solid at 75 percent everywhere, attractiveness is what moves, 45 to 76. Four of five picks already have a sized market; only Public Sector still needs investigating. Our move there: start building RFP-ready proof points today — capability was never the open question.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8:20–9:30
And here's what's honestly not there yet. Market size — an important number for any opportunity — isn't showing right now: we hit a technical issue on our side, and we're fixing it rather than shipping a guessed figure. Orange Fit is provisional — no CRM, no account data, no competitor evidence yet. Our taxonomy validation is a real but small pilot: 25 human-checked cases, 92% accuracy — encouraging, not proof at full scale. And these are indices, not validated predictions — we don't yet have historical outcomes to calibrate against. We'd rather show you the gaps than oversell a demo.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closing (+ Q&amp;A)
That's Innovation Radar: how it works, what makes it different, what it already found, and an honest look at what's next. Thank you —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org&amp;utm_campaign=index&amp;utm_content=origi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6713883" y="1838740"/>
            <a:ext cx="4909931" cy="4460680"/>
          </a:xfrm>
          <a:prstGeom prst="ellipse">
            <a:avLst/>
          </a:prstGeom>
          <a:ln w="15875">
            <a:solidFill>
              <a:srgbClr val="1B2740"/>
            </a:solidFill>
            <a:prstDash val="solid"/>
          </a:ln>
        </p:spPr>
        <p:txBody>
          <a:bodyPr/>
          <a:lstStyle/>
          <a:p>
            <a:endParaRPr lang="fr-BE"/>
          </a:p>
        </p:txBody>
      </p:sp>
      <p:sp>
        <p:nvSpPr>
          <p:cNvPr id="3" name="Shape 1"/>
          <p:cNvSpPr/>
          <p:nvPr/>
        </p:nvSpPr>
        <p:spPr>
          <a:xfrm>
            <a:off x="7374834" y="2449156"/>
            <a:ext cx="3588027" cy="3259728"/>
          </a:xfrm>
          <a:prstGeom prst="ellipse">
            <a:avLst/>
          </a:prstGeom>
          <a:ln w="15875">
            <a:solidFill>
              <a:srgbClr val="1B2740"/>
            </a:solidFill>
            <a:prstDash val="solid"/>
          </a:ln>
        </p:spPr>
        <p:txBody>
          <a:bodyPr/>
          <a:lstStyle/>
          <a:p>
            <a:endParaRPr lang="fr-BE"/>
          </a:p>
        </p:txBody>
      </p:sp>
      <p:sp>
        <p:nvSpPr>
          <p:cNvPr id="4" name="Shape 2"/>
          <p:cNvSpPr/>
          <p:nvPr/>
        </p:nvSpPr>
        <p:spPr>
          <a:xfrm>
            <a:off x="8035786" y="3063240"/>
            <a:ext cx="2266122" cy="2058775"/>
          </a:xfrm>
          <a:prstGeom prst="ellipse">
            <a:avLst/>
          </a:prstGeom>
          <a:ln w="15875">
            <a:solidFill>
              <a:srgbClr val="2F5CFF"/>
            </a:solidFill>
            <a:prstDash val="solid"/>
          </a:ln>
        </p:spPr>
        <p:txBody>
          <a:bodyPr/>
          <a:lstStyle/>
          <a:p>
            <a:endParaRPr lang="fr-BE"/>
          </a:p>
        </p:txBody>
      </p:sp>
      <p:sp>
        <p:nvSpPr>
          <p:cNvPr id="5" name="Shape 3"/>
          <p:cNvSpPr/>
          <p:nvPr/>
        </p:nvSpPr>
        <p:spPr>
          <a:xfrm>
            <a:off x="9055541" y="3962257"/>
            <a:ext cx="226612" cy="205878"/>
          </a:xfrm>
          <a:prstGeom prst="ellipse">
            <a:avLst/>
          </a:prstGeom>
          <a:solidFill>
            <a:srgbClr val="22D3EE"/>
          </a:solidFill>
          <a:ln/>
        </p:spPr>
        <p:txBody>
          <a:bodyPr/>
          <a:lstStyle/>
          <a:p>
            <a:endParaRPr lang="fr-BE"/>
          </a:p>
        </p:txBody>
      </p:sp>
      <p:sp>
        <p:nvSpPr>
          <p:cNvPr id="6" name="Shape 4"/>
          <p:cNvSpPr/>
          <p:nvPr/>
        </p:nvSpPr>
        <p:spPr>
          <a:xfrm>
            <a:off x="822960" y="661111"/>
            <a:ext cx="273406" cy="273406"/>
          </a:xfrm>
          <a:prstGeom prst="ellipse">
            <a:avLst/>
          </a:prstGeom>
          <a:ln w="15875">
            <a:solidFill>
              <a:srgbClr val="22D3EE"/>
            </a:solidFill>
            <a:prstDash val="solid"/>
          </a:ln>
        </p:spPr>
        <p:txBody>
          <a:bodyPr/>
          <a:lstStyle/>
          <a:p>
            <a:endParaRPr lang="fr-BE"/>
          </a:p>
        </p:txBody>
      </p:sp>
      <p:sp>
        <p:nvSpPr>
          <p:cNvPr id="7" name="Shape 5"/>
          <p:cNvSpPr/>
          <p:nvPr/>
        </p:nvSpPr>
        <p:spPr>
          <a:xfrm>
            <a:off x="891311" y="729463"/>
            <a:ext cx="136703" cy="136703"/>
          </a:xfrm>
          <a:prstGeom prst="ellipse">
            <a:avLst/>
          </a:prstGeom>
          <a:ln w="15875">
            <a:solidFill>
              <a:srgbClr val="2F5CFF"/>
            </a:solidFill>
            <a:prstDash val="solid"/>
          </a:ln>
        </p:spPr>
        <p:txBody>
          <a:bodyPr/>
          <a:lstStyle/>
          <a:p>
            <a:endParaRPr lang="fr-BE"/>
          </a:p>
        </p:txBody>
      </p:sp>
      <p:sp>
        <p:nvSpPr>
          <p:cNvPr id="8" name="Shape 6"/>
          <p:cNvSpPr/>
          <p:nvPr/>
        </p:nvSpPr>
        <p:spPr>
          <a:xfrm>
            <a:off x="933374" y="771525"/>
            <a:ext cx="52578" cy="52578"/>
          </a:xfrm>
          <a:prstGeom prst="ellipse">
            <a:avLst/>
          </a:prstGeom>
          <a:solidFill>
            <a:srgbClr val="22D3EE"/>
          </a:solidFill>
          <a:ln/>
        </p:spPr>
        <p:txBody>
          <a:bodyPr/>
          <a:lstStyle/>
          <a:p>
            <a:endParaRPr lang="fr-BE"/>
          </a:p>
        </p:txBody>
      </p:sp>
      <p:sp>
        <p:nvSpPr>
          <p:cNvPr id="9" name="Text 7"/>
          <p:cNvSpPr/>
          <p:nvPr/>
        </p:nvSpPr>
        <p:spPr>
          <a:xfrm>
            <a:off x="1201522" y="612648"/>
            <a:ext cx="3657600" cy="292608"/>
          </a:xfrm>
          <a:prstGeom prst="rect">
            <a:avLst/>
          </a:prstGeom>
          <a:noFill/>
          <a:ln/>
        </p:spPr>
        <p:txBody>
          <a:bodyPr wrap="square" rtlCol="0" anchor="ctr"/>
          <a:lstStyle/>
          <a:p>
            <a:pPr marL="0" indent="0">
              <a:buNone/>
            </a:pPr>
            <a:r>
              <a:rPr lang="en-US" sz="1208" b="1" kern="0" spc="160" dirty="0">
                <a:solidFill>
                  <a:srgbClr val="9AA5B8"/>
                </a:solidFill>
                <a:latin typeface="Arial" pitchFamily="34" charset="0"/>
                <a:ea typeface="Arial" pitchFamily="34" charset="-122"/>
                <a:cs typeface="Arial" pitchFamily="34" charset="-120"/>
              </a:rPr>
              <a:t>COBALT DATA SOCIETY</a:t>
            </a:r>
            <a:endParaRPr lang="en-US" sz="1208" dirty="0"/>
          </a:p>
        </p:txBody>
      </p:sp>
      <p:sp>
        <p:nvSpPr>
          <p:cNvPr id="10" name="Text 8"/>
          <p:cNvSpPr/>
          <p:nvPr/>
        </p:nvSpPr>
        <p:spPr>
          <a:xfrm>
            <a:off x="822960" y="1737360"/>
            <a:ext cx="10058400" cy="365760"/>
          </a:xfrm>
          <a:prstGeom prst="rect">
            <a:avLst/>
          </a:prstGeom>
          <a:noFill/>
          <a:ln/>
        </p:spPr>
        <p:txBody>
          <a:bodyPr wrap="square" rtlCol="0" anchor="ctr"/>
          <a:lstStyle/>
          <a:p>
            <a:pPr marL="0" indent="0">
              <a:buNone/>
            </a:pPr>
            <a:r>
              <a:rPr lang="en-US" sz="1500" b="1" kern="0" spc="220" dirty="0">
                <a:solidFill>
                  <a:srgbClr val="22D3EE"/>
                </a:solidFill>
                <a:latin typeface="Arial" pitchFamily="34" charset="0"/>
                <a:ea typeface="Arial" pitchFamily="34" charset="-122"/>
                <a:cs typeface="Arial" pitchFamily="34" charset="-120"/>
              </a:rPr>
              <a:t>INNOVATION RADAR</a:t>
            </a:r>
            <a:endParaRPr lang="en-US" sz="1500" dirty="0"/>
          </a:p>
        </p:txBody>
      </p:sp>
      <p:sp>
        <p:nvSpPr>
          <p:cNvPr id="11" name="Text 9"/>
          <p:cNvSpPr/>
          <p:nvPr/>
        </p:nvSpPr>
        <p:spPr>
          <a:xfrm>
            <a:off x="822960" y="2148840"/>
            <a:ext cx="9875520" cy="1828800"/>
          </a:xfrm>
          <a:prstGeom prst="rect">
            <a:avLst/>
          </a:prstGeom>
          <a:noFill/>
          <a:ln/>
        </p:spPr>
        <p:txBody>
          <a:bodyPr wrap="square" rtlCol="0" anchor="ctr"/>
          <a:lstStyle/>
          <a:p>
            <a:pPr marL="0" indent="0">
              <a:lnSpc>
                <a:spcPct val="105000"/>
              </a:lnSpc>
              <a:buNone/>
            </a:pPr>
            <a:r>
              <a:rPr lang="en-US" sz="4600" b="1" dirty="0">
                <a:solidFill>
                  <a:srgbClr val="FFFFFF"/>
                </a:solidFill>
                <a:latin typeface="Arial" pitchFamily="34" charset="0"/>
                <a:ea typeface="Arial" pitchFamily="34" charset="-122"/>
                <a:cs typeface="Arial" pitchFamily="34" charset="-120"/>
              </a:rPr>
              <a:t>Turn market noise into</a:t>
            </a:r>
            <a:endParaRPr lang="en-US" sz="4600" dirty="0"/>
          </a:p>
          <a:p>
            <a:pPr marL="0" indent="0">
              <a:lnSpc>
                <a:spcPct val="105000"/>
              </a:lnSpc>
              <a:buNone/>
            </a:pPr>
            <a:r>
              <a:rPr lang="en-US" sz="4600" b="1" dirty="0">
                <a:solidFill>
                  <a:srgbClr val="FFFFFF"/>
                </a:solidFill>
                <a:latin typeface="Arial" pitchFamily="34" charset="0"/>
                <a:ea typeface="Arial" pitchFamily="34" charset="-122"/>
                <a:cs typeface="Arial" pitchFamily="34" charset="-120"/>
              </a:rPr>
              <a:t>your next big move.</a:t>
            </a:r>
            <a:endParaRPr lang="en-US" sz="4600" dirty="0"/>
          </a:p>
        </p:txBody>
      </p:sp>
      <p:sp>
        <p:nvSpPr>
          <p:cNvPr id="12" name="Shape 10"/>
          <p:cNvSpPr/>
          <p:nvPr/>
        </p:nvSpPr>
        <p:spPr>
          <a:xfrm>
            <a:off x="822960" y="4160520"/>
            <a:ext cx="2926080" cy="0"/>
          </a:xfrm>
          <a:prstGeom prst="line">
            <a:avLst/>
          </a:prstGeom>
          <a:noFill/>
          <a:ln w="28575">
            <a:solidFill>
              <a:srgbClr val="2F5CFF"/>
            </a:solidFill>
            <a:prstDash val="solid"/>
          </a:ln>
        </p:spPr>
        <p:txBody>
          <a:bodyPr/>
          <a:lstStyle/>
          <a:p>
            <a:endParaRPr lang="fr-BE"/>
          </a:p>
        </p:txBody>
      </p:sp>
      <p:pic>
        <p:nvPicPr>
          <p:cNvPr id="24" name="Image 23" descr="Fichier:Orange Business logo (2023).png — Wikipédia">
            <a:extLst>
              <a:ext uri="{FF2B5EF4-FFF2-40B4-BE49-F238E27FC236}">
                <a16:creationId xmlns:a16="http://schemas.microsoft.com/office/drawing/2014/main" id="{12CBE5DB-F9DD-17FF-766C-AB6CE50BE538}"/>
              </a:ext>
            </a:extLst>
          </p:cNvPr>
          <p:cNvPicPr>
            <a:picLocks noChangeAspect="1"/>
          </p:cNvPicPr>
          <p:nvPr/>
        </p:nvPicPr>
        <p:blipFill>
          <a:blip r:embed="rId3"/>
          <a:stretch>
            <a:fillRect/>
          </a:stretch>
        </p:blipFill>
        <p:spPr>
          <a:xfrm>
            <a:off x="10547156" y="784296"/>
            <a:ext cx="1134553" cy="233717"/>
          </a:xfrm>
          <a:prstGeom prst="rect">
            <a:avLst/>
          </a:prstGeom>
        </p:spPr>
      </p:pic>
      <p:sp>
        <p:nvSpPr>
          <p:cNvPr id="28" name="Text 31">
            <a:extLst>
              <a:ext uri="{FF2B5EF4-FFF2-40B4-BE49-F238E27FC236}">
                <a16:creationId xmlns:a16="http://schemas.microsoft.com/office/drawing/2014/main" id="{51E3834F-C923-B5CB-5EEE-6040B8FF4F0C}"/>
              </a:ext>
            </a:extLst>
          </p:cNvPr>
          <p:cNvSpPr/>
          <p:nvPr/>
        </p:nvSpPr>
        <p:spPr>
          <a:xfrm>
            <a:off x="760343" y="4238343"/>
            <a:ext cx="4866695" cy="622968"/>
          </a:xfrm>
          <a:prstGeom prst="rect">
            <a:avLst/>
          </a:prstGeom>
          <a:noFill/>
          <a:ln/>
        </p:spPr>
        <p:txBody>
          <a:bodyPr wrap="square" rtlCol="0" anchor="ctr"/>
          <a:lstStyle/>
          <a:p>
            <a:pPr marL="0" indent="0">
              <a:buNone/>
            </a:pPr>
            <a:r>
              <a:rPr lang="en-US" sz="1400" dirty="0">
                <a:solidFill>
                  <a:srgbClr val="677089"/>
                </a:solidFill>
                <a:latin typeface="Calibri" pitchFamily="34" charset="0"/>
                <a:ea typeface="Calibri" pitchFamily="34" charset="-122"/>
                <a:cs typeface="Calibri" pitchFamily="34" charset="-120"/>
              </a:rPr>
              <a:t>Imad – Dan – Alex – Iness</a:t>
            </a:r>
            <a:endParaRPr lang="en-US" sz="900" dirty="0"/>
          </a:p>
        </p:txBody>
      </p:sp>
      <p:pic>
        <p:nvPicPr>
          <p:cNvPr id="14" name="Image 13">
            <a:extLst>
              <a:ext uri="{FF2B5EF4-FFF2-40B4-BE49-F238E27FC236}">
                <a16:creationId xmlns:a16="http://schemas.microsoft.com/office/drawing/2014/main" id="{8E98FB27-FBAC-BE4B-7950-3C8DD068589A}"/>
              </a:ext>
            </a:extLst>
          </p:cNvPr>
          <p:cNvPicPr>
            <a:picLocks noChangeAspect="1"/>
          </p:cNvPicPr>
          <p:nvPr/>
        </p:nvPicPr>
        <p:blipFill>
          <a:blip r:embed="rId4"/>
          <a:stretch>
            <a:fillRect/>
          </a:stretch>
        </p:blipFill>
        <p:spPr>
          <a:xfrm>
            <a:off x="10547156" y="298179"/>
            <a:ext cx="1134553" cy="3331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822960" y="402336"/>
            <a:ext cx="237744" cy="237744"/>
          </a:xfrm>
          <a:prstGeom prst="ellipse">
            <a:avLst/>
          </a:prstGeom>
          <a:ln w="15875">
            <a:solidFill>
              <a:srgbClr val="22D3EE"/>
            </a:solidFill>
            <a:prstDash val="solid"/>
          </a:ln>
        </p:spPr>
        <p:txBody>
          <a:bodyPr/>
          <a:lstStyle/>
          <a:p>
            <a:endParaRPr lang="fr-BE"/>
          </a:p>
        </p:txBody>
      </p:sp>
      <p:sp>
        <p:nvSpPr>
          <p:cNvPr id="3" name="Shape 1"/>
          <p:cNvSpPr/>
          <p:nvPr/>
        </p:nvSpPr>
        <p:spPr>
          <a:xfrm>
            <a:off x="882396" y="461772"/>
            <a:ext cx="118872" cy="118872"/>
          </a:xfrm>
          <a:prstGeom prst="ellipse">
            <a:avLst/>
          </a:prstGeom>
          <a:ln w="15875">
            <a:solidFill>
              <a:srgbClr val="2F5CFF"/>
            </a:solidFill>
            <a:prstDash val="solid"/>
          </a:ln>
        </p:spPr>
        <p:txBody>
          <a:bodyPr/>
          <a:lstStyle/>
          <a:p>
            <a:endParaRPr lang="fr-BE"/>
          </a:p>
        </p:txBody>
      </p:sp>
      <p:sp>
        <p:nvSpPr>
          <p:cNvPr id="4" name="Shape 2"/>
          <p:cNvSpPr/>
          <p:nvPr/>
        </p:nvSpPr>
        <p:spPr>
          <a:xfrm>
            <a:off x="918972" y="498348"/>
            <a:ext cx="45720" cy="45720"/>
          </a:xfrm>
          <a:prstGeom prst="ellipse">
            <a:avLst/>
          </a:prstGeom>
          <a:solidFill>
            <a:srgbClr val="22D3EE"/>
          </a:solidFill>
          <a:ln/>
        </p:spPr>
        <p:txBody>
          <a:bodyPr/>
          <a:lstStyle/>
          <a:p>
            <a:endParaRPr lang="fr-BE"/>
          </a:p>
        </p:txBody>
      </p:sp>
      <p:sp>
        <p:nvSpPr>
          <p:cNvPr id="5" name="Text 3"/>
          <p:cNvSpPr/>
          <p:nvPr/>
        </p:nvSpPr>
        <p:spPr>
          <a:xfrm>
            <a:off x="1152144" y="356616"/>
            <a:ext cx="3657600" cy="292608"/>
          </a:xfrm>
          <a:prstGeom prst="rect">
            <a:avLst/>
          </a:prstGeom>
          <a:noFill/>
          <a:ln/>
        </p:spPr>
        <p:txBody>
          <a:bodyPr wrap="square" rtlCol="0" anchor="ctr"/>
          <a:lstStyle/>
          <a:p>
            <a:pPr marL="0" indent="0">
              <a:buNone/>
            </a:pPr>
            <a:r>
              <a:rPr lang="en-US" sz="1050" b="1" kern="0" spc="160" dirty="0">
                <a:solidFill>
                  <a:srgbClr val="9AA5B8"/>
                </a:solidFill>
                <a:latin typeface="Arial" pitchFamily="34" charset="0"/>
                <a:ea typeface="Arial" pitchFamily="34" charset="-122"/>
                <a:cs typeface="Arial" pitchFamily="34" charset="-120"/>
              </a:rPr>
              <a:t>COBALT DATA SOCIETY</a:t>
            </a:r>
            <a:endParaRPr lang="en-US" sz="1050" dirty="0"/>
          </a:p>
        </p:txBody>
      </p:sp>
      <p:sp>
        <p:nvSpPr>
          <p:cNvPr id="6" name="Text 4"/>
          <p:cNvSpPr/>
          <p:nvPr/>
        </p:nvSpPr>
        <p:spPr>
          <a:xfrm>
            <a:off x="822960" y="841248"/>
            <a:ext cx="9601200" cy="292608"/>
          </a:xfrm>
          <a:prstGeom prst="rect">
            <a:avLst/>
          </a:prstGeom>
          <a:noFill/>
          <a:ln/>
        </p:spPr>
        <p:txBody>
          <a:bodyPr wrap="square" rtlCol="0" anchor="ctr"/>
          <a:lstStyle/>
          <a:p>
            <a:pPr marL="0" indent="0">
              <a:buNone/>
            </a:pPr>
            <a:r>
              <a:rPr lang="en-US" sz="1200" b="1" kern="0" spc="150" dirty="0">
                <a:solidFill>
                  <a:srgbClr val="22D3EE"/>
                </a:solidFill>
                <a:latin typeface="Arial" pitchFamily="34" charset="0"/>
                <a:ea typeface="Arial" pitchFamily="34" charset="-122"/>
                <a:cs typeface="Arial" pitchFamily="34" charset="-120"/>
              </a:rPr>
              <a:t>HOW IT WORKS · 1 OF 3</a:t>
            </a:r>
            <a:endParaRPr lang="en-US" sz="1200" dirty="0"/>
          </a:p>
        </p:txBody>
      </p:sp>
      <p:sp>
        <p:nvSpPr>
          <p:cNvPr id="7" name="Text 5"/>
          <p:cNvSpPr/>
          <p:nvPr/>
        </p:nvSpPr>
        <p:spPr>
          <a:xfrm>
            <a:off x="822960" y="1152144"/>
            <a:ext cx="10515600" cy="77724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Collect maps every signal to a closed taxonomy</a:t>
            </a:r>
            <a:endParaRPr lang="en-US" sz="2700" dirty="0"/>
          </a:p>
        </p:txBody>
      </p:sp>
      <p:sp>
        <p:nvSpPr>
          <p:cNvPr id="8" name="Shape 6"/>
          <p:cNvSpPr/>
          <p:nvPr/>
        </p:nvSpPr>
        <p:spPr>
          <a:xfrm>
            <a:off x="822960" y="2103120"/>
            <a:ext cx="3273552" cy="1600200"/>
          </a:xfrm>
          <a:prstGeom prst="roundRect">
            <a:avLst>
              <a:gd name="adj" fmla="val 5714"/>
            </a:avLst>
          </a:prstGeom>
          <a:solidFill>
            <a:srgbClr val="121A2C"/>
          </a:solidFill>
          <a:ln w="9525">
            <a:solidFill>
              <a:srgbClr val="1B2740"/>
            </a:solidFill>
            <a:prstDash val="solid"/>
          </a:ln>
        </p:spPr>
        <p:txBody>
          <a:bodyPr/>
          <a:lstStyle/>
          <a:p>
            <a:endParaRPr lang="fr-BE"/>
          </a:p>
        </p:txBody>
      </p:sp>
      <p:sp>
        <p:nvSpPr>
          <p:cNvPr id="9" name="Text 7"/>
          <p:cNvSpPr/>
          <p:nvPr/>
        </p:nvSpPr>
        <p:spPr>
          <a:xfrm>
            <a:off x="1042416" y="2249424"/>
            <a:ext cx="1097280" cy="411480"/>
          </a:xfrm>
          <a:prstGeom prst="rect">
            <a:avLst/>
          </a:prstGeom>
          <a:noFill/>
          <a:ln/>
        </p:spPr>
        <p:txBody>
          <a:bodyPr wrap="square" rtlCol="0" anchor="ctr"/>
          <a:lstStyle/>
          <a:p>
            <a:pPr marL="0" indent="0">
              <a:buNone/>
            </a:pPr>
            <a:r>
              <a:rPr lang="en-US" sz="1800" b="1" dirty="0">
                <a:solidFill>
                  <a:srgbClr val="2F5CFF"/>
                </a:solidFill>
                <a:latin typeface="Arial" pitchFamily="34" charset="0"/>
                <a:ea typeface="Arial" pitchFamily="34" charset="-122"/>
                <a:cs typeface="Arial" pitchFamily="34" charset="-120"/>
              </a:rPr>
              <a:t>01</a:t>
            </a:r>
            <a:endParaRPr lang="en-US" sz="1800" dirty="0"/>
          </a:p>
        </p:txBody>
      </p:sp>
      <p:sp>
        <p:nvSpPr>
          <p:cNvPr id="10" name="Text 8"/>
          <p:cNvSpPr/>
          <p:nvPr/>
        </p:nvSpPr>
        <p:spPr>
          <a:xfrm>
            <a:off x="1042416" y="2633472"/>
            <a:ext cx="2834640" cy="237744"/>
          </a:xfrm>
          <a:prstGeom prst="rect">
            <a:avLst/>
          </a:prstGeom>
          <a:noFill/>
          <a:ln/>
        </p:spPr>
        <p:txBody>
          <a:bodyPr wrap="square" rtlCol="0" anchor="ctr"/>
          <a:lstStyle/>
          <a:p>
            <a:pPr marL="0" indent="0">
              <a:buNone/>
            </a:pPr>
            <a:r>
              <a:rPr lang="en-US" sz="950" b="1" kern="0" spc="60" dirty="0">
                <a:solidFill>
                  <a:srgbClr val="22D3EE"/>
                </a:solidFill>
                <a:latin typeface="Arial" pitchFamily="34" charset="0"/>
                <a:ea typeface="Arial" pitchFamily="34" charset="-122"/>
                <a:cs typeface="Arial" pitchFamily="34" charset="-120"/>
              </a:rPr>
              <a:t>14 FIXED</a:t>
            </a:r>
            <a:endParaRPr lang="en-US" sz="950" dirty="0"/>
          </a:p>
        </p:txBody>
      </p:sp>
      <p:sp>
        <p:nvSpPr>
          <p:cNvPr id="11" name="Text 9"/>
          <p:cNvSpPr/>
          <p:nvPr/>
        </p:nvSpPr>
        <p:spPr>
          <a:xfrm>
            <a:off x="1042416" y="2871216"/>
            <a:ext cx="2834640" cy="329184"/>
          </a:xfrm>
          <a:prstGeom prst="rect">
            <a:avLst/>
          </a:prstGeom>
          <a:noFill/>
          <a:ln/>
        </p:spPr>
        <p:txBody>
          <a:bodyPr wrap="square" rtlCol="0" anchor="ctr"/>
          <a:lstStyle/>
          <a:p>
            <a:pPr marL="0" indent="0">
              <a:buNone/>
            </a:pPr>
            <a:r>
              <a:rPr lang="en-US" sz="1550" b="1" dirty="0">
                <a:solidFill>
                  <a:srgbClr val="FFFFFF"/>
                </a:solidFill>
                <a:latin typeface="Arial" pitchFamily="34" charset="0"/>
                <a:ea typeface="Arial" pitchFamily="34" charset="-122"/>
                <a:cs typeface="Arial" pitchFamily="34" charset="-120"/>
              </a:rPr>
              <a:t>Vertical</a:t>
            </a:r>
            <a:endParaRPr lang="en-US" sz="1550" dirty="0"/>
          </a:p>
        </p:txBody>
      </p:sp>
      <p:sp>
        <p:nvSpPr>
          <p:cNvPr id="12" name="Text 10"/>
          <p:cNvSpPr/>
          <p:nvPr/>
        </p:nvSpPr>
        <p:spPr>
          <a:xfrm>
            <a:off x="1042416" y="3200400"/>
            <a:ext cx="2834640" cy="457200"/>
          </a:xfrm>
          <a:prstGeom prst="rect">
            <a:avLst/>
          </a:prstGeom>
          <a:noFill/>
          <a:ln/>
        </p:spPr>
        <p:txBody>
          <a:bodyPr wrap="square" rtlCol="0" anchor="ctr"/>
          <a:lstStyle/>
          <a:p>
            <a:pPr marL="0" indent="0">
              <a:lnSpc>
                <a:spcPct val="120000"/>
              </a:lnSpc>
              <a:buNone/>
            </a:pPr>
            <a:r>
              <a:rPr lang="en-US" sz="1000" dirty="0">
                <a:solidFill>
                  <a:srgbClr val="9AA5B8"/>
                </a:solidFill>
                <a:latin typeface="Calibri" pitchFamily="34" charset="0"/>
                <a:ea typeface="Calibri" pitchFamily="34" charset="-122"/>
                <a:cs typeface="Calibri" pitchFamily="34" charset="-120"/>
              </a:rPr>
              <a:t>Manufacturing, Retail, Finance, Public sector, Defense, Aerospace…</a:t>
            </a:r>
            <a:endParaRPr lang="en-US" sz="1000" dirty="0"/>
          </a:p>
        </p:txBody>
      </p:sp>
      <p:sp>
        <p:nvSpPr>
          <p:cNvPr id="13" name="Shape 11"/>
          <p:cNvSpPr/>
          <p:nvPr/>
        </p:nvSpPr>
        <p:spPr>
          <a:xfrm>
            <a:off x="4462272" y="2103120"/>
            <a:ext cx="3273552" cy="1600200"/>
          </a:xfrm>
          <a:prstGeom prst="roundRect">
            <a:avLst>
              <a:gd name="adj" fmla="val 5714"/>
            </a:avLst>
          </a:prstGeom>
          <a:solidFill>
            <a:srgbClr val="121A2C"/>
          </a:solidFill>
          <a:ln w="9525">
            <a:solidFill>
              <a:srgbClr val="1B2740"/>
            </a:solidFill>
            <a:prstDash val="solid"/>
          </a:ln>
        </p:spPr>
        <p:txBody>
          <a:bodyPr/>
          <a:lstStyle/>
          <a:p>
            <a:endParaRPr lang="fr-BE"/>
          </a:p>
        </p:txBody>
      </p:sp>
      <p:sp>
        <p:nvSpPr>
          <p:cNvPr id="14" name="Text 12"/>
          <p:cNvSpPr/>
          <p:nvPr/>
        </p:nvSpPr>
        <p:spPr>
          <a:xfrm>
            <a:off x="4681728" y="2249424"/>
            <a:ext cx="1097280" cy="411480"/>
          </a:xfrm>
          <a:prstGeom prst="rect">
            <a:avLst/>
          </a:prstGeom>
          <a:noFill/>
          <a:ln/>
        </p:spPr>
        <p:txBody>
          <a:bodyPr wrap="square" rtlCol="0" anchor="ctr"/>
          <a:lstStyle/>
          <a:p>
            <a:pPr marL="0" indent="0">
              <a:buNone/>
            </a:pPr>
            <a:r>
              <a:rPr lang="en-US" sz="1800" b="1" dirty="0">
                <a:solidFill>
                  <a:srgbClr val="2F5CFF"/>
                </a:solidFill>
                <a:latin typeface="Arial" pitchFamily="34" charset="0"/>
                <a:ea typeface="Arial" pitchFamily="34" charset="-122"/>
                <a:cs typeface="Arial" pitchFamily="34" charset="-120"/>
              </a:rPr>
              <a:t>02</a:t>
            </a:r>
            <a:endParaRPr lang="en-US" sz="1800" dirty="0"/>
          </a:p>
        </p:txBody>
      </p:sp>
      <p:sp>
        <p:nvSpPr>
          <p:cNvPr id="15" name="Text 13"/>
          <p:cNvSpPr/>
          <p:nvPr/>
        </p:nvSpPr>
        <p:spPr>
          <a:xfrm>
            <a:off x="4681728" y="2633472"/>
            <a:ext cx="2834640" cy="237744"/>
          </a:xfrm>
          <a:prstGeom prst="rect">
            <a:avLst/>
          </a:prstGeom>
          <a:noFill/>
          <a:ln/>
        </p:spPr>
        <p:txBody>
          <a:bodyPr wrap="square" rtlCol="0" anchor="ctr"/>
          <a:lstStyle/>
          <a:p>
            <a:pPr marL="0" indent="0">
              <a:buNone/>
            </a:pPr>
            <a:r>
              <a:rPr lang="en-US" sz="950" b="1" kern="0" spc="60" dirty="0">
                <a:solidFill>
                  <a:srgbClr val="22D3EE"/>
                </a:solidFill>
                <a:latin typeface="Arial" pitchFamily="34" charset="0"/>
                <a:ea typeface="Arial" pitchFamily="34" charset="-122"/>
                <a:cs typeface="Arial" pitchFamily="34" charset="-120"/>
              </a:rPr>
              <a:t>~27, CLOSED</a:t>
            </a:r>
            <a:endParaRPr lang="en-US" sz="950" dirty="0"/>
          </a:p>
        </p:txBody>
      </p:sp>
      <p:sp>
        <p:nvSpPr>
          <p:cNvPr id="16" name="Text 14"/>
          <p:cNvSpPr/>
          <p:nvPr/>
        </p:nvSpPr>
        <p:spPr>
          <a:xfrm>
            <a:off x="4681728" y="2871216"/>
            <a:ext cx="2834640" cy="329184"/>
          </a:xfrm>
          <a:prstGeom prst="rect">
            <a:avLst/>
          </a:prstGeom>
          <a:noFill/>
          <a:ln/>
        </p:spPr>
        <p:txBody>
          <a:bodyPr wrap="square" rtlCol="0" anchor="ctr"/>
          <a:lstStyle/>
          <a:p>
            <a:pPr marL="0" indent="0">
              <a:buNone/>
            </a:pPr>
            <a:r>
              <a:rPr lang="en-US" sz="1550" b="1" dirty="0">
                <a:solidFill>
                  <a:srgbClr val="FFFFFF"/>
                </a:solidFill>
                <a:latin typeface="Arial" pitchFamily="34" charset="0"/>
                <a:ea typeface="Arial" pitchFamily="34" charset="-122"/>
                <a:cs typeface="Arial" pitchFamily="34" charset="-120"/>
              </a:rPr>
              <a:t>Use Case</a:t>
            </a:r>
            <a:endParaRPr lang="en-US" sz="1550" dirty="0"/>
          </a:p>
        </p:txBody>
      </p:sp>
      <p:sp>
        <p:nvSpPr>
          <p:cNvPr id="17" name="Text 15"/>
          <p:cNvSpPr/>
          <p:nvPr/>
        </p:nvSpPr>
        <p:spPr>
          <a:xfrm>
            <a:off x="4681728" y="3200400"/>
            <a:ext cx="2834640" cy="457200"/>
          </a:xfrm>
          <a:prstGeom prst="rect">
            <a:avLst/>
          </a:prstGeom>
          <a:noFill/>
          <a:ln/>
        </p:spPr>
        <p:txBody>
          <a:bodyPr wrap="square" rtlCol="0" anchor="ctr"/>
          <a:lstStyle/>
          <a:p>
            <a:pPr marL="0" indent="0">
              <a:lnSpc>
                <a:spcPct val="120000"/>
              </a:lnSpc>
              <a:buNone/>
            </a:pPr>
            <a:r>
              <a:rPr lang="en-US" sz="1000" dirty="0">
                <a:solidFill>
                  <a:srgbClr val="9AA5B8"/>
                </a:solidFill>
                <a:latin typeface="Calibri" pitchFamily="34" charset="0"/>
                <a:ea typeface="Calibri" pitchFamily="34" charset="-122"/>
                <a:cs typeface="Calibri" pitchFamily="34" charset="-120"/>
              </a:rPr>
              <a:t>Classifier may never invent an id — null is a valid answer.</a:t>
            </a:r>
            <a:endParaRPr lang="en-US" sz="1000" dirty="0"/>
          </a:p>
        </p:txBody>
      </p:sp>
      <p:sp>
        <p:nvSpPr>
          <p:cNvPr id="18" name="Shape 16"/>
          <p:cNvSpPr/>
          <p:nvPr/>
        </p:nvSpPr>
        <p:spPr>
          <a:xfrm>
            <a:off x="8101584" y="2103120"/>
            <a:ext cx="3273552" cy="1600200"/>
          </a:xfrm>
          <a:prstGeom prst="roundRect">
            <a:avLst>
              <a:gd name="adj" fmla="val 5714"/>
            </a:avLst>
          </a:prstGeom>
          <a:solidFill>
            <a:srgbClr val="121A2C"/>
          </a:solidFill>
          <a:ln w="9525">
            <a:solidFill>
              <a:srgbClr val="1B2740"/>
            </a:solidFill>
            <a:prstDash val="solid"/>
          </a:ln>
        </p:spPr>
        <p:txBody>
          <a:bodyPr/>
          <a:lstStyle/>
          <a:p>
            <a:endParaRPr lang="fr-BE"/>
          </a:p>
        </p:txBody>
      </p:sp>
      <p:sp>
        <p:nvSpPr>
          <p:cNvPr id="19" name="Text 17"/>
          <p:cNvSpPr/>
          <p:nvPr/>
        </p:nvSpPr>
        <p:spPr>
          <a:xfrm>
            <a:off x="8321040" y="2249424"/>
            <a:ext cx="1097280" cy="411480"/>
          </a:xfrm>
          <a:prstGeom prst="rect">
            <a:avLst/>
          </a:prstGeom>
          <a:noFill/>
          <a:ln/>
        </p:spPr>
        <p:txBody>
          <a:bodyPr wrap="square" rtlCol="0" anchor="ctr"/>
          <a:lstStyle/>
          <a:p>
            <a:pPr marL="0" indent="0">
              <a:buNone/>
            </a:pPr>
            <a:r>
              <a:rPr lang="en-US" sz="1800" b="1" dirty="0">
                <a:solidFill>
                  <a:srgbClr val="2F5CFF"/>
                </a:solidFill>
                <a:latin typeface="Arial" pitchFamily="34" charset="0"/>
                <a:ea typeface="Arial" pitchFamily="34" charset="-122"/>
                <a:cs typeface="Arial" pitchFamily="34" charset="-120"/>
              </a:rPr>
              <a:t>03</a:t>
            </a:r>
            <a:endParaRPr lang="en-US" sz="1800" dirty="0"/>
          </a:p>
        </p:txBody>
      </p:sp>
      <p:sp>
        <p:nvSpPr>
          <p:cNvPr id="20" name="Text 18"/>
          <p:cNvSpPr/>
          <p:nvPr/>
        </p:nvSpPr>
        <p:spPr>
          <a:xfrm>
            <a:off x="8321040" y="2633472"/>
            <a:ext cx="2834640" cy="237744"/>
          </a:xfrm>
          <a:prstGeom prst="rect">
            <a:avLst/>
          </a:prstGeom>
          <a:noFill/>
          <a:ln/>
        </p:spPr>
        <p:txBody>
          <a:bodyPr wrap="square" rtlCol="0" anchor="ctr"/>
          <a:lstStyle/>
          <a:p>
            <a:pPr marL="0" indent="0">
              <a:buNone/>
            </a:pPr>
            <a:r>
              <a:rPr lang="en-US" sz="950" b="1" kern="0" spc="60" dirty="0">
                <a:solidFill>
                  <a:srgbClr val="22D3EE"/>
                </a:solidFill>
                <a:latin typeface="Arial" pitchFamily="34" charset="0"/>
                <a:ea typeface="Arial" pitchFamily="34" charset="-122"/>
                <a:cs typeface="Arial" pitchFamily="34" charset="-120"/>
              </a:rPr>
              <a:t>~21, CLOSED</a:t>
            </a:r>
            <a:endParaRPr lang="en-US" sz="950" dirty="0"/>
          </a:p>
        </p:txBody>
      </p:sp>
      <p:sp>
        <p:nvSpPr>
          <p:cNvPr id="21" name="Text 19"/>
          <p:cNvSpPr/>
          <p:nvPr/>
        </p:nvSpPr>
        <p:spPr>
          <a:xfrm>
            <a:off x="8321040" y="2871216"/>
            <a:ext cx="2834640" cy="329184"/>
          </a:xfrm>
          <a:prstGeom prst="rect">
            <a:avLst/>
          </a:prstGeom>
          <a:noFill/>
          <a:ln/>
        </p:spPr>
        <p:txBody>
          <a:bodyPr wrap="square" rtlCol="0" anchor="ctr"/>
          <a:lstStyle/>
          <a:p>
            <a:pPr marL="0" indent="0">
              <a:buNone/>
            </a:pPr>
            <a:r>
              <a:rPr lang="en-US" sz="1550" b="1" dirty="0">
                <a:solidFill>
                  <a:srgbClr val="FFFFFF"/>
                </a:solidFill>
                <a:latin typeface="Arial" pitchFamily="34" charset="0"/>
                <a:ea typeface="Arial" pitchFamily="34" charset="-122"/>
                <a:cs typeface="Arial" pitchFamily="34" charset="-120"/>
              </a:rPr>
              <a:t>Technology</a:t>
            </a:r>
            <a:endParaRPr lang="en-US" sz="1550" dirty="0"/>
          </a:p>
        </p:txBody>
      </p:sp>
      <p:sp>
        <p:nvSpPr>
          <p:cNvPr id="22" name="Text 20"/>
          <p:cNvSpPr/>
          <p:nvPr/>
        </p:nvSpPr>
        <p:spPr>
          <a:xfrm>
            <a:off x="8321040" y="3200400"/>
            <a:ext cx="2834640" cy="457200"/>
          </a:xfrm>
          <a:prstGeom prst="rect">
            <a:avLst/>
          </a:prstGeom>
          <a:noFill/>
          <a:ln/>
        </p:spPr>
        <p:txBody>
          <a:bodyPr wrap="square" rtlCol="0" anchor="ctr"/>
          <a:lstStyle/>
          <a:p>
            <a:pPr marL="0" indent="0">
              <a:lnSpc>
                <a:spcPct val="120000"/>
              </a:lnSpc>
              <a:buNone/>
            </a:pPr>
            <a:r>
              <a:rPr lang="en-US" sz="1000" dirty="0">
                <a:solidFill>
                  <a:srgbClr val="9AA5B8"/>
                </a:solidFill>
                <a:latin typeface="Calibri" pitchFamily="34" charset="0"/>
                <a:ea typeface="Calibri" pitchFamily="34" charset="-122"/>
                <a:cs typeface="Calibri" pitchFamily="34" charset="-120"/>
              </a:rPr>
              <a:t>Same closed-vocabulary rule applies to this dimension.</a:t>
            </a:r>
            <a:endParaRPr lang="en-US" sz="1000" dirty="0"/>
          </a:p>
        </p:txBody>
      </p:sp>
      <p:sp>
        <p:nvSpPr>
          <p:cNvPr id="23" name="Shape 21"/>
          <p:cNvSpPr/>
          <p:nvPr/>
        </p:nvSpPr>
        <p:spPr>
          <a:xfrm>
            <a:off x="822960" y="3931920"/>
            <a:ext cx="10561320" cy="658368"/>
          </a:xfrm>
          <a:prstGeom prst="roundRect">
            <a:avLst>
              <a:gd name="adj" fmla="val 13889"/>
            </a:avLst>
          </a:prstGeom>
          <a:solidFill>
            <a:srgbClr val="0E1A33"/>
          </a:solidFill>
          <a:ln w="12700">
            <a:solidFill>
              <a:srgbClr val="2F5CFF"/>
            </a:solidFill>
            <a:prstDash val="solid"/>
          </a:ln>
        </p:spPr>
        <p:txBody>
          <a:bodyPr/>
          <a:lstStyle/>
          <a:p>
            <a:endParaRPr lang="fr-BE"/>
          </a:p>
        </p:txBody>
      </p:sp>
      <p:sp>
        <p:nvSpPr>
          <p:cNvPr id="24" name="Text 22"/>
          <p:cNvSpPr/>
          <p:nvPr/>
        </p:nvSpPr>
        <p:spPr>
          <a:xfrm>
            <a:off x="1097280" y="3931920"/>
            <a:ext cx="9966960" cy="658368"/>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Opportunity Space  </a:t>
            </a:r>
            <a:r>
              <a:rPr lang="en-US" sz="1400" dirty="0">
                <a:solidFill>
                  <a:srgbClr val="9AA5B8"/>
                </a:solidFill>
                <a:latin typeface="Arial" pitchFamily="34" charset="0"/>
                <a:ea typeface="Arial" pitchFamily="34" charset="-122"/>
                <a:cs typeface="Arial" pitchFamily="34" charset="-120"/>
              </a:rPr>
              <a:t>=  </a:t>
            </a:r>
            <a:r>
              <a:rPr lang="en-US" sz="1400" i="1" dirty="0">
                <a:solidFill>
                  <a:srgbClr val="DCE3F0"/>
                </a:solidFill>
                <a:latin typeface="Arial" pitchFamily="34" charset="0"/>
                <a:ea typeface="Arial" pitchFamily="34" charset="-122"/>
                <a:cs typeface="Arial" pitchFamily="34" charset="-120"/>
              </a:rPr>
              <a:t>Vertical × Use Case × Technology triple</a:t>
            </a:r>
            <a:endParaRPr lang="en-US" sz="1600" dirty="0"/>
          </a:p>
        </p:txBody>
      </p:sp>
      <p:sp>
        <p:nvSpPr>
          <p:cNvPr id="25" name="Shape 23"/>
          <p:cNvSpPr/>
          <p:nvPr/>
        </p:nvSpPr>
        <p:spPr>
          <a:xfrm>
            <a:off x="822960" y="4754880"/>
            <a:ext cx="5189220" cy="1417320"/>
          </a:xfrm>
          <a:prstGeom prst="roundRect">
            <a:avLst>
              <a:gd name="adj" fmla="val 6452"/>
            </a:avLst>
          </a:prstGeom>
          <a:solidFill>
            <a:srgbClr val="121A2C"/>
          </a:solidFill>
          <a:ln w="9525">
            <a:solidFill>
              <a:srgbClr val="1B2740"/>
            </a:solidFill>
            <a:prstDash val="solid"/>
          </a:ln>
        </p:spPr>
        <p:txBody>
          <a:bodyPr/>
          <a:lstStyle/>
          <a:p>
            <a:endParaRPr lang="fr-BE"/>
          </a:p>
        </p:txBody>
      </p:sp>
      <p:sp>
        <p:nvSpPr>
          <p:cNvPr id="26" name="Text 24"/>
          <p:cNvSpPr/>
          <p:nvPr/>
        </p:nvSpPr>
        <p:spPr>
          <a:xfrm>
            <a:off x="1042416" y="4919472"/>
            <a:ext cx="4750308" cy="256032"/>
          </a:xfrm>
          <a:prstGeom prst="rect">
            <a:avLst/>
          </a:prstGeom>
          <a:noFill/>
          <a:ln/>
        </p:spPr>
        <p:txBody>
          <a:bodyPr wrap="square" rtlCol="0" anchor="ctr"/>
          <a:lstStyle/>
          <a:p>
            <a:pPr marL="0" indent="0">
              <a:buNone/>
            </a:pPr>
            <a:r>
              <a:rPr lang="en-US" sz="1050" b="1" kern="0" spc="60" dirty="0">
                <a:solidFill>
                  <a:srgbClr val="22D3EE"/>
                </a:solidFill>
                <a:latin typeface="Arial" pitchFamily="34" charset="0"/>
                <a:ea typeface="Arial" pitchFamily="34" charset="-122"/>
                <a:cs typeface="Arial" pitchFamily="34" charset="-120"/>
              </a:rPr>
              <a:t>6 VALUES</a:t>
            </a:r>
            <a:endParaRPr lang="en-US" sz="1050" dirty="0"/>
          </a:p>
        </p:txBody>
      </p:sp>
      <p:sp>
        <p:nvSpPr>
          <p:cNvPr id="27" name="Text 25"/>
          <p:cNvSpPr/>
          <p:nvPr/>
        </p:nvSpPr>
        <p:spPr>
          <a:xfrm>
            <a:off x="1042416" y="5175504"/>
            <a:ext cx="4750308" cy="329184"/>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Business Domain</a:t>
            </a:r>
            <a:endParaRPr lang="en-US" sz="1600" dirty="0"/>
          </a:p>
        </p:txBody>
      </p:sp>
      <p:sp>
        <p:nvSpPr>
          <p:cNvPr id="28" name="Text 26"/>
          <p:cNvSpPr/>
          <p:nvPr/>
        </p:nvSpPr>
        <p:spPr>
          <a:xfrm>
            <a:off x="1042416" y="5504688"/>
            <a:ext cx="4750308" cy="566928"/>
          </a:xfrm>
          <a:prstGeom prst="rect">
            <a:avLst/>
          </a:prstGeom>
          <a:noFill/>
          <a:ln/>
        </p:spPr>
        <p:txBody>
          <a:bodyPr wrap="square" rtlCol="0" anchor="ctr"/>
          <a:lstStyle/>
          <a:p>
            <a:pPr marL="0" indent="0">
              <a:lnSpc>
                <a:spcPct val="120000"/>
              </a:lnSpc>
              <a:buNone/>
            </a:pPr>
            <a:r>
              <a:rPr lang="en-US" sz="1050" dirty="0">
                <a:solidFill>
                  <a:srgbClr val="9AA5B8"/>
                </a:solidFill>
                <a:latin typeface="Calibri" pitchFamily="34" charset="0"/>
                <a:ea typeface="Calibri" pitchFamily="34" charset="-122"/>
                <a:cs typeface="Calibri" pitchFamily="34" charset="-120"/>
              </a:rPr>
              <a:t>Deterministic mapping from use_case / technology (common/business_domains.py).</a:t>
            </a:r>
            <a:endParaRPr lang="en-US" sz="1050" dirty="0"/>
          </a:p>
        </p:txBody>
      </p:sp>
      <p:sp>
        <p:nvSpPr>
          <p:cNvPr id="29" name="Shape 27"/>
          <p:cNvSpPr/>
          <p:nvPr/>
        </p:nvSpPr>
        <p:spPr>
          <a:xfrm>
            <a:off x="6195060" y="4754880"/>
            <a:ext cx="5189220" cy="1417320"/>
          </a:xfrm>
          <a:prstGeom prst="roundRect">
            <a:avLst>
              <a:gd name="adj" fmla="val 6452"/>
            </a:avLst>
          </a:prstGeom>
          <a:solidFill>
            <a:srgbClr val="121A2C"/>
          </a:solidFill>
          <a:ln w="9525">
            <a:solidFill>
              <a:srgbClr val="1B2740"/>
            </a:solidFill>
            <a:prstDash val="solid"/>
          </a:ln>
        </p:spPr>
        <p:txBody>
          <a:bodyPr/>
          <a:lstStyle/>
          <a:p>
            <a:endParaRPr lang="fr-BE"/>
          </a:p>
        </p:txBody>
      </p:sp>
      <p:sp>
        <p:nvSpPr>
          <p:cNvPr id="30" name="Text 28"/>
          <p:cNvSpPr/>
          <p:nvPr/>
        </p:nvSpPr>
        <p:spPr>
          <a:xfrm>
            <a:off x="6414516" y="4919472"/>
            <a:ext cx="4750308" cy="256032"/>
          </a:xfrm>
          <a:prstGeom prst="rect">
            <a:avLst/>
          </a:prstGeom>
          <a:noFill/>
          <a:ln/>
        </p:spPr>
        <p:txBody>
          <a:bodyPr wrap="square" rtlCol="0" anchor="ctr"/>
          <a:lstStyle/>
          <a:p>
            <a:pPr marL="0" indent="0">
              <a:buNone/>
            </a:pPr>
            <a:r>
              <a:rPr lang="en-US" sz="1050" b="1" kern="0" spc="60" dirty="0">
                <a:solidFill>
                  <a:srgbClr val="22D3EE"/>
                </a:solidFill>
                <a:latin typeface="Arial" pitchFamily="34" charset="0"/>
                <a:ea typeface="Arial" pitchFamily="34" charset="-122"/>
                <a:cs typeface="Arial" pitchFamily="34" charset="-120"/>
              </a:rPr>
              <a:t>8 VALUES, CLOSED</a:t>
            </a:r>
            <a:endParaRPr lang="en-US" sz="1050" dirty="0"/>
          </a:p>
        </p:txBody>
      </p:sp>
      <p:sp>
        <p:nvSpPr>
          <p:cNvPr id="31" name="Text 29"/>
          <p:cNvSpPr/>
          <p:nvPr/>
        </p:nvSpPr>
        <p:spPr>
          <a:xfrm>
            <a:off x="6414516" y="5175504"/>
            <a:ext cx="4750308" cy="329184"/>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Persona</a:t>
            </a:r>
            <a:endParaRPr lang="en-US" sz="1600" dirty="0"/>
          </a:p>
        </p:txBody>
      </p:sp>
      <p:sp>
        <p:nvSpPr>
          <p:cNvPr id="32" name="Text 30"/>
          <p:cNvSpPr/>
          <p:nvPr/>
        </p:nvSpPr>
        <p:spPr>
          <a:xfrm>
            <a:off x="6414516" y="5504688"/>
            <a:ext cx="4750308" cy="566928"/>
          </a:xfrm>
          <a:prstGeom prst="rect">
            <a:avLst/>
          </a:prstGeom>
          <a:noFill/>
          <a:ln/>
        </p:spPr>
        <p:txBody>
          <a:bodyPr wrap="square" rtlCol="0" anchor="ctr"/>
          <a:lstStyle/>
          <a:p>
            <a:pPr marL="0" indent="0">
              <a:lnSpc>
                <a:spcPct val="120000"/>
              </a:lnSpc>
              <a:buNone/>
            </a:pPr>
            <a:r>
              <a:rPr lang="en-US" sz="1050" dirty="0">
                <a:solidFill>
                  <a:srgbClr val="9AA5B8"/>
                </a:solidFill>
                <a:latin typeface="Calibri" pitchFamily="34" charset="0"/>
                <a:ea typeface="Calibri" pitchFamily="34" charset="-122"/>
                <a:cs typeface="Calibri" pitchFamily="34" charset="-120"/>
              </a:rPr>
              <a:t>Weighted use-case × persona table with domain overlay + max-combination rule.</a:t>
            </a:r>
            <a:endParaRPr lang="en-US" sz="1050" dirty="0"/>
          </a:p>
        </p:txBody>
      </p:sp>
      <p:sp>
        <p:nvSpPr>
          <p:cNvPr id="33" name="Text 3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677089"/>
                </a:solidFill>
                <a:latin typeface="Calibri" pitchFamily="34" charset="0"/>
                <a:ea typeface="Calibri" pitchFamily="34" charset="-122"/>
                <a:cs typeface="Calibri" pitchFamily="34" charset="-120"/>
              </a:rPr>
              <a:t>Cobalt Data Society · Innovation Radar</a:t>
            </a:r>
            <a:endParaRPr lang="en-US" sz="900" dirty="0"/>
          </a:p>
        </p:txBody>
      </p:sp>
      <p:sp>
        <p:nvSpPr>
          <p:cNvPr id="34" name="Text 32"/>
          <p:cNvSpPr/>
          <p:nvPr/>
        </p:nvSpPr>
        <p:spPr>
          <a:xfrm>
            <a:off x="8534095" y="6473952"/>
            <a:ext cx="3200400" cy="274320"/>
          </a:xfrm>
          <a:prstGeom prst="rect">
            <a:avLst/>
          </a:prstGeom>
          <a:noFill/>
          <a:ln/>
        </p:spPr>
        <p:txBody>
          <a:bodyPr wrap="square" rtlCol="0" anchor="ctr"/>
          <a:lstStyle/>
          <a:p>
            <a:pPr marL="0" indent="0" algn="r">
              <a:buNone/>
            </a:pPr>
            <a:r>
              <a:rPr lang="en-US" sz="900" dirty="0">
                <a:solidFill>
                  <a:srgbClr val="677089"/>
                </a:solidFill>
                <a:latin typeface="Calibri" pitchFamily="34" charset="0"/>
                <a:ea typeface="Calibri" pitchFamily="34" charset="-122"/>
                <a:cs typeface="Calibri" pitchFamily="34" charset="-120"/>
              </a:rPr>
              <a:t>How it works</a:t>
            </a:r>
            <a:endParaRPr lang="en-US" sz="900" dirty="0"/>
          </a:p>
        </p:txBody>
      </p:sp>
      <p:sp>
        <p:nvSpPr>
          <p:cNvPr id="36" name="Text 32">
            <a:extLst>
              <a:ext uri="{FF2B5EF4-FFF2-40B4-BE49-F238E27FC236}">
                <a16:creationId xmlns:a16="http://schemas.microsoft.com/office/drawing/2014/main" id="{493534A5-5A41-3F97-49ED-78B6301C6CD8}"/>
              </a:ext>
            </a:extLst>
          </p:cNvPr>
          <p:cNvSpPr/>
          <p:nvPr/>
        </p:nvSpPr>
        <p:spPr>
          <a:xfrm>
            <a:off x="8751100" y="219191"/>
            <a:ext cx="3200400" cy="274320"/>
          </a:xfrm>
          <a:prstGeom prst="rect">
            <a:avLst/>
          </a:prstGeom>
          <a:noFill/>
          <a:ln/>
        </p:spPr>
        <p:txBody>
          <a:bodyPr wrap="square" rtlCol="0" anchor="ctr"/>
          <a:lstStyle/>
          <a:p>
            <a:pPr marL="0" indent="0" algn="r">
              <a:buNone/>
            </a:pPr>
            <a:r>
              <a:rPr lang="en-US" sz="900" dirty="0">
                <a:solidFill>
                  <a:srgbClr val="677089"/>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822960" y="402336"/>
            <a:ext cx="237744" cy="237744"/>
          </a:xfrm>
          <a:prstGeom prst="ellipse">
            <a:avLst/>
          </a:prstGeom>
          <a:ln w="15875">
            <a:solidFill>
              <a:srgbClr val="22D3EE"/>
            </a:solidFill>
            <a:prstDash val="solid"/>
          </a:ln>
        </p:spPr>
        <p:txBody>
          <a:bodyPr/>
          <a:lstStyle/>
          <a:p>
            <a:endParaRPr lang="fr-BE"/>
          </a:p>
        </p:txBody>
      </p:sp>
      <p:sp>
        <p:nvSpPr>
          <p:cNvPr id="3" name="Shape 1"/>
          <p:cNvSpPr/>
          <p:nvPr/>
        </p:nvSpPr>
        <p:spPr>
          <a:xfrm>
            <a:off x="882396" y="461772"/>
            <a:ext cx="118872" cy="118872"/>
          </a:xfrm>
          <a:prstGeom prst="ellipse">
            <a:avLst/>
          </a:prstGeom>
          <a:ln w="15875">
            <a:solidFill>
              <a:srgbClr val="2F5CFF"/>
            </a:solidFill>
            <a:prstDash val="solid"/>
          </a:ln>
        </p:spPr>
        <p:txBody>
          <a:bodyPr/>
          <a:lstStyle/>
          <a:p>
            <a:endParaRPr lang="fr-BE"/>
          </a:p>
        </p:txBody>
      </p:sp>
      <p:sp>
        <p:nvSpPr>
          <p:cNvPr id="4" name="Shape 2"/>
          <p:cNvSpPr/>
          <p:nvPr/>
        </p:nvSpPr>
        <p:spPr>
          <a:xfrm>
            <a:off x="918972" y="498348"/>
            <a:ext cx="45720" cy="45720"/>
          </a:xfrm>
          <a:prstGeom prst="ellipse">
            <a:avLst/>
          </a:prstGeom>
          <a:solidFill>
            <a:srgbClr val="22D3EE"/>
          </a:solidFill>
          <a:ln/>
        </p:spPr>
        <p:txBody>
          <a:bodyPr/>
          <a:lstStyle/>
          <a:p>
            <a:endParaRPr lang="fr-BE"/>
          </a:p>
        </p:txBody>
      </p:sp>
      <p:sp>
        <p:nvSpPr>
          <p:cNvPr id="5" name="Text 3"/>
          <p:cNvSpPr/>
          <p:nvPr/>
        </p:nvSpPr>
        <p:spPr>
          <a:xfrm>
            <a:off x="1152144" y="356616"/>
            <a:ext cx="3657600" cy="292608"/>
          </a:xfrm>
          <a:prstGeom prst="rect">
            <a:avLst/>
          </a:prstGeom>
          <a:noFill/>
          <a:ln/>
        </p:spPr>
        <p:txBody>
          <a:bodyPr wrap="square" rtlCol="0" anchor="ctr"/>
          <a:lstStyle/>
          <a:p>
            <a:pPr marL="0" indent="0">
              <a:buNone/>
            </a:pPr>
            <a:r>
              <a:rPr lang="en-US" sz="1050" b="1" kern="0" spc="160" dirty="0">
                <a:solidFill>
                  <a:srgbClr val="9AA5B8"/>
                </a:solidFill>
                <a:latin typeface="Arial" pitchFamily="34" charset="0"/>
                <a:ea typeface="Arial" pitchFamily="34" charset="-122"/>
                <a:cs typeface="Arial" pitchFamily="34" charset="-120"/>
              </a:rPr>
              <a:t>COBALT DATA SOCIETY</a:t>
            </a:r>
            <a:endParaRPr lang="en-US" sz="1050" dirty="0"/>
          </a:p>
        </p:txBody>
      </p:sp>
      <p:sp>
        <p:nvSpPr>
          <p:cNvPr id="6" name="Text 4"/>
          <p:cNvSpPr/>
          <p:nvPr/>
        </p:nvSpPr>
        <p:spPr>
          <a:xfrm>
            <a:off x="822960" y="841248"/>
            <a:ext cx="9601200" cy="292608"/>
          </a:xfrm>
          <a:prstGeom prst="rect">
            <a:avLst/>
          </a:prstGeom>
          <a:noFill/>
          <a:ln/>
        </p:spPr>
        <p:txBody>
          <a:bodyPr wrap="square" rtlCol="0" anchor="ctr"/>
          <a:lstStyle/>
          <a:p>
            <a:pPr marL="0" indent="0">
              <a:buNone/>
            </a:pPr>
            <a:r>
              <a:rPr lang="en-US" sz="1200" b="1" kern="0" spc="150" dirty="0">
                <a:solidFill>
                  <a:srgbClr val="22D3EE"/>
                </a:solidFill>
                <a:latin typeface="Arial" pitchFamily="34" charset="0"/>
                <a:ea typeface="Arial" pitchFamily="34" charset="-122"/>
                <a:cs typeface="Arial" pitchFamily="34" charset="-120"/>
              </a:rPr>
              <a:t>HOW IT WORKS · 2 OF 3</a:t>
            </a:r>
            <a:endParaRPr lang="en-US" sz="1200" dirty="0"/>
          </a:p>
        </p:txBody>
      </p:sp>
      <p:sp>
        <p:nvSpPr>
          <p:cNvPr id="7" name="Text 5"/>
          <p:cNvSpPr/>
          <p:nvPr/>
        </p:nvSpPr>
        <p:spPr>
          <a:xfrm>
            <a:off x="822960" y="1152144"/>
            <a:ext cx="10515600" cy="77724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Six signal types, each doing a different job</a:t>
            </a:r>
            <a:endParaRPr lang="en-US" sz="2700" dirty="0"/>
          </a:p>
        </p:txBody>
      </p:sp>
      <p:sp>
        <p:nvSpPr>
          <p:cNvPr id="8" name="Shape 6"/>
          <p:cNvSpPr/>
          <p:nvPr/>
        </p:nvSpPr>
        <p:spPr>
          <a:xfrm>
            <a:off x="822960" y="2103120"/>
            <a:ext cx="3273552" cy="1965960"/>
          </a:xfrm>
          <a:prstGeom prst="roundRect">
            <a:avLst>
              <a:gd name="adj" fmla="val 4651"/>
            </a:avLst>
          </a:prstGeom>
          <a:solidFill>
            <a:srgbClr val="121A2C"/>
          </a:solidFill>
          <a:ln w="9525">
            <a:solidFill>
              <a:srgbClr val="1B2740"/>
            </a:solidFill>
            <a:prstDash val="solid"/>
          </a:ln>
        </p:spPr>
        <p:txBody>
          <a:bodyPr/>
          <a:lstStyle/>
          <a:p>
            <a:endParaRPr lang="fr-BE"/>
          </a:p>
        </p:txBody>
      </p:sp>
      <p:sp>
        <p:nvSpPr>
          <p:cNvPr id="9" name="Shape 7"/>
          <p:cNvSpPr/>
          <p:nvPr/>
        </p:nvSpPr>
        <p:spPr>
          <a:xfrm>
            <a:off x="1024128" y="2286000"/>
            <a:ext cx="384048" cy="384048"/>
          </a:xfrm>
          <a:prstGeom prst="ellipse">
            <a:avLst/>
          </a:prstGeom>
          <a:solidFill>
            <a:srgbClr val="22D3EE"/>
          </a:solidFill>
          <a:ln/>
        </p:spPr>
        <p:txBody>
          <a:bodyPr/>
          <a:lstStyle/>
          <a:p>
            <a:endParaRPr lang="fr-BE"/>
          </a:p>
        </p:txBody>
      </p:sp>
      <p:sp>
        <p:nvSpPr>
          <p:cNvPr id="10" name="Text 8"/>
          <p:cNvSpPr/>
          <p:nvPr/>
        </p:nvSpPr>
        <p:spPr>
          <a:xfrm>
            <a:off x="1024128" y="2286000"/>
            <a:ext cx="384048" cy="384048"/>
          </a:xfrm>
          <a:prstGeom prst="rect">
            <a:avLst/>
          </a:prstGeom>
          <a:noFill/>
          <a:ln/>
        </p:spPr>
        <p:txBody>
          <a:bodyPr wrap="square" rtlCol="0" anchor="ctr"/>
          <a:lstStyle/>
          <a:p>
            <a:pPr marL="0" indent="0" algn="ctr">
              <a:buNone/>
            </a:pPr>
            <a:r>
              <a:rPr lang="en-US" sz="1300" b="1" dirty="0">
                <a:solidFill>
                  <a:srgbClr val="071022"/>
                </a:solidFill>
                <a:latin typeface="Arial" pitchFamily="34" charset="0"/>
                <a:ea typeface="Arial" pitchFamily="34" charset="-122"/>
                <a:cs typeface="Arial" pitchFamily="34" charset="-120"/>
              </a:rPr>
              <a:t>1</a:t>
            </a:r>
            <a:endParaRPr lang="en-US" sz="1300" dirty="0"/>
          </a:p>
        </p:txBody>
      </p:sp>
      <p:sp>
        <p:nvSpPr>
          <p:cNvPr id="11" name="Text 9"/>
          <p:cNvSpPr/>
          <p:nvPr/>
        </p:nvSpPr>
        <p:spPr>
          <a:xfrm>
            <a:off x="1508760" y="2286000"/>
            <a:ext cx="2404872" cy="384048"/>
          </a:xfrm>
          <a:prstGeom prst="rect">
            <a:avLst/>
          </a:prstGeom>
          <a:noFill/>
          <a:ln/>
        </p:spPr>
        <p:txBody>
          <a:bodyPr wrap="square" rtlCol="0" anchor="ctr"/>
          <a:lstStyle/>
          <a:p>
            <a:pPr marL="0" indent="0">
              <a:buNone/>
            </a:pPr>
            <a:r>
              <a:rPr lang="en-US" sz="1400" b="1" dirty="0">
                <a:solidFill>
                  <a:srgbClr val="FFFFFF"/>
                </a:solidFill>
                <a:latin typeface="Arial" panose="020B0604020202020204" pitchFamily="34" charset="0"/>
                <a:ea typeface="Courier New" pitchFamily="34" charset="-122"/>
                <a:cs typeface="Arial" panose="020B0604020202020204" pitchFamily="34" charset="0"/>
              </a:rPr>
              <a:t>buying_signal</a:t>
            </a:r>
            <a:endParaRPr lang="en-US" sz="1400" dirty="0">
              <a:latin typeface="Arial" panose="020B0604020202020204" pitchFamily="34" charset="0"/>
              <a:cs typeface="Arial" panose="020B0604020202020204" pitchFamily="34" charset="0"/>
            </a:endParaRPr>
          </a:p>
        </p:txBody>
      </p:sp>
      <p:sp>
        <p:nvSpPr>
          <p:cNvPr id="12" name="Shape 10"/>
          <p:cNvSpPr/>
          <p:nvPr/>
        </p:nvSpPr>
        <p:spPr>
          <a:xfrm>
            <a:off x="1024128" y="2761488"/>
            <a:ext cx="1417320" cy="292608"/>
          </a:xfrm>
          <a:prstGeom prst="roundRect">
            <a:avLst>
              <a:gd name="adj" fmla="val 50000"/>
            </a:avLst>
          </a:prstGeom>
          <a:solidFill>
            <a:srgbClr val="22D3EE"/>
          </a:solidFill>
          <a:ln/>
        </p:spPr>
        <p:txBody>
          <a:bodyPr/>
          <a:lstStyle/>
          <a:p>
            <a:endParaRPr lang="fr-BE"/>
          </a:p>
        </p:txBody>
      </p:sp>
      <p:sp>
        <p:nvSpPr>
          <p:cNvPr id="13" name="Text 11"/>
          <p:cNvSpPr/>
          <p:nvPr/>
        </p:nvSpPr>
        <p:spPr>
          <a:xfrm>
            <a:off x="1024128" y="2761488"/>
            <a:ext cx="1417320" cy="292608"/>
          </a:xfrm>
          <a:prstGeom prst="rect">
            <a:avLst/>
          </a:prstGeom>
          <a:noFill/>
          <a:ln/>
        </p:spPr>
        <p:txBody>
          <a:bodyPr wrap="square" rtlCol="0" anchor="ctr"/>
          <a:lstStyle/>
          <a:p>
            <a:pPr marL="0" indent="0" algn="ctr">
              <a:buNone/>
            </a:pPr>
            <a:r>
              <a:rPr lang="en-US" sz="900" b="1" kern="0" spc="40" dirty="0">
                <a:solidFill>
                  <a:srgbClr val="071022"/>
                </a:solidFill>
                <a:latin typeface="Arial" pitchFamily="34" charset="0"/>
                <a:ea typeface="Arial" pitchFamily="34" charset="-122"/>
                <a:cs typeface="Arial" pitchFamily="34" charset="-120"/>
              </a:rPr>
              <a:t>DETERMINISTIC</a:t>
            </a:r>
            <a:endParaRPr lang="en-US" sz="900" dirty="0"/>
          </a:p>
        </p:txBody>
      </p:sp>
      <p:sp>
        <p:nvSpPr>
          <p:cNvPr id="14" name="Text 12"/>
          <p:cNvSpPr/>
          <p:nvPr/>
        </p:nvSpPr>
        <p:spPr>
          <a:xfrm>
            <a:off x="1024128" y="3182112"/>
            <a:ext cx="2871216" cy="822960"/>
          </a:xfrm>
          <a:prstGeom prst="rect">
            <a:avLst/>
          </a:prstGeom>
          <a:noFill/>
          <a:ln/>
        </p:spPr>
        <p:txBody>
          <a:bodyPr wrap="square" rtlCol="0" anchor="ctr"/>
          <a:lstStyle/>
          <a:p>
            <a:pPr marL="0" indent="0">
              <a:lnSpc>
                <a:spcPct val="120000"/>
              </a:lnSpc>
              <a:buNone/>
            </a:pPr>
            <a:r>
              <a:rPr lang="en-US" sz="1000" dirty="0">
                <a:solidFill>
                  <a:srgbClr val="9AA5B8"/>
                </a:solidFill>
                <a:latin typeface="Calibri" pitchFamily="34" charset="0"/>
                <a:ea typeface="Calibri" pitchFamily="34" charset="-122"/>
                <a:cs typeface="Calibri" pitchFamily="34" charset="-120"/>
              </a:rPr>
              <a:t>An active tender, RFP or procurement notice. Ranks first when signals compete for the lead “why hot now” clause.</a:t>
            </a:r>
            <a:endParaRPr lang="en-US" sz="1000" dirty="0"/>
          </a:p>
        </p:txBody>
      </p:sp>
      <p:sp>
        <p:nvSpPr>
          <p:cNvPr id="15" name="Shape 13"/>
          <p:cNvSpPr/>
          <p:nvPr/>
        </p:nvSpPr>
        <p:spPr>
          <a:xfrm>
            <a:off x="4462272" y="2103120"/>
            <a:ext cx="3273552" cy="1965960"/>
          </a:xfrm>
          <a:prstGeom prst="roundRect">
            <a:avLst>
              <a:gd name="adj" fmla="val 4651"/>
            </a:avLst>
          </a:prstGeom>
          <a:solidFill>
            <a:srgbClr val="121A2C"/>
          </a:solidFill>
          <a:ln w="9525">
            <a:solidFill>
              <a:srgbClr val="1B2740"/>
            </a:solidFill>
            <a:prstDash val="solid"/>
          </a:ln>
        </p:spPr>
        <p:txBody>
          <a:bodyPr/>
          <a:lstStyle/>
          <a:p>
            <a:endParaRPr lang="fr-BE"/>
          </a:p>
        </p:txBody>
      </p:sp>
      <p:sp>
        <p:nvSpPr>
          <p:cNvPr id="16" name="Shape 14"/>
          <p:cNvSpPr/>
          <p:nvPr/>
        </p:nvSpPr>
        <p:spPr>
          <a:xfrm>
            <a:off x="4663440" y="2286000"/>
            <a:ext cx="384048" cy="384048"/>
          </a:xfrm>
          <a:prstGeom prst="ellipse">
            <a:avLst/>
          </a:prstGeom>
          <a:solidFill>
            <a:srgbClr val="22D3EE"/>
          </a:solidFill>
          <a:ln/>
        </p:spPr>
        <p:txBody>
          <a:bodyPr/>
          <a:lstStyle/>
          <a:p>
            <a:endParaRPr lang="fr-BE"/>
          </a:p>
        </p:txBody>
      </p:sp>
      <p:sp>
        <p:nvSpPr>
          <p:cNvPr id="17" name="Text 15"/>
          <p:cNvSpPr/>
          <p:nvPr/>
        </p:nvSpPr>
        <p:spPr>
          <a:xfrm>
            <a:off x="4663440" y="2286000"/>
            <a:ext cx="384048" cy="384048"/>
          </a:xfrm>
          <a:prstGeom prst="rect">
            <a:avLst/>
          </a:prstGeom>
          <a:noFill/>
          <a:ln/>
        </p:spPr>
        <p:txBody>
          <a:bodyPr wrap="square" rtlCol="0" anchor="ctr"/>
          <a:lstStyle/>
          <a:p>
            <a:pPr marL="0" indent="0" algn="ctr">
              <a:buNone/>
            </a:pPr>
            <a:r>
              <a:rPr lang="en-US" sz="1300" b="1" dirty="0">
                <a:solidFill>
                  <a:srgbClr val="071022"/>
                </a:solidFill>
                <a:latin typeface="Arial" pitchFamily="34" charset="0"/>
                <a:ea typeface="Arial" pitchFamily="34" charset="-122"/>
                <a:cs typeface="Arial" pitchFamily="34" charset="-120"/>
              </a:rPr>
              <a:t>2</a:t>
            </a:r>
            <a:endParaRPr lang="en-US" sz="1300" dirty="0"/>
          </a:p>
        </p:txBody>
      </p:sp>
      <p:sp>
        <p:nvSpPr>
          <p:cNvPr id="18" name="Text 16"/>
          <p:cNvSpPr/>
          <p:nvPr/>
        </p:nvSpPr>
        <p:spPr>
          <a:xfrm>
            <a:off x="5148072" y="2286000"/>
            <a:ext cx="2404872" cy="384048"/>
          </a:xfrm>
          <a:prstGeom prst="rect">
            <a:avLst/>
          </a:prstGeom>
          <a:noFill/>
          <a:ln/>
        </p:spPr>
        <p:txBody>
          <a:bodyPr wrap="square" rtlCol="0" anchor="ctr"/>
          <a:lstStyle/>
          <a:p>
            <a:pPr marL="0" indent="0">
              <a:buNone/>
            </a:pPr>
            <a:r>
              <a:rPr lang="en-US" sz="1400" b="1" dirty="0">
                <a:solidFill>
                  <a:srgbClr val="FFFFFF"/>
                </a:solidFill>
                <a:latin typeface="Arial" panose="020B0604020202020204" pitchFamily="34" charset="0"/>
                <a:ea typeface="Courier New" pitchFamily="34" charset="-122"/>
                <a:cs typeface="Arial" panose="020B0604020202020204" pitchFamily="34" charset="0"/>
              </a:rPr>
              <a:t>regulation</a:t>
            </a:r>
            <a:endParaRPr lang="en-US" sz="1400" dirty="0">
              <a:latin typeface="Arial" panose="020B0604020202020204" pitchFamily="34" charset="0"/>
              <a:cs typeface="Arial" panose="020B0604020202020204" pitchFamily="34" charset="0"/>
            </a:endParaRPr>
          </a:p>
        </p:txBody>
      </p:sp>
      <p:sp>
        <p:nvSpPr>
          <p:cNvPr id="19" name="Shape 17"/>
          <p:cNvSpPr/>
          <p:nvPr/>
        </p:nvSpPr>
        <p:spPr>
          <a:xfrm>
            <a:off x="4663440" y="2761488"/>
            <a:ext cx="1600200" cy="292608"/>
          </a:xfrm>
          <a:prstGeom prst="roundRect">
            <a:avLst>
              <a:gd name="adj" fmla="val 50000"/>
            </a:avLst>
          </a:prstGeom>
          <a:ln w="12700">
            <a:solidFill>
              <a:srgbClr val="2F5CFF"/>
            </a:solidFill>
            <a:prstDash val="solid"/>
          </a:ln>
        </p:spPr>
        <p:txBody>
          <a:bodyPr/>
          <a:lstStyle/>
          <a:p>
            <a:endParaRPr lang="fr-BE"/>
          </a:p>
        </p:txBody>
      </p:sp>
      <p:sp>
        <p:nvSpPr>
          <p:cNvPr id="20" name="Text 18"/>
          <p:cNvSpPr/>
          <p:nvPr/>
        </p:nvSpPr>
        <p:spPr>
          <a:xfrm>
            <a:off x="4663440" y="2761488"/>
            <a:ext cx="1600200" cy="292608"/>
          </a:xfrm>
          <a:prstGeom prst="rect">
            <a:avLst/>
          </a:prstGeom>
          <a:noFill/>
          <a:ln/>
        </p:spPr>
        <p:txBody>
          <a:bodyPr wrap="square" rtlCol="0" anchor="ctr"/>
          <a:lstStyle/>
          <a:p>
            <a:pPr marL="0" indent="0" algn="ctr">
              <a:buNone/>
            </a:pPr>
            <a:r>
              <a:rPr lang="en-US" sz="900" b="1" kern="0" spc="40" dirty="0">
                <a:solidFill>
                  <a:srgbClr val="2F5CFF"/>
                </a:solidFill>
                <a:latin typeface="Arial" pitchFamily="34" charset="0"/>
                <a:ea typeface="Arial" pitchFamily="34" charset="-122"/>
                <a:cs typeface="Arial" pitchFamily="34" charset="-120"/>
              </a:rPr>
              <a:t>LLM-CLASSIFIED</a:t>
            </a:r>
            <a:endParaRPr lang="en-US" sz="900" dirty="0"/>
          </a:p>
        </p:txBody>
      </p:sp>
      <p:sp>
        <p:nvSpPr>
          <p:cNvPr id="21" name="Text 19"/>
          <p:cNvSpPr/>
          <p:nvPr/>
        </p:nvSpPr>
        <p:spPr>
          <a:xfrm>
            <a:off x="4663440" y="3182112"/>
            <a:ext cx="2871216" cy="822960"/>
          </a:xfrm>
          <a:prstGeom prst="rect">
            <a:avLst/>
          </a:prstGeom>
          <a:noFill/>
          <a:ln/>
        </p:spPr>
        <p:txBody>
          <a:bodyPr wrap="square" rtlCol="0" anchor="ctr"/>
          <a:lstStyle/>
          <a:p>
            <a:pPr marL="0" indent="0">
              <a:lnSpc>
                <a:spcPct val="120000"/>
              </a:lnSpc>
              <a:buNone/>
            </a:pPr>
            <a:r>
              <a:rPr lang="en-US" sz="1000" dirty="0">
                <a:solidFill>
                  <a:srgbClr val="9AA5B8"/>
                </a:solidFill>
                <a:latin typeface="Calibri" pitchFamily="34" charset="0"/>
                <a:ea typeface="Calibri" pitchFamily="34" charset="-122"/>
                <a:cs typeface="Calibri" pitchFamily="34" charset="-120"/>
              </a:rPr>
              <a:t>A new compliance obligation. Signals durable, non-discretionary demand rather than a one-off project.</a:t>
            </a:r>
            <a:endParaRPr lang="en-US" sz="1000" dirty="0"/>
          </a:p>
        </p:txBody>
      </p:sp>
      <p:sp>
        <p:nvSpPr>
          <p:cNvPr id="22" name="Shape 20"/>
          <p:cNvSpPr/>
          <p:nvPr/>
        </p:nvSpPr>
        <p:spPr>
          <a:xfrm>
            <a:off x="8101584" y="2103120"/>
            <a:ext cx="3273552" cy="1965960"/>
          </a:xfrm>
          <a:prstGeom prst="roundRect">
            <a:avLst>
              <a:gd name="adj" fmla="val 4651"/>
            </a:avLst>
          </a:prstGeom>
          <a:solidFill>
            <a:srgbClr val="121A2C"/>
          </a:solidFill>
          <a:ln w="9525">
            <a:solidFill>
              <a:srgbClr val="1B2740"/>
            </a:solidFill>
            <a:prstDash val="solid"/>
          </a:ln>
        </p:spPr>
        <p:txBody>
          <a:bodyPr/>
          <a:lstStyle/>
          <a:p>
            <a:endParaRPr lang="fr-BE"/>
          </a:p>
        </p:txBody>
      </p:sp>
      <p:sp>
        <p:nvSpPr>
          <p:cNvPr id="23" name="Shape 21"/>
          <p:cNvSpPr/>
          <p:nvPr/>
        </p:nvSpPr>
        <p:spPr>
          <a:xfrm>
            <a:off x="8302752" y="2286000"/>
            <a:ext cx="384048" cy="384048"/>
          </a:xfrm>
          <a:prstGeom prst="ellipse">
            <a:avLst/>
          </a:prstGeom>
          <a:solidFill>
            <a:srgbClr val="22D3EE"/>
          </a:solidFill>
          <a:ln/>
        </p:spPr>
        <p:txBody>
          <a:bodyPr/>
          <a:lstStyle/>
          <a:p>
            <a:endParaRPr lang="fr-BE"/>
          </a:p>
        </p:txBody>
      </p:sp>
      <p:sp>
        <p:nvSpPr>
          <p:cNvPr id="24" name="Text 22"/>
          <p:cNvSpPr/>
          <p:nvPr/>
        </p:nvSpPr>
        <p:spPr>
          <a:xfrm>
            <a:off x="8302752" y="2286000"/>
            <a:ext cx="384048" cy="384048"/>
          </a:xfrm>
          <a:prstGeom prst="rect">
            <a:avLst/>
          </a:prstGeom>
          <a:noFill/>
          <a:ln/>
        </p:spPr>
        <p:txBody>
          <a:bodyPr wrap="square" rtlCol="0" anchor="ctr"/>
          <a:lstStyle/>
          <a:p>
            <a:pPr marL="0" indent="0" algn="ctr">
              <a:buNone/>
            </a:pPr>
            <a:r>
              <a:rPr lang="en-US" sz="1300" b="1" dirty="0">
                <a:solidFill>
                  <a:srgbClr val="071022"/>
                </a:solidFill>
                <a:latin typeface="Arial" pitchFamily="34" charset="0"/>
                <a:ea typeface="Arial" pitchFamily="34" charset="-122"/>
                <a:cs typeface="Arial" pitchFamily="34" charset="-120"/>
              </a:rPr>
              <a:t>3</a:t>
            </a:r>
            <a:endParaRPr lang="en-US" sz="1300" dirty="0"/>
          </a:p>
        </p:txBody>
      </p:sp>
      <p:sp>
        <p:nvSpPr>
          <p:cNvPr id="25" name="Text 23"/>
          <p:cNvSpPr/>
          <p:nvPr/>
        </p:nvSpPr>
        <p:spPr>
          <a:xfrm>
            <a:off x="8787384" y="2286000"/>
            <a:ext cx="2404872" cy="384048"/>
          </a:xfrm>
          <a:prstGeom prst="rect">
            <a:avLst/>
          </a:prstGeom>
          <a:noFill/>
          <a:ln/>
        </p:spPr>
        <p:txBody>
          <a:bodyPr wrap="square" rtlCol="0" anchor="ctr"/>
          <a:lstStyle/>
          <a:p>
            <a:pPr marL="0" indent="0">
              <a:buNone/>
            </a:pPr>
            <a:r>
              <a:rPr lang="en-US" sz="1400" b="1" dirty="0">
                <a:solidFill>
                  <a:srgbClr val="FFFFFF"/>
                </a:solidFill>
                <a:latin typeface="Arial" panose="020B0604020202020204" pitchFamily="34" charset="0"/>
                <a:ea typeface="Courier New" pitchFamily="34" charset="-122"/>
                <a:cs typeface="Arial" panose="020B0604020202020204" pitchFamily="34" charset="0"/>
              </a:rPr>
              <a:t>proof_signal</a:t>
            </a:r>
            <a:endParaRPr lang="en-US" sz="1400" dirty="0">
              <a:latin typeface="Arial" panose="020B0604020202020204" pitchFamily="34" charset="0"/>
              <a:cs typeface="Arial" panose="020B0604020202020204" pitchFamily="34" charset="0"/>
            </a:endParaRPr>
          </a:p>
        </p:txBody>
      </p:sp>
      <p:sp>
        <p:nvSpPr>
          <p:cNvPr id="26" name="Shape 24"/>
          <p:cNvSpPr/>
          <p:nvPr/>
        </p:nvSpPr>
        <p:spPr>
          <a:xfrm>
            <a:off x="8302752" y="2761488"/>
            <a:ext cx="1417320" cy="292608"/>
          </a:xfrm>
          <a:prstGeom prst="roundRect">
            <a:avLst>
              <a:gd name="adj" fmla="val 50000"/>
            </a:avLst>
          </a:prstGeom>
          <a:solidFill>
            <a:srgbClr val="22D3EE"/>
          </a:solidFill>
          <a:ln/>
        </p:spPr>
        <p:txBody>
          <a:bodyPr/>
          <a:lstStyle/>
          <a:p>
            <a:endParaRPr lang="fr-BE"/>
          </a:p>
        </p:txBody>
      </p:sp>
      <p:sp>
        <p:nvSpPr>
          <p:cNvPr id="27" name="Text 25"/>
          <p:cNvSpPr/>
          <p:nvPr/>
        </p:nvSpPr>
        <p:spPr>
          <a:xfrm>
            <a:off x="8302752" y="2761488"/>
            <a:ext cx="1417320" cy="292608"/>
          </a:xfrm>
          <a:prstGeom prst="rect">
            <a:avLst/>
          </a:prstGeom>
          <a:noFill/>
          <a:ln/>
        </p:spPr>
        <p:txBody>
          <a:bodyPr wrap="square" rtlCol="0" anchor="ctr"/>
          <a:lstStyle/>
          <a:p>
            <a:pPr marL="0" indent="0" algn="ctr">
              <a:buNone/>
            </a:pPr>
            <a:r>
              <a:rPr lang="en-US" sz="900" b="1" kern="0" spc="40" dirty="0">
                <a:solidFill>
                  <a:srgbClr val="071022"/>
                </a:solidFill>
                <a:latin typeface="Arial" pitchFamily="34" charset="0"/>
                <a:ea typeface="Arial" pitchFamily="34" charset="-122"/>
                <a:cs typeface="Arial" pitchFamily="34" charset="-120"/>
              </a:rPr>
              <a:t>DETERMINISTIC</a:t>
            </a:r>
            <a:endParaRPr lang="en-US" sz="900" dirty="0"/>
          </a:p>
        </p:txBody>
      </p:sp>
      <p:sp>
        <p:nvSpPr>
          <p:cNvPr id="28" name="Text 26"/>
          <p:cNvSpPr/>
          <p:nvPr/>
        </p:nvSpPr>
        <p:spPr>
          <a:xfrm>
            <a:off x="8302752" y="3182112"/>
            <a:ext cx="2871216" cy="822960"/>
          </a:xfrm>
          <a:prstGeom prst="rect">
            <a:avLst/>
          </a:prstGeom>
          <a:noFill/>
          <a:ln/>
        </p:spPr>
        <p:txBody>
          <a:bodyPr wrap="square" rtlCol="0" anchor="ctr"/>
          <a:lstStyle/>
          <a:p>
            <a:pPr marL="0" indent="0">
              <a:lnSpc>
                <a:spcPct val="120000"/>
              </a:lnSpc>
              <a:buNone/>
            </a:pPr>
            <a:r>
              <a:rPr lang="en-US" sz="1000" dirty="0">
                <a:solidFill>
                  <a:srgbClr val="9AA5B8"/>
                </a:solidFill>
                <a:latin typeface="Calibri" pitchFamily="34" charset="0"/>
                <a:ea typeface="Calibri" pitchFamily="34" charset="-122"/>
                <a:cs typeface="Calibri" pitchFamily="34" charset="-120"/>
              </a:rPr>
              <a:t>A funded or validated project — CORDIS status confirms it happened. Adds hard evidence to the space.</a:t>
            </a:r>
            <a:endParaRPr lang="en-US" sz="1000" dirty="0"/>
          </a:p>
        </p:txBody>
      </p:sp>
      <p:sp>
        <p:nvSpPr>
          <p:cNvPr id="29" name="Shape 27"/>
          <p:cNvSpPr/>
          <p:nvPr/>
        </p:nvSpPr>
        <p:spPr>
          <a:xfrm>
            <a:off x="822960" y="4251960"/>
            <a:ext cx="3273552" cy="1965960"/>
          </a:xfrm>
          <a:prstGeom prst="roundRect">
            <a:avLst>
              <a:gd name="adj" fmla="val 4651"/>
            </a:avLst>
          </a:prstGeom>
          <a:solidFill>
            <a:srgbClr val="121A2C"/>
          </a:solidFill>
          <a:ln w="9525">
            <a:solidFill>
              <a:srgbClr val="1B2740"/>
            </a:solidFill>
            <a:prstDash val="solid"/>
          </a:ln>
        </p:spPr>
        <p:txBody>
          <a:bodyPr/>
          <a:lstStyle/>
          <a:p>
            <a:endParaRPr lang="fr-BE"/>
          </a:p>
        </p:txBody>
      </p:sp>
      <p:sp>
        <p:nvSpPr>
          <p:cNvPr id="30" name="Shape 28"/>
          <p:cNvSpPr/>
          <p:nvPr/>
        </p:nvSpPr>
        <p:spPr>
          <a:xfrm>
            <a:off x="1024128" y="4434840"/>
            <a:ext cx="384048" cy="384048"/>
          </a:xfrm>
          <a:prstGeom prst="ellipse">
            <a:avLst/>
          </a:prstGeom>
          <a:solidFill>
            <a:srgbClr val="22D3EE"/>
          </a:solidFill>
          <a:ln/>
        </p:spPr>
        <p:txBody>
          <a:bodyPr/>
          <a:lstStyle/>
          <a:p>
            <a:endParaRPr lang="fr-BE"/>
          </a:p>
        </p:txBody>
      </p:sp>
      <p:sp>
        <p:nvSpPr>
          <p:cNvPr id="31" name="Text 29"/>
          <p:cNvSpPr/>
          <p:nvPr/>
        </p:nvSpPr>
        <p:spPr>
          <a:xfrm>
            <a:off x="1024128" y="4434840"/>
            <a:ext cx="384048" cy="384048"/>
          </a:xfrm>
          <a:prstGeom prst="rect">
            <a:avLst/>
          </a:prstGeom>
          <a:noFill/>
          <a:ln/>
        </p:spPr>
        <p:txBody>
          <a:bodyPr wrap="square" rtlCol="0" anchor="ctr"/>
          <a:lstStyle/>
          <a:p>
            <a:pPr marL="0" indent="0" algn="ctr">
              <a:buNone/>
            </a:pPr>
            <a:r>
              <a:rPr lang="en-US" sz="1300" b="1" dirty="0">
                <a:solidFill>
                  <a:srgbClr val="071022"/>
                </a:solidFill>
                <a:latin typeface="Arial" pitchFamily="34" charset="0"/>
                <a:ea typeface="Arial" pitchFamily="34" charset="-122"/>
                <a:cs typeface="Arial" pitchFamily="34" charset="-120"/>
              </a:rPr>
              <a:t>4</a:t>
            </a:r>
            <a:endParaRPr lang="en-US" sz="1300" dirty="0"/>
          </a:p>
        </p:txBody>
      </p:sp>
      <p:sp>
        <p:nvSpPr>
          <p:cNvPr id="32" name="Text 30"/>
          <p:cNvSpPr/>
          <p:nvPr/>
        </p:nvSpPr>
        <p:spPr>
          <a:xfrm>
            <a:off x="1508760" y="4434840"/>
            <a:ext cx="2404872" cy="384048"/>
          </a:xfrm>
          <a:prstGeom prst="rect">
            <a:avLst/>
          </a:prstGeom>
          <a:noFill/>
          <a:ln/>
        </p:spPr>
        <p:txBody>
          <a:bodyPr wrap="square" rtlCol="0" anchor="ctr"/>
          <a:lstStyle/>
          <a:p>
            <a:pPr marL="0" indent="0">
              <a:buNone/>
            </a:pPr>
            <a:r>
              <a:rPr lang="en-US" sz="1400" b="1" dirty="0">
                <a:solidFill>
                  <a:srgbClr val="FFFFFF"/>
                </a:solidFill>
                <a:latin typeface="Arial" panose="020B0604020202020204" pitchFamily="34" charset="0"/>
                <a:ea typeface="Courier New" pitchFamily="34" charset="-122"/>
                <a:cs typeface="Arial" panose="020B0604020202020204" pitchFamily="34" charset="0"/>
              </a:rPr>
              <a:t>competitor_move</a:t>
            </a:r>
            <a:endParaRPr lang="en-US" sz="1400" dirty="0">
              <a:latin typeface="Arial" panose="020B0604020202020204" pitchFamily="34" charset="0"/>
              <a:cs typeface="Arial" panose="020B0604020202020204" pitchFamily="34" charset="0"/>
            </a:endParaRPr>
          </a:p>
        </p:txBody>
      </p:sp>
      <p:sp>
        <p:nvSpPr>
          <p:cNvPr id="33" name="Shape 31"/>
          <p:cNvSpPr/>
          <p:nvPr/>
        </p:nvSpPr>
        <p:spPr>
          <a:xfrm>
            <a:off x="1024128" y="4910328"/>
            <a:ext cx="1600200" cy="292608"/>
          </a:xfrm>
          <a:prstGeom prst="roundRect">
            <a:avLst>
              <a:gd name="adj" fmla="val 50000"/>
            </a:avLst>
          </a:prstGeom>
          <a:ln w="12700">
            <a:solidFill>
              <a:srgbClr val="2F5CFF"/>
            </a:solidFill>
            <a:prstDash val="solid"/>
          </a:ln>
        </p:spPr>
        <p:txBody>
          <a:bodyPr/>
          <a:lstStyle/>
          <a:p>
            <a:endParaRPr lang="fr-BE"/>
          </a:p>
        </p:txBody>
      </p:sp>
      <p:sp>
        <p:nvSpPr>
          <p:cNvPr id="34" name="Text 32"/>
          <p:cNvSpPr/>
          <p:nvPr/>
        </p:nvSpPr>
        <p:spPr>
          <a:xfrm>
            <a:off x="1024128" y="4910328"/>
            <a:ext cx="1600200" cy="292608"/>
          </a:xfrm>
          <a:prstGeom prst="rect">
            <a:avLst/>
          </a:prstGeom>
          <a:noFill/>
          <a:ln/>
        </p:spPr>
        <p:txBody>
          <a:bodyPr wrap="square" rtlCol="0" anchor="ctr"/>
          <a:lstStyle/>
          <a:p>
            <a:pPr marL="0" indent="0" algn="ctr">
              <a:buNone/>
            </a:pPr>
            <a:r>
              <a:rPr lang="en-US" sz="900" b="1" kern="0" spc="40" dirty="0">
                <a:solidFill>
                  <a:srgbClr val="2F5CFF"/>
                </a:solidFill>
                <a:latin typeface="Arial" pitchFamily="34" charset="0"/>
                <a:ea typeface="Arial" pitchFamily="34" charset="-122"/>
                <a:cs typeface="Arial" pitchFamily="34" charset="-120"/>
              </a:rPr>
              <a:t>LLM-CLASSIFIED</a:t>
            </a:r>
            <a:endParaRPr lang="en-US" sz="900" dirty="0"/>
          </a:p>
        </p:txBody>
      </p:sp>
      <p:sp>
        <p:nvSpPr>
          <p:cNvPr id="35" name="Text 33"/>
          <p:cNvSpPr/>
          <p:nvPr/>
        </p:nvSpPr>
        <p:spPr>
          <a:xfrm>
            <a:off x="1024128" y="5330952"/>
            <a:ext cx="2871216" cy="822960"/>
          </a:xfrm>
          <a:prstGeom prst="rect">
            <a:avLst/>
          </a:prstGeom>
          <a:noFill/>
          <a:ln/>
        </p:spPr>
        <p:txBody>
          <a:bodyPr wrap="square" rtlCol="0" anchor="ctr"/>
          <a:lstStyle/>
          <a:p>
            <a:pPr marL="0" indent="0">
              <a:lnSpc>
                <a:spcPct val="120000"/>
              </a:lnSpc>
              <a:buNone/>
            </a:pPr>
            <a:r>
              <a:rPr lang="en-US" sz="1000" dirty="0">
                <a:solidFill>
                  <a:srgbClr val="9AA5B8"/>
                </a:solidFill>
                <a:latin typeface="Calibri" pitchFamily="34" charset="0"/>
                <a:ea typeface="Calibri" pitchFamily="34" charset="-122"/>
                <a:cs typeface="Calibri" pitchFamily="34" charset="-120"/>
              </a:rPr>
              <a:t>A rival's visible activity in the same space. Feeds the competitive-urgency framing in the recommended move.</a:t>
            </a:r>
            <a:endParaRPr lang="en-US" sz="1000" dirty="0"/>
          </a:p>
        </p:txBody>
      </p:sp>
      <p:sp>
        <p:nvSpPr>
          <p:cNvPr id="36" name="Shape 34"/>
          <p:cNvSpPr/>
          <p:nvPr/>
        </p:nvSpPr>
        <p:spPr>
          <a:xfrm>
            <a:off x="4462272" y="4251960"/>
            <a:ext cx="3273552" cy="1965960"/>
          </a:xfrm>
          <a:prstGeom prst="roundRect">
            <a:avLst>
              <a:gd name="adj" fmla="val 4651"/>
            </a:avLst>
          </a:prstGeom>
          <a:solidFill>
            <a:srgbClr val="121A2C"/>
          </a:solidFill>
          <a:ln w="9525">
            <a:solidFill>
              <a:srgbClr val="1B2740"/>
            </a:solidFill>
            <a:prstDash val="solid"/>
          </a:ln>
        </p:spPr>
        <p:txBody>
          <a:bodyPr/>
          <a:lstStyle/>
          <a:p>
            <a:endParaRPr lang="fr-BE"/>
          </a:p>
        </p:txBody>
      </p:sp>
      <p:sp>
        <p:nvSpPr>
          <p:cNvPr id="37" name="Shape 35"/>
          <p:cNvSpPr/>
          <p:nvPr/>
        </p:nvSpPr>
        <p:spPr>
          <a:xfrm>
            <a:off x="4663440" y="4434840"/>
            <a:ext cx="384048" cy="384048"/>
          </a:xfrm>
          <a:prstGeom prst="ellipse">
            <a:avLst/>
          </a:prstGeom>
          <a:solidFill>
            <a:srgbClr val="22D3EE"/>
          </a:solidFill>
          <a:ln/>
        </p:spPr>
        <p:txBody>
          <a:bodyPr/>
          <a:lstStyle/>
          <a:p>
            <a:endParaRPr lang="fr-BE"/>
          </a:p>
        </p:txBody>
      </p:sp>
      <p:sp>
        <p:nvSpPr>
          <p:cNvPr id="38" name="Text 36"/>
          <p:cNvSpPr/>
          <p:nvPr/>
        </p:nvSpPr>
        <p:spPr>
          <a:xfrm>
            <a:off x="4663440" y="4434840"/>
            <a:ext cx="384048" cy="384048"/>
          </a:xfrm>
          <a:prstGeom prst="rect">
            <a:avLst/>
          </a:prstGeom>
          <a:noFill/>
          <a:ln/>
        </p:spPr>
        <p:txBody>
          <a:bodyPr wrap="square" rtlCol="0" anchor="ctr"/>
          <a:lstStyle/>
          <a:p>
            <a:pPr marL="0" indent="0" algn="ctr">
              <a:buNone/>
            </a:pPr>
            <a:r>
              <a:rPr lang="en-US" sz="1300" b="1" dirty="0">
                <a:solidFill>
                  <a:srgbClr val="071022"/>
                </a:solidFill>
                <a:latin typeface="Arial" pitchFamily="34" charset="0"/>
                <a:ea typeface="Arial" pitchFamily="34" charset="-122"/>
                <a:cs typeface="Arial" pitchFamily="34" charset="-120"/>
              </a:rPr>
              <a:t>5</a:t>
            </a:r>
            <a:endParaRPr lang="en-US" sz="1300" dirty="0"/>
          </a:p>
        </p:txBody>
      </p:sp>
      <p:sp>
        <p:nvSpPr>
          <p:cNvPr id="39" name="Text 37"/>
          <p:cNvSpPr/>
          <p:nvPr/>
        </p:nvSpPr>
        <p:spPr>
          <a:xfrm>
            <a:off x="5148072" y="4434840"/>
            <a:ext cx="2404872" cy="384048"/>
          </a:xfrm>
          <a:prstGeom prst="rect">
            <a:avLst/>
          </a:prstGeom>
          <a:noFill/>
          <a:ln/>
        </p:spPr>
        <p:txBody>
          <a:bodyPr wrap="square" rtlCol="0" anchor="ctr"/>
          <a:lstStyle/>
          <a:p>
            <a:pPr marL="0" indent="0">
              <a:buNone/>
            </a:pPr>
            <a:r>
              <a:rPr lang="en-US" sz="1400" b="1" dirty="0">
                <a:solidFill>
                  <a:srgbClr val="FFFFFF"/>
                </a:solidFill>
                <a:latin typeface="Arial" panose="020B0604020202020204" pitchFamily="34" charset="0"/>
                <a:ea typeface="Courier New" pitchFamily="34" charset="-122"/>
                <a:cs typeface="Arial" panose="020B0604020202020204" pitchFamily="34" charset="0"/>
              </a:rPr>
              <a:t>market_trend</a:t>
            </a:r>
            <a:endParaRPr lang="en-US" sz="1400" dirty="0">
              <a:latin typeface="Arial" panose="020B0604020202020204" pitchFamily="34" charset="0"/>
              <a:cs typeface="Arial" panose="020B0604020202020204" pitchFamily="34" charset="0"/>
            </a:endParaRPr>
          </a:p>
        </p:txBody>
      </p:sp>
      <p:sp>
        <p:nvSpPr>
          <p:cNvPr id="40" name="Shape 38"/>
          <p:cNvSpPr/>
          <p:nvPr/>
        </p:nvSpPr>
        <p:spPr>
          <a:xfrm>
            <a:off x="4663440" y="4910328"/>
            <a:ext cx="1600200" cy="292608"/>
          </a:xfrm>
          <a:prstGeom prst="roundRect">
            <a:avLst>
              <a:gd name="adj" fmla="val 50000"/>
            </a:avLst>
          </a:prstGeom>
          <a:ln w="12700">
            <a:solidFill>
              <a:srgbClr val="2F5CFF"/>
            </a:solidFill>
            <a:prstDash val="solid"/>
          </a:ln>
        </p:spPr>
        <p:txBody>
          <a:bodyPr/>
          <a:lstStyle/>
          <a:p>
            <a:endParaRPr lang="fr-BE"/>
          </a:p>
        </p:txBody>
      </p:sp>
      <p:sp>
        <p:nvSpPr>
          <p:cNvPr id="41" name="Text 39"/>
          <p:cNvSpPr/>
          <p:nvPr/>
        </p:nvSpPr>
        <p:spPr>
          <a:xfrm>
            <a:off x="4663440" y="4910328"/>
            <a:ext cx="1600200" cy="292608"/>
          </a:xfrm>
          <a:prstGeom prst="rect">
            <a:avLst/>
          </a:prstGeom>
          <a:noFill/>
          <a:ln/>
        </p:spPr>
        <p:txBody>
          <a:bodyPr wrap="square" rtlCol="0" anchor="ctr"/>
          <a:lstStyle/>
          <a:p>
            <a:pPr marL="0" indent="0" algn="ctr">
              <a:buNone/>
            </a:pPr>
            <a:r>
              <a:rPr lang="en-US" sz="900" b="1" kern="0" spc="40" dirty="0">
                <a:solidFill>
                  <a:srgbClr val="2F5CFF"/>
                </a:solidFill>
                <a:latin typeface="Arial" pitchFamily="34" charset="0"/>
                <a:ea typeface="Arial" pitchFamily="34" charset="-122"/>
                <a:cs typeface="Arial" pitchFamily="34" charset="-120"/>
              </a:rPr>
              <a:t>LLM-CLASSIFIED</a:t>
            </a:r>
            <a:endParaRPr lang="en-US" sz="900" dirty="0"/>
          </a:p>
        </p:txBody>
      </p:sp>
      <p:sp>
        <p:nvSpPr>
          <p:cNvPr id="42" name="Text 40"/>
          <p:cNvSpPr/>
          <p:nvPr/>
        </p:nvSpPr>
        <p:spPr>
          <a:xfrm>
            <a:off x="4663440" y="5330952"/>
            <a:ext cx="2871216" cy="822960"/>
          </a:xfrm>
          <a:prstGeom prst="rect">
            <a:avLst/>
          </a:prstGeom>
          <a:noFill/>
          <a:ln/>
        </p:spPr>
        <p:txBody>
          <a:bodyPr wrap="square" rtlCol="0" anchor="ctr"/>
          <a:lstStyle/>
          <a:p>
            <a:pPr marL="0" indent="0">
              <a:lnSpc>
                <a:spcPct val="120000"/>
              </a:lnSpc>
              <a:buNone/>
            </a:pPr>
            <a:r>
              <a:rPr lang="en-US" sz="1000" dirty="0">
                <a:solidFill>
                  <a:srgbClr val="9AA5B8"/>
                </a:solidFill>
                <a:latin typeface="Calibri" pitchFamily="34" charset="0"/>
                <a:ea typeface="Calibri" pitchFamily="34" charset="-122"/>
                <a:cs typeface="Calibri" pitchFamily="34" charset="-120"/>
              </a:rPr>
              <a:t>A broader adoption pattern in the press. The softest, slowest-moving contributor to novelty &amp; momentum.</a:t>
            </a:r>
            <a:endParaRPr lang="en-US" sz="1000" dirty="0"/>
          </a:p>
        </p:txBody>
      </p:sp>
      <p:sp>
        <p:nvSpPr>
          <p:cNvPr id="43" name="Shape 41"/>
          <p:cNvSpPr/>
          <p:nvPr/>
        </p:nvSpPr>
        <p:spPr>
          <a:xfrm>
            <a:off x="8101584" y="4251960"/>
            <a:ext cx="3273552" cy="1965960"/>
          </a:xfrm>
          <a:prstGeom prst="roundRect">
            <a:avLst>
              <a:gd name="adj" fmla="val 4651"/>
            </a:avLst>
          </a:prstGeom>
          <a:solidFill>
            <a:srgbClr val="121A2C"/>
          </a:solidFill>
          <a:ln w="9525">
            <a:solidFill>
              <a:srgbClr val="1B2740"/>
            </a:solidFill>
            <a:prstDash val="solid"/>
          </a:ln>
        </p:spPr>
        <p:txBody>
          <a:bodyPr/>
          <a:lstStyle/>
          <a:p>
            <a:endParaRPr lang="fr-BE"/>
          </a:p>
        </p:txBody>
      </p:sp>
      <p:sp>
        <p:nvSpPr>
          <p:cNvPr id="44" name="Shape 42"/>
          <p:cNvSpPr/>
          <p:nvPr/>
        </p:nvSpPr>
        <p:spPr>
          <a:xfrm>
            <a:off x="8302752" y="4434840"/>
            <a:ext cx="384048" cy="384048"/>
          </a:xfrm>
          <a:prstGeom prst="ellipse">
            <a:avLst/>
          </a:prstGeom>
          <a:solidFill>
            <a:srgbClr val="22D3EE"/>
          </a:solidFill>
          <a:ln/>
        </p:spPr>
        <p:txBody>
          <a:bodyPr/>
          <a:lstStyle/>
          <a:p>
            <a:endParaRPr lang="fr-BE"/>
          </a:p>
        </p:txBody>
      </p:sp>
      <p:sp>
        <p:nvSpPr>
          <p:cNvPr id="45" name="Text 43"/>
          <p:cNvSpPr/>
          <p:nvPr/>
        </p:nvSpPr>
        <p:spPr>
          <a:xfrm>
            <a:off x="8302752" y="4434840"/>
            <a:ext cx="384048" cy="384048"/>
          </a:xfrm>
          <a:prstGeom prst="rect">
            <a:avLst/>
          </a:prstGeom>
          <a:noFill/>
          <a:ln/>
        </p:spPr>
        <p:txBody>
          <a:bodyPr wrap="square" rtlCol="0" anchor="ctr"/>
          <a:lstStyle/>
          <a:p>
            <a:pPr marL="0" indent="0" algn="ctr">
              <a:buNone/>
            </a:pPr>
            <a:r>
              <a:rPr lang="en-US" sz="1300" b="1" dirty="0">
                <a:solidFill>
                  <a:srgbClr val="071022"/>
                </a:solidFill>
                <a:latin typeface="Arial" pitchFamily="34" charset="0"/>
                <a:ea typeface="Arial" pitchFamily="34" charset="-122"/>
                <a:cs typeface="Arial" pitchFamily="34" charset="-120"/>
              </a:rPr>
              <a:t>6</a:t>
            </a:r>
            <a:endParaRPr lang="en-US" sz="1300" dirty="0"/>
          </a:p>
        </p:txBody>
      </p:sp>
      <p:sp>
        <p:nvSpPr>
          <p:cNvPr id="46" name="Text 44"/>
          <p:cNvSpPr/>
          <p:nvPr/>
        </p:nvSpPr>
        <p:spPr>
          <a:xfrm>
            <a:off x="8787384" y="4434840"/>
            <a:ext cx="2404872" cy="384048"/>
          </a:xfrm>
          <a:prstGeom prst="rect">
            <a:avLst/>
          </a:prstGeom>
          <a:noFill/>
          <a:ln/>
        </p:spPr>
        <p:txBody>
          <a:bodyPr wrap="square" rtlCol="0" anchor="ctr"/>
          <a:lstStyle/>
          <a:p>
            <a:pPr marL="0" indent="0">
              <a:buNone/>
            </a:pPr>
            <a:r>
              <a:rPr lang="en-US" sz="1400" b="1" dirty="0">
                <a:solidFill>
                  <a:srgbClr val="FFFFFF"/>
                </a:solidFill>
                <a:latin typeface="Arial" panose="020B0604020202020204" pitchFamily="34" charset="0"/>
                <a:ea typeface="Courier New" pitchFamily="34" charset="-122"/>
                <a:cs typeface="Arial" panose="020B0604020202020204" pitchFamily="34" charset="0"/>
              </a:rPr>
              <a:t>tech_maturity</a:t>
            </a:r>
            <a:endParaRPr lang="en-US" sz="1400" dirty="0">
              <a:latin typeface="Arial" panose="020B0604020202020204" pitchFamily="34" charset="0"/>
              <a:cs typeface="Arial" panose="020B0604020202020204" pitchFamily="34" charset="0"/>
            </a:endParaRPr>
          </a:p>
        </p:txBody>
      </p:sp>
      <p:sp>
        <p:nvSpPr>
          <p:cNvPr id="47" name="Shape 45"/>
          <p:cNvSpPr/>
          <p:nvPr/>
        </p:nvSpPr>
        <p:spPr>
          <a:xfrm>
            <a:off x="8302752" y="4910328"/>
            <a:ext cx="1417320" cy="292608"/>
          </a:xfrm>
          <a:prstGeom prst="roundRect">
            <a:avLst>
              <a:gd name="adj" fmla="val 50000"/>
            </a:avLst>
          </a:prstGeom>
          <a:solidFill>
            <a:srgbClr val="22D3EE"/>
          </a:solidFill>
          <a:ln/>
        </p:spPr>
        <p:txBody>
          <a:bodyPr/>
          <a:lstStyle/>
          <a:p>
            <a:endParaRPr lang="fr-BE"/>
          </a:p>
        </p:txBody>
      </p:sp>
      <p:sp>
        <p:nvSpPr>
          <p:cNvPr id="48" name="Text 46"/>
          <p:cNvSpPr/>
          <p:nvPr/>
        </p:nvSpPr>
        <p:spPr>
          <a:xfrm>
            <a:off x="8302752" y="4910328"/>
            <a:ext cx="1417320" cy="292608"/>
          </a:xfrm>
          <a:prstGeom prst="rect">
            <a:avLst/>
          </a:prstGeom>
          <a:noFill/>
          <a:ln/>
        </p:spPr>
        <p:txBody>
          <a:bodyPr wrap="square" rtlCol="0" anchor="ctr"/>
          <a:lstStyle/>
          <a:p>
            <a:pPr marL="0" indent="0" algn="ctr">
              <a:buNone/>
            </a:pPr>
            <a:r>
              <a:rPr lang="en-US" sz="900" b="1" kern="0" spc="40" dirty="0">
                <a:solidFill>
                  <a:srgbClr val="071022"/>
                </a:solidFill>
                <a:latin typeface="Arial" pitchFamily="34" charset="0"/>
                <a:ea typeface="Arial" pitchFamily="34" charset="-122"/>
                <a:cs typeface="Arial" pitchFamily="34" charset="-120"/>
              </a:rPr>
              <a:t>DETERMINISTIC</a:t>
            </a:r>
            <a:endParaRPr lang="en-US" sz="900" dirty="0"/>
          </a:p>
        </p:txBody>
      </p:sp>
      <p:sp>
        <p:nvSpPr>
          <p:cNvPr id="49" name="Text 47"/>
          <p:cNvSpPr/>
          <p:nvPr/>
        </p:nvSpPr>
        <p:spPr>
          <a:xfrm>
            <a:off x="8302752" y="5330952"/>
            <a:ext cx="2871216" cy="822960"/>
          </a:xfrm>
          <a:prstGeom prst="rect">
            <a:avLst/>
          </a:prstGeom>
          <a:noFill/>
          <a:ln/>
        </p:spPr>
        <p:txBody>
          <a:bodyPr wrap="square" rtlCol="0" anchor="ctr"/>
          <a:lstStyle/>
          <a:p>
            <a:pPr marL="0" indent="0">
              <a:lnSpc>
                <a:spcPct val="120000"/>
              </a:lnSpc>
              <a:buNone/>
            </a:pPr>
            <a:r>
              <a:rPr lang="en-US" sz="1000" dirty="0">
                <a:solidFill>
                  <a:srgbClr val="9AA5B8"/>
                </a:solidFill>
                <a:latin typeface="Calibri" pitchFamily="34" charset="0"/>
                <a:ea typeface="Calibri" pitchFamily="34" charset="-122"/>
                <a:cs typeface="Calibri" pitchFamily="34" charset="-120"/>
              </a:rPr>
              <a:t>A shift in how ready the underlying technology is. Points toward a Later horizon, not an imminent deal.</a:t>
            </a:r>
            <a:endParaRPr lang="en-US" sz="1000" dirty="0"/>
          </a:p>
        </p:txBody>
      </p:sp>
      <p:sp>
        <p:nvSpPr>
          <p:cNvPr id="50" name="Text 48"/>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677089"/>
                </a:solidFill>
                <a:latin typeface="Calibri" pitchFamily="34" charset="0"/>
                <a:ea typeface="Calibri" pitchFamily="34" charset="-122"/>
                <a:cs typeface="Calibri" pitchFamily="34" charset="-120"/>
              </a:rPr>
              <a:t>Cobalt Data Society · Innovation Radar</a:t>
            </a:r>
            <a:endParaRPr lang="en-US" sz="900" dirty="0"/>
          </a:p>
        </p:txBody>
      </p:sp>
      <p:sp>
        <p:nvSpPr>
          <p:cNvPr id="51" name="Text 49"/>
          <p:cNvSpPr/>
          <p:nvPr/>
        </p:nvSpPr>
        <p:spPr>
          <a:xfrm>
            <a:off x="8534095" y="6473952"/>
            <a:ext cx="3200400" cy="274320"/>
          </a:xfrm>
          <a:prstGeom prst="rect">
            <a:avLst/>
          </a:prstGeom>
          <a:noFill/>
          <a:ln/>
        </p:spPr>
        <p:txBody>
          <a:bodyPr wrap="square" rtlCol="0" anchor="ctr"/>
          <a:lstStyle/>
          <a:p>
            <a:pPr marL="0" indent="0" algn="r">
              <a:buNone/>
            </a:pPr>
            <a:r>
              <a:rPr lang="en-US" sz="900" dirty="0">
                <a:solidFill>
                  <a:srgbClr val="677089"/>
                </a:solidFill>
                <a:latin typeface="Calibri" pitchFamily="34" charset="0"/>
                <a:ea typeface="Calibri" pitchFamily="34" charset="-122"/>
                <a:cs typeface="Calibri" pitchFamily="34" charset="-120"/>
              </a:rPr>
              <a:t>How it works</a:t>
            </a:r>
            <a:endParaRPr lang="en-US" sz="900" dirty="0"/>
          </a:p>
        </p:txBody>
      </p:sp>
      <p:sp>
        <p:nvSpPr>
          <p:cNvPr id="53" name="Text 32">
            <a:extLst>
              <a:ext uri="{FF2B5EF4-FFF2-40B4-BE49-F238E27FC236}">
                <a16:creationId xmlns:a16="http://schemas.microsoft.com/office/drawing/2014/main" id="{4B4670F1-2EC8-755A-2C62-FA9D58BE2FA1}"/>
              </a:ext>
            </a:extLst>
          </p:cNvPr>
          <p:cNvSpPr/>
          <p:nvPr/>
        </p:nvSpPr>
        <p:spPr>
          <a:xfrm>
            <a:off x="8751100" y="219191"/>
            <a:ext cx="3200400" cy="274320"/>
          </a:xfrm>
          <a:prstGeom prst="rect">
            <a:avLst/>
          </a:prstGeom>
          <a:noFill/>
          <a:ln/>
        </p:spPr>
        <p:txBody>
          <a:bodyPr wrap="square" rtlCol="0" anchor="ctr"/>
          <a:lstStyle/>
          <a:p>
            <a:pPr marL="0" indent="0" algn="r">
              <a:buNone/>
            </a:pPr>
            <a:r>
              <a:rPr lang="en-US" sz="900" dirty="0">
                <a:solidFill>
                  <a:srgbClr val="67708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2"/>
          <p:cNvSpPr/>
          <p:nvPr/>
        </p:nvSpPr>
        <p:spPr>
          <a:xfrm>
            <a:off x="822960" y="402336"/>
            <a:ext cx="237744" cy="237744"/>
          </a:xfrm>
          <a:prstGeom prst="ellipse">
            <a:avLst/>
          </a:prstGeom>
          <a:noFill/>
          <a:ln w="15875">
            <a:solidFill>
              <a:srgbClr val="22D3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3"/>
          <p:cNvSpPr/>
          <p:nvPr/>
        </p:nvSpPr>
        <p:spPr>
          <a:xfrm>
            <a:off x="882396" y="461772"/>
            <a:ext cx="118872" cy="118872"/>
          </a:xfrm>
          <a:prstGeom prst="ellipse">
            <a:avLst/>
          </a:prstGeom>
          <a:noFill/>
          <a:ln w="15875">
            <a:solidFill>
              <a:srgbClr val="2F5C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4"/>
          <p:cNvSpPr/>
          <p:nvPr/>
        </p:nvSpPr>
        <p:spPr>
          <a:xfrm>
            <a:off x="918972" y="498348"/>
            <a:ext cx="45720" cy="45720"/>
          </a:xfrm>
          <a:prstGeom prst="ellipse">
            <a:avLst/>
          </a:prstGeom>
          <a:solidFill>
            <a:srgbClr val="22D3EE"/>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5"/>
          <p:cNvSpPr/>
          <p:nvPr/>
        </p:nvSpPr>
        <p:spPr>
          <a:xfrm>
            <a:off x="1152144" y="356616"/>
            <a:ext cx="365760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60" normalizeH="0" baseline="0" noProof="0" dirty="0">
                <a:ln>
                  <a:noFill/>
                </a:ln>
                <a:solidFill>
                  <a:srgbClr val="9AA5B8"/>
                </a:solidFill>
                <a:effectLst/>
                <a:uLnTx/>
                <a:uFillTx/>
                <a:latin typeface="Arial" pitchFamily="34" charset="0"/>
                <a:ea typeface="Arial" pitchFamily="34" charset="-122"/>
                <a:cs typeface="Arial" pitchFamily="34" charset="-120"/>
              </a:rPr>
              <a:t>COBALT DATA SOCIETY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6"/>
          <p:cNvSpPr/>
          <p:nvPr/>
        </p:nvSpPr>
        <p:spPr>
          <a:xfrm>
            <a:off x="822960" y="841248"/>
            <a:ext cx="960120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22D3EE"/>
                </a:solidFill>
                <a:effectLst/>
                <a:uLnTx/>
                <a:uFillTx/>
                <a:latin typeface="Arial" pitchFamily="34" charset="0"/>
                <a:ea typeface="Arial" pitchFamily="34" charset="-122"/>
                <a:cs typeface="Arial" pitchFamily="34" charset="-120"/>
              </a:rPr>
              <a:t>HOW IT WORKS · 3 OF 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7"/>
          <p:cNvSpPr/>
          <p:nvPr/>
        </p:nvSpPr>
        <p:spPr>
          <a:xfrm>
            <a:off x="822960" y="1152144"/>
            <a:ext cx="105156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One score explained in full — three more kept independent</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8"/>
          <p:cNvSpPr/>
          <p:nvPr/>
        </p:nvSpPr>
        <p:spPr>
          <a:xfrm>
            <a:off x="822960" y="1980000"/>
            <a:ext cx="6500000" cy="30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dirty="0">
                <a:ln>
                  <a:noFill/>
                </a:ln>
                <a:solidFill>
                  <a:srgbClr val="22D3EE"/>
                </a:solidFill>
                <a:effectLst/>
                <a:uLnTx/>
                <a:uFillTx/>
                <a:latin typeface="Arial" pitchFamily="34" charset="0"/>
                <a:ea typeface="Arial" pitchFamily="34" charset="-122"/>
                <a:cs typeface="Arial" pitchFamily="34" charset="-120"/>
              </a:rPr>
              <a:t>ATTRACTIVENESS</a:t>
            </a:r>
            <a:r>
              <a:rPr kumimoji="0" lang="en-US" sz="110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   0–100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9"/>
          <p:cNvSpPr/>
          <p:nvPr/>
        </p:nvSpPr>
        <p:spPr>
          <a:xfrm>
            <a:off x="822960" y="2310000"/>
            <a:ext cx="6500000" cy="32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0" cap="none" spc="0" normalizeH="0" baseline="0" noProof="0" dirty="0">
                <a:ln>
                  <a:noFill/>
                </a:ln>
                <a:solidFill>
                  <a:srgbClr val="9AA5B8"/>
                </a:solidFill>
                <a:effectLst/>
                <a:uLnTx/>
                <a:uFillTx/>
                <a:latin typeface="Calibri" pitchFamily="34" charset="0"/>
                <a:ea typeface="Calibri" pitchFamily="34" charset="-122"/>
                <a:cs typeface="Calibri" pitchFamily="34" charset="-120"/>
              </a:rPr>
              <a:t>A missing component is excluded and the rest rescaled — never counted as zero.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Donut 10"/>
          <p:cNvSpPr/>
          <p:nvPr/>
        </p:nvSpPr>
        <p:spPr>
          <a:xfrm>
            <a:off x="0" y="0"/>
            <a:ext cx="12192000" cy="6858000"/>
          </a:xfrm>
          <a:custGeom>
            <a:avLst/>
            <a:gdLst/>
            <a:ahLst/>
            <a:cxnLst/>
            <a:rect l="0" t="0" r="0" b="0"/>
            <a:pathLst>
              <a:path w="12192000" h="6858000">
                <a:moveTo>
                  <a:pt x="1962960" y="3190000"/>
                </a:moveTo>
                <a:lnTo>
                  <a:pt x="2004941" y="3190816"/>
                </a:lnTo>
                <a:lnTo>
                  <a:pt x="2046858" y="3193263"/>
                </a:lnTo>
                <a:lnTo>
                  <a:pt x="2088649" y="3197338"/>
                </a:lnTo>
                <a:lnTo>
                  <a:pt x="2130250" y="3203035"/>
                </a:lnTo>
                <a:lnTo>
                  <a:pt x="2171597" y="3210344"/>
                </a:lnTo>
                <a:lnTo>
                  <a:pt x="2212630" y="3219255"/>
                </a:lnTo>
                <a:lnTo>
                  <a:pt x="2253285" y="3229754"/>
                </a:lnTo>
                <a:lnTo>
                  <a:pt x="2293501" y="3241825"/>
                </a:lnTo>
                <a:lnTo>
                  <a:pt x="2333218" y="3255451"/>
                </a:lnTo>
                <a:lnTo>
                  <a:pt x="2372375" y="3270610"/>
                </a:lnTo>
                <a:lnTo>
                  <a:pt x="2410913" y="3287280"/>
                </a:lnTo>
                <a:lnTo>
                  <a:pt x="2448774" y="3305435"/>
                </a:lnTo>
                <a:lnTo>
                  <a:pt x="2485901" y="3325049"/>
                </a:lnTo>
                <a:lnTo>
                  <a:pt x="2522237" y="3346090"/>
                </a:lnTo>
                <a:lnTo>
                  <a:pt x="2557728" y="3368528"/>
                </a:lnTo>
                <a:lnTo>
                  <a:pt x="2592320" y="3392329"/>
                </a:lnTo>
                <a:lnTo>
                  <a:pt x="2625960" y="3417456"/>
                </a:lnTo>
                <a:lnTo>
                  <a:pt x="2658599" y="3443872"/>
                </a:lnTo>
                <a:lnTo>
                  <a:pt x="2690186" y="3471537"/>
                </a:lnTo>
                <a:lnTo>
                  <a:pt x="2720673" y="3500409"/>
                </a:lnTo>
                <a:lnTo>
                  <a:pt x="2750016" y="3530444"/>
                </a:lnTo>
                <a:lnTo>
                  <a:pt x="2778168" y="3561597"/>
                </a:lnTo>
                <a:lnTo>
                  <a:pt x="2805089" y="3593820"/>
                </a:lnTo>
                <a:lnTo>
                  <a:pt x="2830736" y="3627066"/>
                </a:lnTo>
                <a:lnTo>
                  <a:pt x="2855072" y="3661283"/>
                </a:lnTo>
                <a:lnTo>
                  <a:pt x="2878059" y="3696421"/>
                </a:lnTo>
                <a:lnTo>
                  <a:pt x="2899664" y="3732426"/>
                </a:lnTo>
                <a:lnTo>
                  <a:pt x="2919852" y="3769243"/>
                </a:lnTo>
                <a:lnTo>
                  <a:pt x="2938594" y="3806817"/>
                </a:lnTo>
                <a:lnTo>
                  <a:pt x="2955861" y="3845091"/>
                </a:lnTo>
                <a:lnTo>
                  <a:pt x="2971627" y="3884008"/>
                </a:lnTo>
                <a:lnTo>
                  <a:pt x="2985869" y="3923508"/>
                </a:lnTo>
                <a:lnTo>
                  <a:pt x="2998564" y="3963531"/>
                </a:lnTo>
                <a:lnTo>
                  <a:pt x="3009694" y="4004018"/>
                </a:lnTo>
                <a:lnTo>
                  <a:pt x="3019242" y="4044907"/>
                </a:lnTo>
                <a:lnTo>
                  <a:pt x="3027194" y="4086136"/>
                </a:lnTo>
                <a:lnTo>
                  <a:pt x="3033536" y="4127644"/>
                </a:lnTo>
                <a:lnTo>
                  <a:pt x="3038261" y="4169366"/>
                </a:lnTo>
                <a:lnTo>
                  <a:pt x="3041360" y="4211240"/>
                </a:lnTo>
                <a:lnTo>
                  <a:pt x="3042829" y="4253204"/>
                </a:lnTo>
                <a:lnTo>
                  <a:pt x="3042666" y="4295192"/>
                </a:lnTo>
                <a:lnTo>
                  <a:pt x="3040870" y="4337143"/>
                </a:lnTo>
                <a:lnTo>
                  <a:pt x="3037446" y="4378992"/>
                </a:lnTo>
                <a:lnTo>
                  <a:pt x="3032397" y="4420676"/>
                </a:lnTo>
                <a:lnTo>
                  <a:pt x="3025732" y="4462133"/>
                </a:lnTo>
                <a:lnTo>
                  <a:pt x="3017460" y="4503299"/>
                </a:lnTo>
                <a:lnTo>
                  <a:pt x="3007594" y="4544112"/>
                </a:lnTo>
                <a:lnTo>
                  <a:pt x="2996150" y="4584511"/>
                </a:lnTo>
                <a:lnTo>
                  <a:pt x="2983143" y="4624435"/>
                </a:lnTo>
                <a:lnTo>
                  <a:pt x="2968595" y="4663823"/>
                </a:lnTo>
                <a:lnTo>
                  <a:pt x="2952527" y="4702616"/>
                </a:lnTo>
                <a:lnTo>
                  <a:pt x="2934962" y="4740755"/>
                </a:lnTo>
                <a:lnTo>
                  <a:pt x="2915929" y="4778182"/>
                </a:lnTo>
                <a:lnTo>
                  <a:pt x="2895455" y="4814841"/>
                </a:lnTo>
                <a:lnTo>
                  <a:pt x="2873571" y="4850677"/>
                </a:lnTo>
                <a:lnTo>
                  <a:pt x="2850312" y="4885634"/>
                </a:lnTo>
                <a:lnTo>
                  <a:pt x="2464149" y="4617719"/>
                </a:lnTo>
                <a:lnTo>
                  <a:pt x="2477287" y="4597974"/>
                </a:lnTo>
                <a:lnTo>
                  <a:pt x="2489647" y="4577734"/>
                </a:lnTo>
                <a:lnTo>
                  <a:pt x="2501211" y="4557028"/>
                </a:lnTo>
                <a:lnTo>
                  <a:pt x="2511961" y="4535889"/>
                </a:lnTo>
                <a:lnTo>
                  <a:pt x="2521882" y="4514348"/>
                </a:lnTo>
                <a:lnTo>
                  <a:pt x="2530957" y="4492437"/>
                </a:lnTo>
                <a:lnTo>
                  <a:pt x="2539175" y="4470190"/>
                </a:lnTo>
                <a:lnTo>
                  <a:pt x="2546521" y="4447640"/>
                </a:lnTo>
                <a:lnTo>
                  <a:pt x="2552985" y="4424822"/>
                </a:lnTo>
                <a:lnTo>
                  <a:pt x="2558557" y="4401770"/>
                </a:lnTo>
                <a:lnTo>
                  <a:pt x="2563229" y="4378519"/>
                </a:lnTo>
                <a:lnTo>
                  <a:pt x="2566994" y="4355104"/>
                </a:lnTo>
                <a:lnTo>
                  <a:pt x="2569845" y="4331560"/>
                </a:lnTo>
                <a:lnTo>
                  <a:pt x="2571780" y="4307923"/>
                </a:lnTo>
                <a:lnTo>
                  <a:pt x="2572794" y="4284229"/>
                </a:lnTo>
                <a:lnTo>
                  <a:pt x="2572886" y="4260513"/>
                </a:lnTo>
                <a:lnTo>
                  <a:pt x="2572056" y="4236811"/>
                </a:lnTo>
                <a:lnTo>
                  <a:pt x="2570306" y="4213160"/>
                </a:lnTo>
                <a:lnTo>
                  <a:pt x="2567637" y="4189595"/>
                </a:lnTo>
                <a:lnTo>
                  <a:pt x="2564055" y="4166151"/>
                </a:lnTo>
                <a:lnTo>
                  <a:pt x="2559564" y="4142864"/>
                </a:lnTo>
                <a:lnTo>
                  <a:pt x="2554171" y="4119769"/>
                </a:lnTo>
                <a:lnTo>
                  <a:pt x="2547884" y="4096902"/>
                </a:lnTo>
                <a:lnTo>
                  <a:pt x="2540714" y="4074296"/>
                </a:lnTo>
                <a:lnTo>
                  <a:pt x="2532670" y="4051986"/>
                </a:lnTo>
                <a:lnTo>
                  <a:pt x="2523765" y="4030005"/>
                </a:lnTo>
                <a:lnTo>
                  <a:pt x="2514012" y="4008387"/>
                </a:lnTo>
                <a:lnTo>
                  <a:pt x="2503426" y="3987165"/>
                </a:lnTo>
                <a:lnTo>
                  <a:pt x="2492024" y="3966370"/>
                </a:lnTo>
                <a:lnTo>
                  <a:pt x="2479821" y="3946034"/>
                </a:lnTo>
                <a:lnTo>
                  <a:pt x="2466838" y="3926188"/>
                </a:lnTo>
                <a:lnTo>
                  <a:pt x="2453093" y="3906861"/>
                </a:lnTo>
                <a:lnTo>
                  <a:pt x="2438607" y="3888083"/>
                </a:lnTo>
                <a:lnTo>
                  <a:pt x="2423401" y="3869883"/>
                </a:lnTo>
                <a:lnTo>
                  <a:pt x="2407500" y="3852287"/>
                </a:lnTo>
                <a:lnTo>
                  <a:pt x="2390927" y="3835323"/>
                </a:lnTo>
                <a:lnTo>
                  <a:pt x="2373708" y="3819016"/>
                </a:lnTo>
                <a:lnTo>
                  <a:pt x="2355867" y="3803391"/>
                </a:lnTo>
                <a:lnTo>
                  <a:pt x="2337432" y="3788470"/>
                </a:lnTo>
                <a:lnTo>
                  <a:pt x="2318432" y="3774278"/>
                </a:lnTo>
                <a:lnTo>
                  <a:pt x="2298894" y="3760835"/>
                </a:lnTo>
                <a:lnTo>
                  <a:pt x="2278848" y="3748162"/>
                </a:lnTo>
                <a:lnTo>
                  <a:pt x="2258325" y="3736277"/>
                </a:lnTo>
                <a:lnTo>
                  <a:pt x="2237355" y="3725199"/>
                </a:lnTo>
                <a:lnTo>
                  <a:pt x="2215970" y="3714945"/>
                </a:lnTo>
                <a:lnTo>
                  <a:pt x="2194203" y="3705530"/>
                </a:lnTo>
                <a:lnTo>
                  <a:pt x="2172087" y="3696967"/>
                </a:lnTo>
                <a:lnTo>
                  <a:pt x="2149654" y="3689272"/>
                </a:lnTo>
                <a:lnTo>
                  <a:pt x="2126940" y="3682453"/>
                </a:lnTo>
                <a:lnTo>
                  <a:pt x="2103977" y="3676523"/>
                </a:lnTo>
                <a:lnTo>
                  <a:pt x="2080801" y="3671490"/>
                </a:lnTo>
                <a:lnTo>
                  <a:pt x="2057447" y="3667362"/>
                </a:lnTo>
                <a:lnTo>
                  <a:pt x="2033951" y="3664145"/>
                </a:lnTo>
                <a:lnTo>
                  <a:pt x="2010347" y="3661843"/>
                </a:lnTo>
                <a:lnTo>
                  <a:pt x="1986671" y="3660461"/>
                </a:lnTo>
                <a:lnTo>
                  <a:pt x="1962960" y="3660000"/>
                </a:lnTo>
                <a:close/>
              </a:path>
            </a:pathLst>
          </a:custGeom>
          <a:solidFill>
            <a:srgbClr val="22D3EE"/>
          </a:solidFill>
          <a:ln w="19050">
            <a:solidFill>
              <a:srgbClr val="0A0E1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Donut 11"/>
          <p:cNvSpPr/>
          <p:nvPr/>
        </p:nvSpPr>
        <p:spPr>
          <a:xfrm>
            <a:off x="0" y="0"/>
            <a:ext cx="12192000" cy="6858000"/>
          </a:xfrm>
          <a:custGeom>
            <a:avLst/>
            <a:gdLst/>
            <a:ahLst/>
            <a:cxnLst/>
            <a:rect l="0" t="0" r="0" b="0"/>
            <a:pathLst>
              <a:path w="12192000" h="6858000">
                <a:moveTo>
                  <a:pt x="2850312" y="4885634"/>
                </a:moveTo>
                <a:lnTo>
                  <a:pt x="2833585" y="4909071"/>
                </a:lnTo>
                <a:lnTo>
                  <a:pt x="2816239" y="4932053"/>
                </a:lnTo>
                <a:lnTo>
                  <a:pt x="2798286" y="4954564"/>
                </a:lnTo>
                <a:lnTo>
                  <a:pt x="2779740" y="4976589"/>
                </a:lnTo>
                <a:lnTo>
                  <a:pt x="2760614" y="4998112"/>
                </a:lnTo>
                <a:lnTo>
                  <a:pt x="2740920" y="5019117"/>
                </a:lnTo>
                <a:lnTo>
                  <a:pt x="2720673" y="5039590"/>
                </a:lnTo>
                <a:lnTo>
                  <a:pt x="2699888" y="5059516"/>
                </a:lnTo>
                <a:lnTo>
                  <a:pt x="2678579" y="5078881"/>
                </a:lnTo>
                <a:lnTo>
                  <a:pt x="2656762" y="5097670"/>
                </a:lnTo>
                <a:lnTo>
                  <a:pt x="2634451" y="5115871"/>
                </a:lnTo>
                <a:lnTo>
                  <a:pt x="2611663" y="5133472"/>
                </a:lnTo>
                <a:lnTo>
                  <a:pt x="2588414" y="5150458"/>
                </a:lnTo>
                <a:lnTo>
                  <a:pt x="2564720" y="5166819"/>
                </a:lnTo>
                <a:lnTo>
                  <a:pt x="2540599" y="5182542"/>
                </a:lnTo>
                <a:lnTo>
                  <a:pt x="2516067" y="5197616"/>
                </a:lnTo>
                <a:lnTo>
                  <a:pt x="2491141" y="5212031"/>
                </a:lnTo>
                <a:lnTo>
                  <a:pt x="2465841" y="5225777"/>
                </a:lnTo>
                <a:lnTo>
                  <a:pt x="2440183" y="5238843"/>
                </a:lnTo>
                <a:lnTo>
                  <a:pt x="2414186" y="5251221"/>
                </a:lnTo>
                <a:lnTo>
                  <a:pt x="2387868" y="5262901"/>
                </a:lnTo>
                <a:lnTo>
                  <a:pt x="2361248" y="5273875"/>
                </a:lnTo>
                <a:lnTo>
                  <a:pt x="2334345" y="5284136"/>
                </a:lnTo>
                <a:lnTo>
                  <a:pt x="2307178" y="5293676"/>
                </a:lnTo>
                <a:lnTo>
                  <a:pt x="2279766" y="5302489"/>
                </a:lnTo>
                <a:lnTo>
                  <a:pt x="2252129" y="5310567"/>
                </a:lnTo>
                <a:lnTo>
                  <a:pt x="2224287" y="5317906"/>
                </a:lnTo>
                <a:lnTo>
                  <a:pt x="2196259" y="5324500"/>
                </a:lnTo>
                <a:lnTo>
                  <a:pt x="2168065" y="5330345"/>
                </a:lnTo>
                <a:lnTo>
                  <a:pt x="2139725" y="5335436"/>
                </a:lnTo>
                <a:lnTo>
                  <a:pt x="2111260" y="5339769"/>
                </a:lnTo>
                <a:lnTo>
                  <a:pt x="2082689" y="5343342"/>
                </a:lnTo>
                <a:lnTo>
                  <a:pt x="2054033" y="5346153"/>
                </a:lnTo>
                <a:lnTo>
                  <a:pt x="2025312" y="5348198"/>
                </a:lnTo>
                <a:lnTo>
                  <a:pt x="1996547" y="5349477"/>
                </a:lnTo>
                <a:lnTo>
                  <a:pt x="1967759" y="5349989"/>
                </a:lnTo>
                <a:lnTo>
                  <a:pt x="1938966" y="5349733"/>
                </a:lnTo>
                <a:lnTo>
                  <a:pt x="1910191" y="5348710"/>
                </a:lnTo>
                <a:lnTo>
                  <a:pt x="1881453" y="5346920"/>
                </a:lnTo>
                <a:lnTo>
                  <a:pt x="1852774" y="5344364"/>
                </a:lnTo>
                <a:lnTo>
                  <a:pt x="1824172" y="5341045"/>
                </a:lnTo>
                <a:lnTo>
                  <a:pt x="1795669" y="5336964"/>
                </a:lnTo>
                <a:lnTo>
                  <a:pt x="1767286" y="5332126"/>
                </a:lnTo>
                <a:lnTo>
                  <a:pt x="1739041" y="5326532"/>
                </a:lnTo>
                <a:lnTo>
                  <a:pt x="1710955" y="5320187"/>
                </a:lnTo>
                <a:lnTo>
                  <a:pt x="1683049" y="5313096"/>
                </a:lnTo>
                <a:lnTo>
                  <a:pt x="1655341" y="5305263"/>
                </a:lnTo>
                <a:lnTo>
                  <a:pt x="1627852" y="5296695"/>
                </a:lnTo>
                <a:lnTo>
                  <a:pt x="1600601" y="5287397"/>
                </a:lnTo>
                <a:lnTo>
                  <a:pt x="1573608" y="5277375"/>
                </a:lnTo>
                <a:lnTo>
                  <a:pt x="1546892" y="5266638"/>
                </a:lnTo>
                <a:lnTo>
                  <a:pt x="1520471" y="5255192"/>
                </a:lnTo>
                <a:lnTo>
                  <a:pt x="1494365" y="5243046"/>
                </a:lnTo>
                <a:lnTo>
                  <a:pt x="1468592" y="5230208"/>
                </a:lnTo>
                <a:lnTo>
                  <a:pt x="1443170" y="5216688"/>
                </a:lnTo>
                <a:lnTo>
                  <a:pt x="1418118" y="5202495"/>
                </a:lnTo>
                <a:lnTo>
                  <a:pt x="1655225" y="4796687"/>
                </a:lnTo>
                <a:lnTo>
                  <a:pt x="1669375" y="4804703"/>
                </a:lnTo>
                <a:lnTo>
                  <a:pt x="1683733" y="4812340"/>
                </a:lnTo>
                <a:lnTo>
                  <a:pt x="1698290" y="4819591"/>
                </a:lnTo>
                <a:lnTo>
                  <a:pt x="1713036" y="4826451"/>
                </a:lnTo>
                <a:lnTo>
                  <a:pt x="1727958" y="4832916"/>
                </a:lnTo>
                <a:lnTo>
                  <a:pt x="1743048" y="4838980"/>
                </a:lnTo>
                <a:lnTo>
                  <a:pt x="1758294" y="4844640"/>
                </a:lnTo>
                <a:lnTo>
                  <a:pt x="1773686" y="4849892"/>
                </a:lnTo>
                <a:lnTo>
                  <a:pt x="1789212" y="4854732"/>
                </a:lnTo>
                <a:lnTo>
                  <a:pt x="1804862" y="4859156"/>
                </a:lnTo>
                <a:lnTo>
                  <a:pt x="1820624" y="4863161"/>
                </a:lnTo>
                <a:lnTo>
                  <a:pt x="1836487" y="4866745"/>
                </a:lnTo>
                <a:lnTo>
                  <a:pt x="1852440" y="4869904"/>
                </a:lnTo>
                <a:lnTo>
                  <a:pt x="1868472" y="4872637"/>
                </a:lnTo>
                <a:lnTo>
                  <a:pt x="1884570" y="4874942"/>
                </a:lnTo>
                <a:lnTo>
                  <a:pt x="1900725" y="4876816"/>
                </a:lnTo>
                <a:lnTo>
                  <a:pt x="1916924" y="4878260"/>
                </a:lnTo>
                <a:lnTo>
                  <a:pt x="1933155" y="4879271"/>
                </a:lnTo>
                <a:lnTo>
                  <a:pt x="1949408" y="4879849"/>
                </a:lnTo>
                <a:lnTo>
                  <a:pt x="1965670" y="4879993"/>
                </a:lnTo>
                <a:lnTo>
                  <a:pt x="1981930" y="4879704"/>
                </a:lnTo>
                <a:lnTo>
                  <a:pt x="1998177" y="4878982"/>
                </a:lnTo>
                <a:lnTo>
                  <a:pt x="2014399" y="4877827"/>
                </a:lnTo>
                <a:lnTo>
                  <a:pt x="2030584" y="4876239"/>
                </a:lnTo>
                <a:lnTo>
                  <a:pt x="2046722" y="4874221"/>
                </a:lnTo>
                <a:lnTo>
                  <a:pt x="2062799" y="4871774"/>
                </a:lnTo>
                <a:lnTo>
                  <a:pt x="2078806" y="4868898"/>
                </a:lnTo>
                <a:lnTo>
                  <a:pt x="2094730" y="4865597"/>
                </a:lnTo>
                <a:lnTo>
                  <a:pt x="2110561" y="4861873"/>
                </a:lnTo>
                <a:lnTo>
                  <a:pt x="2126287" y="4857727"/>
                </a:lnTo>
                <a:lnTo>
                  <a:pt x="2141897" y="4853165"/>
                </a:lnTo>
                <a:lnTo>
                  <a:pt x="2157379" y="4848187"/>
                </a:lnTo>
                <a:lnTo>
                  <a:pt x="2172723" y="4842799"/>
                </a:lnTo>
                <a:lnTo>
                  <a:pt x="2187919" y="4837003"/>
                </a:lnTo>
                <a:lnTo>
                  <a:pt x="2202954" y="4830805"/>
                </a:lnTo>
                <a:lnTo>
                  <a:pt x="2217819" y="4824208"/>
                </a:lnTo>
                <a:lnTo>
                  <a:pt x="2232502" y="4817217"/>
                </a:lnTo>
                <a:lnTo>
                  <a:pt x="2246994" y="4809837"/>
                </a:lnTo>
                <a:lnTo>
                  <a:pt x="2261284" y="4802073"/>
                </a:lnTo>
                <a:lnTo>
                  <a:pt x="2275363" y="4793931"/>
                </a:lnTo>
                <a:lnTo>
                  <a:pt x="2289219" y="4785417"/>
                </a:lnTo>
                <a:lnTo>
                  <a:pt x="2302843" y="4776536"/>
                </a:lnTo>
                <a:lnTo>
                  <a:pt x="2316225" y="4767295"/>
                </a:lnTo>
                <a:lnTo>
                  <a:pt x="2329357" y="4757701"/>
                </a:lnTo>
                <a:lnTo>
                  <a:pt x="2342228" y="4747761"/>
                </a:lnTo>
                <a:lnTo>
                  <a:pt x="2354829" y="4737480"/>
                </a:lnTo>
                <a:lnTo>
                  <a:pt x="2367152" y="4726867"/>
                </a:lnTo>
                <a:lnTo>
                  <a:pt x="2379188" y="4715930"/>
                </a:lnTo>
                <a:lnTo>
                  <a:pt x="2390927" y="4704676"/>
                </a:lnTo>
                <a:lnTo>
                  <a:pt x="2402363" y="4693112"/>
                </a:lnTo>
                <a:lnTo>
                  <a:pt x="2413486" y="4681248"/>
                </a:lnTo>
                <a:lnTo>
                  <a:pt x="2424289" y="4669092"/>
                </a:lnTo>
                <a:lnTo>
                  <a:pt x="2434764" y="4656652"/>
                </a:lnTo>
                <a:lnTo>
                  <a:pt x="2444904" y="4643937"/>
                </a:lnTo>
                <a:lnTo>
                  <a:pt x="2454701" y="4630956"/>
                </a:lnTo>
                <a:lnTo>
                  <a:pt x="2464149" y="4617719"/>
                </a:lnTo>
                <a:close/>
              </a:path>
            </a:pathLst>
          </a:custGeom>
          <a:solidFill>
            <a:srgbClr val="2F5CFF"/>
          </a:solidFill>
          <a:ln w="19050">
            <a:solidFill>
              <a:srgbClr val="0A0E1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Donut 12"/>
          <p:cNvSpPr/>
          <p:nvPr/>
        </p:nvSpPr>
        <p:spPr>
          <a:xfrm>
            <a:off x="0" y="0"/>
            <a:ext cx="12192000" cy="6858000"/>
          </a:xfrm>
          <a:custGeom>
            <a:avLst/>
            <a:gdLst/>
            <a:ahLst/>
            <a:cxnLst/>
            <a:rect l="0" t="0" r="0" b="0"/>
            <a:pathLst>
              <a:path w="12192000" h="6858000">
                <a:moveTo>
                  <a:pt x="1418118" y="5202495"/>
                </a:moveTo>
                <a:lnTo>
                  <a:pt x="1393453" y="5187639"/>
                </a:lnTo>
                <a:lnTo>
                  <a:pt x="1369193" y="5172131"/>
                </a:lnTo>
                <a:lnTo>
                  <a:pt x="1345355" y="5155982"/>
                </a:lnTo>
                <a:lnTo>
                  <a:pt x="1321956" y="5139203"/>
                </a:lnTo>
                <a:lnTo>
                  <a:pt x="1299012" y="5121806"/>
                </a:lnTo>
                <a:lnTo>
                  <a:pt x="1276540" y="5103803"/>
                </a:lnTo>
                <a:lnTo>
                  <a:pt x="1254557" y="5085208"/>
                </a:lnTo>
                <a:lnTo>
                  <a:pt x="1233076" y="5066034"/>
                </a:lnTo>
                <a:lnTo>
                  <a:pt x="1212115" y="5046294"/>
                </a:lnTo>
                <a:lnTo>
                  <a:pt x="1191687" y="5026002"/>
                </a:lnTo>
                <a:lnTo>
                  <a:pt x="1171808" y="5005172"/>
                </a:lnTo>
                <a:lnTo>
                  <a:pt x="1152491" y="4983820"/>
                </a:lnTo>
                <a:lnTo>
                  <a:pt x="1133749" y="4961961"/>
                </a:lnTo>
                <a:lnTo>
                  <a:pt x="1115598" y="4939610"/>
                </a:lnTo>
                <a:lnTo>
                  <a:pt x="1098048" y="4916783"/>
                </a:lnTo>
                <a:lnTo>
                  <a:pt x="1081114" y="4893496"/>
                </a:lnTo>
                <a:lnTo>
                  <a:pt x="1064806" y="4869766"/>
                </a:lnTo>
                <a:lnTo>
                  <a:pt x="1049136" y="4845610"/>
                </a:lnTo>
                <a:lnTo>
                  <a:pt x="1034116" y="4821044"/>
                </a:lnTo>
                <a:lnTo>
                  <a:pt x="1019757" y="4796087"/>
                </a:lnTo>
                <a:lnTo>
                  <a:pt x="1006067" y="4770756"/>
                </a:lnTo>
                <a:lnTo>
                  <a:pt x="993058" y="4745069"/>
                </a:lnTo>
                <a:lnTo>
                  <a:pt x="980738" y="4719045"/>
                </a:lnTo>
                <a:lnTo>
                  <a:pt x="969117" y="4692701"/>
                </a:lnTo>
                <a:lnTo>
                  <a:pt x="958201" y="4666056"/>
                </a:lnTo>
                <a:lnTo>
                  <a:pt x="948000" y="4639131"/>
                </a:lnTo>
                <a:lnTo>
                  <a:pt x="938521" y="4611943"/>
                </a:lnTo>
                <a:lnTo>
                  <a:pt x="929769" y="4584511"/>
                </a:lnTo>
                <a:lnTo>
                  <a:pt x="921752" y="4556857"/>
                </a:lnTo>
                <a:lnTo>
                  <a:pt x="914475" y="4528998"/>
                </a:lnTo>
                <a:lnTo>
                  <a:pt x="907943" y="4500955"/>
                </a:lnTo>
                <a:lnTo>
                  <a:pt x="902161" y="4472748"/>
                </a:lnTo>
                <a:lnTo>
                  <a:pt x="897133" y="4444397"/>
                </a:lnTo>
                <a:lnTo>
                  <a:pt x="892863" y="4415922"/>
                </a:lnTo>
                <a:lnTo>
                  <a:pt x="889353" y="4387344"/>
                </a:lnTo>
                <a:lnTo>
                  <a:pt x="886607" y="4358682"/>
                </a:lnTo>
                <a:lnTo>
                  <a:pt x="884625" y="4329957"/>
                </a:lnTo>
                <a:lnTo>
                  <a:pt x="883410" y="4301189"/>
                </a:lnTo>
                <a:lnTo>
                  <a:pt x="882962" y="4272399"/>
                </a:lnTo>
                <a:lnTo>
                  <a:pt x="883282" y="4243607"/>
                </a:lnTo>
                <a:lnTo>
                  <a:pt x="884369" y="4214835"/>
                </a:lnTo>
                <a:lnTo>
                  <a:pt x="886223" y="4186101"/>
                </a:lnTo>
                <a:lnTo>
                  <a:pt x="888842" y="4157427"/>
                </a:lnTo>
                <a:lnTo>
                  <a:pt x="892225" y="4128833"/>
                </a:lnTo>
                <a:lnTo>
                  <a:pt x="896369" y="4100339"/>
                </a:lnTo>
                <a:lnTo>
                  <a:pt x="901271" y="4071966"/>
                </a:lnTo>
                <a:lnTo>
                  <a:pt x="906927" y="4043734"/>
                </a:lnTo>
                <a:lnTo>
                  <a:pt x="913334" y="4015663"/>
                </a:lnTo>
                <a:lnTo>
                  <a:pt x="920488" y="3987772"/>
                </a:lnTo>
                <a:lnTo>
                  <a:pt x="928382" y="3960082"/>
                </a:lnTo>
                <a:lnTo>
                  <a:pt x="937011" y="3932612"/>
                </a:lnTo>
                <a:lnTo>
                  <a:pt x="946370" y="3905382"/>
                </a:lnTo>
                <a:lnTo>
                  <a:pt x="956451" y="3878411"/>
                </a:lnTo>
                <a:lnTo>
                  <a:pt x="967248" y="3851719"/>
                </a:lnTo>
                <a:lnTo>
                  <a:pt x="978753" y="3825323"/>
                </a:lnTo>
                <a:lnTo>
                  <a:pt x="990957" y="3799244"/>
                </a:lnTo>
                <a:lnTo>
                  <a:pt x="1413958" y="4004110"/>
                </a:lnTo>
                <a:lnTo>
                  <a:pt x="1407065" y="4018840"/>
                </a:lnTo>
                <a:lnTo>
                  <a:pt x="1400567" y="4033748"/>
                </a:lnTo>
                <a:lnTo>
                  <a:pt x="1394469" y="4048825"/>
                </a:lnTo>
                <a:lnTo>
                  <a:pt x="1388775" y="4064058"/>
                </a:lnTo>
                <a:lnTo>
                  <a:pt x="1383489" y="4079438"/>
                </a:lnTo>
                <a:lnTo>
                  <a:pt x="1378615" y="4094953"/>
                </a:lnTo>
                <a:lnTo>
                  <a:pt x="1374156" y="4110593"/>
                </a:lnTo>
                <a:lnTo>
                  <a:pt x="1370116" y="4126346"/>
                </a:lnTo>
                <a:lnTo>
                  <a:pt x="1366497" y="4142201"/>
                </a:lnTo>
                <a:lnTo>
                  <a:pt x="1363302" y="4158147"/>
                </a:lnTo>
                <a:lnTo>
                  <a:pt x="1360533" y="4174173"/>
                </a:lnTo>
                <a:lnTo>
                  <a:pt x="1358193" y="4190267"/>
                </a:lnTo>
                <a:lnTo>
                  <a:pt x="1356282" y="4206417"/>
                </a:lnTo>
                <a:lnTo>
                  <a:pt x="1354803" y="4222612"/>
                </a:lnTo>
                <a:lnTo>
                  <a:pt x="1353756" y="4238842"/>
                </a:lnTo>
                <a:lnTo>
                  <a:pt x="1353142" y="4255093"/>
                </a:lnTo>
                <a:lnTo>
                  <a:pt x="1352961" y="4271355"/>
                </a:lnTo>
                <a:lnTo>
                  <a:pt x="1353214" y="4287616"/>
                </a:lnTo>
                <a:lnTo>
                  <a:pt x="1353900" y="4303864"/>
                </a:lnTo>
                <a:lnTo>
                  <a:pt x="1355019" y="4320089"/>
                </a:lnTo>
                <a:lnTo>
                  <a:pt x="1356571" y="4336277"/>
                </a:lnTo>
                <a:lnTo>
                  <a:pt x="1358553" y="4352419"/>
                </a:lnTo>
                <a:lnTo>
                  <a:pt x="1360965" y="4368502"/>
                </a:lnTo>
                <a:lnTo>
                  <a:pt x="1363805" y="4384515"/>
                </a:lnTo>
                <a:lnTo>
                  <a:pt x="1367071" y="4400447"/>
                </a:lnTo>
                <a:lnTo>
                  <a:pt x="1370760" y="4416286"/>
                </a:lnTo>
                <a:lnTo>
                  <a:pt x="1374870" y="4432021"/>
                </a:lnTo>
                <a:lnTo>
                  <a:pt x="1379398" y="4447640"/>
                </a:lnTo>
                <a:lnTo>
                  <a:pt x="1384341" y="4463134"/>
                </a:lnTo>
                <a:lnTo>
                  <a:pt x="1389696" y="4478490"/>
                </a:lnTo>
                <a:lnTo>
                  <a:pt x="1395457" y="4493698"/>
                </a:lnTo>
                <a:lnTo>
                  <a:pt x="1401622" y="4508747"/>
                </a:lnTo>
                <a:lnTo>
                  <a:pt x="1408186" y="4523627"/>
                </a:lnTo>
                <a:lnTo>
                  <a:pt x="1415145" y="4538326"/>
                </a:lnTo>
                <a:lnTo>
                  <a:pt x="1422493" y="4552834"/>
                </a:lnTo>
                <a:lnTo>
                  <a:pt x="1430225" y="4567142"/>
                </a:lnTo>
                <a:lnTo>
                  <a:pt x="1438335" y="4581238"/>
                </a:lnTo>
                <a:lnTo>
                  <a:pt x="1446819" y="4595113"/>
                </a:lnTo>
                <a:lnTo>
                  <a:pt x="1455669" y="4608756"/>
                </a:lnTo>
                <a:lnTo>
                  <a:pt x="1464880" y="4622160"/>
                </a:lnTo>
                <a:lnTo>
                  <a:pt x="1474445" y="4635312"/>
                </a:lnTo>
                <a:lnTo>
                  <a:pt x="1484357" y="4648205"/>
                </a:lnTo>
                <a:lnTo>
                  <a:pt x="1494609" y="4660830"/>
                </a:lnTo>
                <a:lnTo>
                  <a:pt x="1505195" y="4673176"/>
                </a:lnTo>
                <a:lnTo>
                  <a:pt x="1516105" y="4685236"/>
                </a:lnTo>
                <a:lnTo>
                  <a:pt x="1527334" y="4697001"/>
                </a:lnTo>
                <a:lnTo>
                  <a:pt x="1538871" y="4708462"/>
                </a:lnTo>
                <a:lnTo>
                  <a:pt x="1550711" y="4719611"/>
                </a:lnTo>
                <a:lnTo>
                  <a:pt x="1562843" y="4730441"/>
                </a:lnTo>
                <a:lnTo>
                  <a:pt x="1575260" y="4740944"/>
                </a:lnTo>
                <a:lnTo>
                  <a:pt x="1587952" y="4751112"/>
                </a:lnTo>
                <a:lnTo>
                  <a:pt x="1600911" y="4760938"/>
                </a:lnTo>
                <a:lnTo>
                  <a:pt x="1614127" y="4770415"/>
                </a:lnTo>
                <a:lnTo>
                  <a:pt x="1627591" y="4779537"/>
                </a:lnTo>
                <a:lnTo>
                  <a:pt x="1641294" y="4788296"/>
                </a:lnTo>
                <a:lnTo>
                  <a:pt x="1655225" y="4796687"/>
                </a:lnTo>
                <a:close/>
              </a:path>
            </a:pathLst>
          </a:custGeom>
          <a:solidFill>
            <a:srgbClr val="8AA9E8"/>
          </a:solidFill>
          <a:ln w="19050">
            <a:solidFill>
              <a:srgbClr val="0A0E1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Donut 13"/>
          <p:cNvSpPr/>
          <p:nvPr/>
        </p:nvSpPr>
        <p:spPr>
          <a:xfrm>
            <a:off x="0" y="0"/>
            <a:ext cx="12192000" cy="6858000"/>
          </a:xfrm>
          <a:custGeom>
            <a:avLst/>
            <a:gdLst/>
            <a:ahLst/>
            <a:cxnLst/>
            <a:rect l="0" t="0" r="0" b="0"/>
            <a:pathLst>
              <a:path w="12192000" h="6858000">
                <a:moveTo>
                  <a:pt x="990957" y="3799244"/>
                </a:moveTo>
                <a:lnTo>
                  <a:pt x="1000564" y="3779904"/>
                </a:lnTo>
                <a:lnTo>
                  <a:pt x="1010555" y="3760759"/>
                </a:lnTo>
                <a:lnTo>
                  <a:pt x="1020928" y="3741818"/>
                </a:lnTo>
                <a:lnTo>
                  <a:pt x="1031677" y="3723088"/>
                </a:lnTo>
                <a:lnTo>
                  <a:pt x="1042798" y="3704576"/>
                </a:lnTo>
                <a:lnTo>
                  <a:pt x="1054288" y="3686291"/>
                </a:lnTo>
                <a:lnTo>
                  <a:pt x="1066140" y="3668239"/>
                </a:lnTo>
                <a:lnTo>
                  <a:pt x="1078352" y="3650428"/>
                </a:lnTo>
                <a:lnTo>
                  <a:pt x="1090917" y="3632864"/>
                </a:lnTo>
                <a:lnTo>
                  <a:pt x="1103830" y="3615555"/>
                </a:lnTo>
                <a:lnTo>
                  <a:pt x="1117088" y="3598508"/>
                </a:lnTo>
                <a:lnTo>
                  <a:pt x="1130683" y="3581730"/>
                </a:lnTo>
                <a:lnTo>
                  <a:pt x="1144611" y="3565226"/>
                </a:lnTo>
                <a:lnTo>
                  <a:pt x="1158866" y="3549004"/>
                </a:lnTo>
                <a:lnTo>
                  <a:pt x="1173443" y="3533071"/>
                </a:lnTo>
                <a:lnTo>
                  <a:pt x="1188336" y="3517432"/>
                </a:lnTo>
                <a:lnTo>
                  <a:pt x="1203538" y="3502094"/>
                </a:lnTo>
                <a:lnTo>
                  <a:pt x="1219044" y="3487063"/>
                </a:lnTo>
                <a:lnTo>
                  <a:pt x="1234847" y="3472345"/>
                </a:lnTo>
                <a:lnTo>
                  <a:pt x="1250941" y="3457947"/>
                </a:lnTo>
                <a:lnTo>
                  <a:pt x="1267320" y="3443872"/>
                </a:lnTo>
                <a:lnTo>
                  <a:pt x="1283977" y="3430128"/>
                </a:lnTo>
                <a:lnTo>
                  <a:pt x="1300906" y="3416720"/>
                </a:lnTo>
                <a:lnTo>
                  <a:pt x="1318100" y="3403653"/>
                </a:lnTo>
                <a:lnTo>
                  <a:pt x="1335551" y="3390933"/>
                </a:lnTo>
                <a:lnTo>
                  <a:pt x="1353253" y="3378564"/>
                </a:lnTo>
                <a:lnTo>
                  <a:pt x="1371199" y="3366551"/>
                </a:lnTo>
                <a:lnTo>
                  <a:pt x="1389381" y="3354900"/>
                </a:lnTo>
                <a:lnTo>
                  <a:pt x="1407793" y="3343614"/>
                </a:lnTo>
                <a:lnTo>
                  <a:pt x="1426427" y="3332699"/>
                </a:lnTo>
                <a:lnTo>
                  <a:pt x="1445275" y="3322158"/>
                </a:lnTo>
                <a:lnTo>
                  <a:pt x="1464330" y="3311997"/>
                </a:lnTo>
                <a:lnTo>
                  <a:pt x="1483585" y="3302219"/>
                </a:lnTo>
                <a:lnTo>
                  <a:pt x="1503031" y="3292827"/>
                </a:lnTo>
                <a:lnTo>
                  <a:pt x="1522661" y="3283826"/>
                </a:lnTo>
                <a:lnTo>
                  <a:pt x="1542467" y="3275220"/>
                </a:lnTo>
                <a:lnTo>
                  <a:pt x="1562442" y="3267011"/>
                </a:lnTo>
                <a:lnTo>
                  <a:pt x="1582576" y="3259203"/>
                </a:lnTo>
                <a:lnTo>
                  <a:pt x="1602863" y="3251800"/>
                </a:lnTo>
                <a:lnTo>
                  <a:pt x="1623293" y="3244803"/>
                </a:lnTo>
                <a:lnTo>
                  <a:pt x="1643860" y="3238217"/>
                </a:lnTo>
                <a:lnTo>
                  <a:pt x="1664554" y="3232043"/>
                </a:lnTo>
                <a:lnTo>
                  <a:pt x="1685367" y="3226284"/>
                </a:lnTo>
                <a:lnTo>
                  <a:pt x="1706291" y="3220942"/>
                </a:lnTo>
                <a:lnTo>
                  <a:pt x="1727318" y="3216020"/>
                </a:lnTo>
                <a:lnTo>
                  <a:pt x="1748439" y="3211519"/>
                </a:lnTo>
                <a:lnTo>
                  <a:pt x="1769646" y="3207441"/>
                </a:lnTo>
                <a:lnTo>
                  <a:pt x="1790930" y="3203789"/>
                </a:lnTo>
                <a:lnTo>
                  <a:pt x="1812283" y="3200562"/>
                </a:lnTo>
                <a:lnTo>
                  <a:pt x="1833696" y="3197763"/>
                </a:lnTo>
                <a:lnTo>
                  <a:pt x="1855161" y="3195393"/>
                </a:lnTo>
                <a:lnTo>
                  <a:pt x="1876669" y="3193452"/>
                </a:lnTo>
                <a:lnTo>
                  <a:pt x="1898211" y="3191942"/>
                </a:lnTo>
                <a:lnTo>
                  <a:pt x="1919780" y="3190863"/>
                </a:lnTo>
                <a:lnTo>
                  <a:pt x="1941365" y="3190215"/>
                </a:lnTo>
                <a:lnTo>
                  <a:pt x="1962959" y="3190000"/>
                </a:lnTo>
                <a:lnTo>
                  <a:pt x="1962959" y="3660000"/>
                </a:lnTo>
                <a:lnTo>
                  <a:pt x="1950763" y="3660121"/>
                </a:lnTo>
                <a:lnTo>
                  <a:pt x="1938571" y="3660487"/>
                </a:lnTo>
                <a:lnTo>
                  <a:pt x="1926389" y="3661097"/>
                </a:lnTo>
                <a:lnTo>
                  <a:pt x="1914221" y="3661950"/>
                </a:lnTo>
                <a:lnTo>
                  <a:pt x="1902073" y="3663046"/>
                </a:lnTo>
                <a:lnTo>
                  <a:pt x="1889950" y="3664384"/>
                </a:lnTo>
                <a:lnTo>
                  <a:pt x="1877855" y="3665965"/>
                </a:lnTo>
                <a:lnTo>
                  <a:pt x="1865795" y="3667788"/>
                </a:lnTo>
                <a:lnTo>
                  <a:pt x="1853773" y="3669851"/>
                </a:lnTo>
                <a:lnTo>
                  <a:pt x="1841795" y="3672154"/>
                </a:lnTo>
                <a:lnTo>
                  <a:pt x="1829866" y="3674696"/>
                </a:lnTo>
                <a:lnTo>
                  <a:pt x="1817989" y="3677476"/>
                </a:lnTo>
                <a:lnTo>
                  <a:pt x="1806171" y="3680493"/>
                </a:lnTo>
                <a:lnTo>
                  <a:pt x="1794415" y="3683746"/>
                </a:lnTo>
                <a:lnTo>
                  <a:pt x="1782727" y="3687233"/>
                </a:lnTo>
                <a:lnTo>
                  <a:pt x="1771111" y="3690954"/>
                </a:lnTo>
                <a:lnTo>
                  <a:pt x="1759572" y="3694905"/>
                </a:lnTo>
                <a:lnTo>
                  <a:pt x="1748113" y="3699087"/>
                </a:lnTo>
                <a:lnTo>
                  <a:pt x="1736741" y="3703497"/>
                </a:lnTo>
                <a:lnTo>
                  <a:pt x="1725459" y="3708133"/>
                </a:lnTo>
                <a:lnTo>
                  <a:pt x="1714272" y="3712994"/>
                </a:lnTo>
                <a:lnTo>
                  <a:pt x="1703185" y="3718078"/>
                </a:lnTo>
                <a:lnTo>
                  <a:pt x="1692202" y="3723383"/>
                </a:lnTo>
                <a:lnTo>
                  <a:pt x="1681326" y="3728906"/>
                </a:lnTo>
                <a:lnTo>
                  <a:pt x="1670564" y="3734645"/>
                </a:lnTo>
                <a:lnTo>
                  <a:pt x="1659918" y="3740598"/>
                </a:lnTo>
                <a:lnTo>
                  <a:pt x="1649393" y="3746763"/>
                </a:lnTo>
                <a:lnTo>
                  <a:pt x="1638994" y="3753138"/>
                </a:lnTo>
                <a:lnTo>
                  <a:pt x="1628724" y="3759718"/>
                </a:lnTo>
                <a:lnTo>
                  <a:pt x="1618588" y="3766503"/>
                </a:lnTo>
                <a:lnTo>
                  <a:pt x="1608590" y="3773490"/>
                </a:lnTo>
                <a:lnTo>
                  <a:pt x="1598733" y="3780674"/>
                </a:lnTo>
                <a:lnTo>
                  <a:pt x="1589022" y="3788055"/>
                </a:lnTo>
                <a:lnTo>
                  <a:pt x="1579460" y="3795628"/>
                </a:lnTo>
                <a:lnTo>
                  <a:pt x="1570052" y="3803391"/>
                </a:lnTo>
                <a:lnTo>
                  <a:pt x="1560801" y="3811340"/>
                </a:lnTo>
                <a:lnTo>
                  <a:pt x="1551711" y="3819473"/>
                </a:lnTo>
                <a:lnTo>
                  <a:pt x="1542785" y="3827786"/>
                </a:lnTo>
                <a:lnTo>
                  <a:pt x="1534027" y="3836275"/>
                </a:lnTo>
                <a:lnTo>
                  <a:pt x="1525440" y="3844938"/>
                </a:lnTo>
                <a:lnTo>
                  <a:pt x="1517029" y="3853771"/>
                </a:lnTo>
                <a:lnTo>
                  <a:pt x="1508796" y="3862771"/>
                </a:lnTo>
                <a:lnTo>
                  <a:pt x="1500744" y="3871933"/>
                </a:lnTo>
                <a:lnTo>
                  <a:pt x="1492877" y="3881254"/>
                </a:lnTo>
                <a:lnTo>
                  <a:pt x="1485198" y="3890731"/>
                </a:lnTo>
                <a:lnTo>
                  <a:pt x="1477711" y="3900360"/>
                </a:lnTo>
                <a:lnTo>
                  <a:pt x="1470417" y="3910136"/>
                </a:lnTo>
                <a:lnTo>
                  <a:pt x="1463320" y="3920056"/>
                </a:lnTo>
                <a:lnTo>
                  <a:pt x="1456423" y="3930116"/>
                </a:lnTo>
                <a:lnTo>
                  <a:pt x="1449728" y="3940312"/>
                </a:lnTo>
                <a:lnTo>
                  <a:pt x="1443239" y="3950640"/>
                </a:lnTo>
                <a:lnTo>
                  <a:pt x="1436957" y="3961096"/>
                </a:lnTo>
                <a:lnTo>
                  <a:pt x="1430886" y="3971675"/>
                </a:lnTo>
                <a:lnTo>
                  <a:pt x="1425027" y="3982373"/>
                </a:lnTo>
                <a:lnTo>
                  <a:pt x="1419384" y="3993186"/>
                </a:lnTo>
                <a:lnTo>
                  <a:pt x="1413958" y="4004110"/>
                </a:lnTo>
                <a:close/>
              </a:path>
            </a:pathLst>
          </a:custGeom>
          <a:solidFill>
            <a:srgbClr val="5B6B9A"/>
          </a:solidFill>
          <a:ln w="19050">
            <a:solidFill>
              <a:srgbClr val="0A0E1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4"/>
          <p:cNvSpPr/>
          <p:nvPr/>
        </p:nvSpPr>
        <p:spPr>
          <a:xfrm>
            <a:off x="1262960" y="4140000"/>
            <a:ext cx="1400000" cy="2600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60" normalizeH="0" baseline="0" noProof="0" dirty="0">
                <a:ln>
                  <a:noFill/>
                </a:ln>
                <a:solidFill>
                  <a:srgbClr val="9AA5B8"/>
                </a:solidFill>
                <a:effectLst/>
                <a:uLnTx/>
                <a:uFillTx/>
                <a:latin typeface="Arial" pitchFamily="34" charset="0"/>
                <a:ea typeface="Arial" pitchFamily="34" charset="-122"/>
                <a:cs typeface="Arial" pitchFamily="34" charset="-120"/>
              </a:rPr>
              <a:t>ATTRACTIVENESS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5"/>
          <p:cNvSpPr/>
          <p:nvPr/>
        </p:nvSpPr>
        <p:spPr>
          <a:xfrm>
            <a:off x="1262960" y="4360000"/>
            <a:ext cx="1400000" cy="2600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0–100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6"/>
          <p:cNvSpPr/>
          <p:nvPr/>
        </p:nvSpPr>
        <p:spPr>
          <a:xfrm>
            <a:off x="3302960" y="2790000"/>
            <a:ext cx="130000" cy="130000"/>
          </a:xfrm>
          <a:prstGeom prst="roundRect">
            <a:avLst>
              <a:gd name="adj" fmla="val 25000"/>
            </a:avLst>
          </a:prstGeom>
          <a:solidFill>
            <a:srgbClr val="22D3EE"/>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7"/>
          <p:cNvSpPr/>
          <p:nvPr/>
        </p:nvSpPr>
        <p:spPr>
          <a:xfrm>
            <a:off x="3532960" y="2740000"/>
            <a:ext cx="3790000" cy="28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Market signal strength</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8"/>
          <p:cNvSpPr/>
          <p:nvPr/>
        </p:nvSpPr>
        <p:spPr>
          <a:xfrm>
            <a:off x="3532960" y="2980000"/>
            <a:ext cx="3790000" cy="24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22D3EE"/>
                </a:solidFill>
                <a:effectLst/>
                <a:uLnTx/>
                <a:uFillTx/>
                <a:latin typeface="Arial" pitchFamily="34" charset="0"/>
                <a:ea typeface="Arial" pitchFamily="34" charset="-122"/>
                <a:cs typeface="Arial" pitchFamily="34" charset="-120"/>
              </a:rPr>
              <a:t>35%</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9"/>
          <p:cNvSpPr/>
          <p:nvPr/>
        </p:nvSpPr>
        <p:spPr>
          <a:xfrm>
            <a:off x="3532960" y="3200000"/>
            <a:ext cx="3790000" cy="300000"/>
          </a:xfrm>
          <a:prstGeom prst="rect">
            <a:avLst/>
          </a:prstGeom>
          <a:noFill/>
          <a:ln/>
        </p:spPr>
        <p:txBody>
          <a:bodyPr wrap="square"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9AA5B8"/>
                </a:solidFill>
                <a:effectLst/>
                <a:uLnTx/>
                <a:uFillTx/>
                <a:latin typeface="Calibri" pitchFamily="34" charset="0"/>
                <a:ea typeface="Calibri" pitchFamily="34" charset="-122"/>
                <a:cs typeface="Calibri" pitchFamily="34" charset="-120"/>
              </a:rPr>
              <a:t>Recency-weighted evidence density — half-life ~270 days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20"/>
          <p:cNvSpPr/>
          <p:nvPr/>
        </p:nvSpPr>
        <p:spPr>
          <a:xfrm>
            <a:off x="3302960" y="3545000"/>
            <a:ext cx="130000" cy="130000"/>
          </a:xfrm>
          <a:prstGeom prst="roundRect">
            <a:avLst>
              <a:gd name="adj" fmla="val 25000"/>
            </a:avLst>
          </a:prstGeom>
          <a:solidFill>
            <a:srgbClr val="2F5CFF"/>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21"/>
          <p:cNvSpPr/>
          <p:nvPr/>
        </p:nvSpPr>
        <p:spPr>
          <a:xfrm>
            <a:off x="3532960" y="3495000"/>
            <a:ext cx="3790000" cy="28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Source credibility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2"/>
          <p:cNvSpPr/>
          <p:nvPr/>
        </p:nvSpPr>
        <p:spPr>
          <a:xfrm>
            <a:off x="3532960" y="3735000"/>
            <a:ext cx="3790000" cy="24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2F5CFF"/>
                </a:solidFill>
                <a:effectLst/>
                <a:uLnTx/>
                <a:uFillTx/>
                <a:latin typeface="Arial" pitchFamily="34" charset="0"/>
                <a:ea typeface="Arial" pitchFamily="34" charset="-122"/>
                <a:cs typeface="Arial" pitchFamily="34" charset="-120"/>
              </a:rPr>
              <a:t>24%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3"/>
          <p:cNvSpPr/>
          <p:nvPr/>
        </p:nvSpPr>
        <p:spPr>
          <a:xfrm>
            <a:off x="3532960" y="3955000"/>
            <a:ext cx="3790000" cy="300000"/>
          </a:xfrm>
          <a:prstGeom prst="rect">
            <a:avLst/>
          </a:prstGeom>
          <a:noFill/>
          <a:ln/>
        </p:spPr>
        <p:txBody>
          <a:bodyPr wrap="square"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9AA5B8"/>
                </a:solidFill>
                <a:effectLst/>
                <a:uLnTx/>
                <a:uFillTx/>
                <a:latin typeface="Calibri" pitchFamily="34" charset="0"/>
                <a:ea typeface="Calibri" pitchFamily="34" charset="-122"/>
                <a:cs typeface="Calibri" pitchFamily="34" charset="-120"/>
              </a:rPr>
              <a:t>Mean trust score of the space's linked sources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4"/>
          <p:cNvSpPr/>
          <p:nvPr/>
        </p:nvSpPr>
        <p:spPr>
          <a:xfrm>
            <a:off x="3302960" y="4300000"/>
            <a:ext cx="130000" cy="130000"/>
          </a:xfrm>
          <a:prstGeom prst="roundRect">
            <a:avLst>
              <a:gd name="adj" fmla="val 25000"/>
            </a:avLst>
          </a:prstGeom>
          <a:solidFill>
            <a:srgbClr val="8AA9E8"/>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5"/>
          <p:cNvSpPr/>
          <p:nvPr/>
        </p:nvSpPr>
        <p:spPr>
          <a:xfrm>
            <a:off x="3532960" y="4250000"/>
            <a:ext cx="3790000" cy="28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Evidence quality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6"/>
          <p:cNvSpPr/>
          <p:nvPr/>
        </p:nvSpPr>
        <p:spPr>
          <a:xfrm>
            <a:off x="3532960" y="4490000"/>
            <a:ext cx="3790000" cy="24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8AA9E8"/>
                </a:solidFill>
                <a:effectLst/>
                <a:uLnTx/>
                <a:uFillTx/>
                <a:latin typeface="Arial" pitchFamily="34" charset="0"/>
                <a:ea typeface="Arial" pitchFamily="34" charset="-122"/>
                <a:cs typeface="Arial" pitchFamily="34" charset="-120"/>
              </a:rPr>
              <a:t>24%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7"/>
          <p:cNvSpPr/>
          <p:nvPr/>
        </p:nvSpPr>
        <p:spPr>
          <a:xfrm>
            <a:off x="3532960" y="4710000"/>
            <a:ext cx="3790000" cy="300000"/>
          </a:xfrm>
          <a:prstGeom prst="rect">
            <a:avLst/>
          </a:prstGeom>
          <a:noFill/>
          <a:ln/>
        </p:spPr>
        <p:txBody>
          <a:bodyPr wrap="square"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9AA5B8"/>
                </a:solidFill>
                <a:effectLst/>
                <a:uLnTx/>
                <a:uFillTx/>
                <a:latin typeface="Calibri" pitchFamily="34" charset="0"/>
                <a:ea typeface="Calibri" pitchFamily="34" charset="-122"/>
                <a:cs typeface="Calibri" pitchFamily="34" charset="-120"/>
              </a:rPr>
              <a:t>Real classifier confidence, else a count / trust fallback</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8"/>
          <p:cNvSpPr/>
          <p:nvPr/>
        </p:nvSpPr>
        <p:spPr>
          <a:xfrm>
            <a:off x="3302960" y="5055000"/>
            <a:ext cx="130000" cy="130000"/>
          </a:xfrm>
          <a:prstGeom prst="roundRect">
            <a:avLst>
              <a:gd name="adj" fmla="val 25000"/>
            </a:avLst>
          </a:prstGeom>
          <a:solidFill>
            <a:srgbClr val="5B6B9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9"/>
          <p:cNvSpPr/>
          <p:nvPr/>
        </p:nvSpPr>
        <p:spPr>
          <a:xfrm>
            <a:off x="3532960" y="5005000"/>
            <a:ext cx="3790000" cy="28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Novelty &amp; momentum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30"/>
          <p:cNvSpPr/>
          <p:nvPr/>
        </p:nvSpPr>
        <p:spPr>
          <a:xfrm>
            <a:off x="3532960" y="5245000"/>
            <a:ext cx="3790000" cy="24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5B6B9A"/>
                </a:solidFill>
                <a:effectLst/>
                <a:uLnTx/>
                <a:uFillTx/>
                <a:latin typeface="Arial" pitchFamily="34" charset="0"/>
                <a:ea typeface="Arial" pitchFamily="34" charset="-122"/>
                <a:cs typeface="Arial" pitchFamily="34" charset="-120"/>
              </a:rPr>
              <a:t>18%</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31"/>
          <p:cNvSpPr/>
          <p:nvPr/>
        </p:nvSpPr>
        <p:spPr>
          <a:xfrm>
            <a:off x="3532960" y="5465000"/>
            <a:ext cx="3790000" cy="300000"/>
          </a:xfrm>
          <a:prstGeom prst="rect">
            <a:avLst/>
          </a:prstGeom>
          <a:noFill/>
          <a:ln/>
        </p:spPr>
        <p:txBody>
          <a:bodyPr wrap="square"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9AA5B8"/>
                </a:solidFill>
                <a:effectLst/>
                <a:uLnTx/>
                <a:uFillTx/>
                <a:latin typeface="Calibri" pitchFamily="34" charset="0"/>
                <a:ea typeface="Calibri" pitchFamily="34" charset="-122"/>
                <a:cs typeface="Calibri" pitchFamily="34" charset="-120"/>
              </a:rPr>
              <a:t>Period-over-period growth in dated evidence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2"/>
          <p:cNvSpPr/>
          <p:nvPr/>
        </p:nvSpPr>
        <p:spPr>
          <a:xfrm>
            <a:off x="7688720" y="1980000"/>
            <a:ext cx="3695560" cy="1166000"/>
          </a:xfrm>
          <a:prstGeom prst="roundRect">
            <a:avLst>
              <a:gd name="adj" fmla="val 3200"/>
            </a:avLst>
          </a:prstGeom>
          <a:solidFill>
            <a:srgbClr val="121A2C"/>
          </a:solidFill>
          <a:ln w="9525">
            <a:solidFill>
              <a:srgbClr val="1B27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3"/>
          <p:cNvSpPr/>
          <p:nvPr/>
        </p:nvSpPr>
        <p:spPr>
          <a:xfrm>
            <a:off x="7918720" y="2150000"/>
            <a:ext cx="3235560" cy="32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Orange Fit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4"/>
          <p:cNvSpPr/>
          <p:nvPr/>
        </p:nvSpPr>
        <p:spPr>
          <a:xfrm>
            <a:off x="7918720" y="2480000"/>
            <a:ext cx="3235560" cy="26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 normalizeH="0" baseline="0" noProof="0" dirty="0">
                <a:ln>
                  <a:noFill/>
                </a:ln>
                <a:solidFill>
                  <a:srgbClr val="22D3EE"/>
                </a:solidFill>
                <a:effectLst/>
                <a:uLnTx/>
                <a:uFillTx/>
                <a:latin typeface="Arial" pitchFamily="34" charset="0"/>
                <a:ea typeface="Arial" pitchFamily="34" charset="-122"/>
                <a:cs typeface="Arial" pitchFamily="34" charset="-120"/>
              </a:rPr>
              <a:t>0–100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5"/>
          <p:cNvSpPr/>
          <p:nvPr/>
        </p:nvSpPr>
        <p:spPr>
          <a:xfrm>
            <a:off x="7918720" y="2710300"/>
            <a:ext cx="3235560" cy="366000"/>
          </a:xfrm>
          <a:prstGeom prst="rect">
            <a:avLst/>
          </a:prstGeom>
          <a:noFill/>
          <a:ln/>
        </p:spPr>
        <p:txBody>
          <a:bodyPr wrap="square" rtlCol="0" anchor="t"/>
          <a:lstStyle/>
          <a:p>
            <a:pPr marL="0" marR="0" lvl="0" indent="0" algn="l" defTabSz="914400" rtl="0" eaLnBrk="1" fontAlgn="auto" latinLnBrk="0" hangingPunct="1">
              <a:lnSpc>
                <a:spcPct val="116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9AA5B8"/>
                </a:solidFill>
                <a:effectLst/>
                <a:uLnTx/>
                <a:uFillTx/>
                <a:latin typeface="Calibri" pitchFamily="34" charset="0"/>
                <a:ea typeface="Calibri" pitchFamily="34" charset="-122"/>
                <a:cs typeface="Calibri" pitchFamily="34" charset="-120"/>
              </a:rPr>
              <a:t>Explicit priority match, or a domain-coverage fallback. Never blended into Attractiveness.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6"/>
          <p:cNvSpPr/>
          <p:nvPr/>
        </p:nvSpPr>
        <p:spPr>
          <a:xfrm>
            <a:off x="7688720" y="3296000"/>
            <a:ext cx="3695560" cy="1166000"/>
          </a:xfrm>
          <a:prstGeom prst="roundRect">
            <a:avLst>
              <a:gd name="adj" fmla="val 3200"/>
            </a:avLst>
          </a:prstGeom>
          <a:solidFill>
            <a:srgbClr val="121A2C"/>
          </a:solidFill>
          <a:ln w="9525">
            <a:solidFill>
              <a:srgbClr val="1B27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7"/>
          <p:cNvSpPr/>
          <p:nvPr/>
        </p:nvSpPr>
        <p:spPr>
          <a:xfrm>
            <a:off x="7918720" y="3466000"/>
            <a:ext cx="3235560" cy="32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Horizon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8"/>
          <p:cNvSpPr/>
          <p:nvPr/>
        </p:nvSpPr>
        <p:spPr>
          <a:xfrm>
            <a:off x="7918720" y="3771150"/>
            <a:ext cx="3235560" cy="26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 normalizeH="0" baseline="0" noProof="0" dirty="0">
                <a:ln>
                  <a:noFill/>
                </a:ln>
                <a:solidFill>
                  <a:srgbClr val="22D3EE"/>
                </a:solidFill>
                <a:effectLst/>
                <a:uLnTx/>
                <a:uFillTx/>
                <a:latin typeface="Arial" pitchFamily="34" charset="0"/>
                <a:ea typeface="Arial" pitchFamily="34" charset="-122"/>
                <a:cs typeface="Arial" pitchFamily="34" charset="-120"/>
              </a:rPr>
              <a:t>Now · Next · Later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9"/>
          <p:cNvSpPr/>
          <p:nvPr/>
        </p:nvSpPr>
        <p:spPr>
          <a:xfrm>
            <a:off x="7918720" y="4006420"/>
            <a:ext cx="3235560" cy="366000"/>
          </a:xfrm>
          <a:prstGeom prst="rect">
            <a:avLst/>
          </a:prstGeom>
          <a:noFill/>
          <a:ln/>
        </p:spPr>
        <p:txBody>
          <a:bodyPr wrap="square" rtlCol="0" anchor="t"/>
          <a:lstStyle/>
          <a:p>
            <a:pPr marL="0" marR="0" lvl="0" indent="0" algn="l" defTabSz="914400" rtl="0" eaLnBrk="1" fontAlgn="auto" latinLnBrk="0" hangingPunct="1">
              <a:lnSpc>
                <a:spcPct val="116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9AA5B8"/>
                </a:solidFill>
                <a:effectLst/>
                <a:uLnTx/>
                <a:uFillTx/>
                <a:latin typeface="Calibri" pitchFamily="34" charset="0"/>
                <a:ea typeface="Calibri" pitchFamily="34" charset="-122"/>
                <a:cs typeface="Calibri" pitchFamily="34" charset="-120"/>
              </a:rPr>
              <a:t>Deadline-driven — nearest tender-close date, converging signals, source diversity.</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40"/>
          <p:cNvSpPr/>
          <p:nvPr/>
        </p:nvSpPr>
        <p:spPr>
          <a:xfrm>
            <a:off x="7688720" y="4612000"/>
            <a:ext cx="3695560" cy="1166000"/>
          </a:xfrm>
          <a:prstGeom prst="roundRect">
            <a:avLst>
              <a:gd name="adj" fmla="val 3200"/>
            </a:avLst>
          </a:prstGeom>
          <a:solidFill>
            <a:srgbClr val="121A2C"/>
          </a:solidFill>
          <a:ln w="9525">
            <a:solidFill>
              <a:srgbClr val="1B27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41"/>
          <p:cNvSpPr/>
          <p:nvPr/>
        </p:nvSpPr>
        <p:spPr>
          <a:xfrm>
            <a:off x="7918720" y="4782000"/>
            <a:ext cx="3235560" cy="32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Radar / Watchlist gate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2"/>
          <p:cNvSpPr/>
          <p:nvPr/>
        </p:nvSpPr>
        <p:spPr>
          <a:xfrm>
            <a:off x="7918720" y="5112000"/>
            <a:ext cx="3235560" cy="26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 normalizeH="0" baseline="0" noProof="0" dirty="0">
                <a:ln>
                  <a:noFill/>
                </a:ln>
                <a:solidFill>
                  <a:srgbClr val="22D3EE"/>
                </a:solidFill>
                <a:effectLst/>
                <a:uLnTx/>
                <a:uFillTx/>
                <a:latin typeface="Arial" pitchFamily="34" charset="0"/>
                <a:ea typeface="Arial" pitchFamily="34" charset="-122"/>
                <a:cs typeface="Arial" pitchFamily="34" charset="-120"/>
              </a:rPr>
              <a:t>Pass – fail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3"/>
          <p:cNvSpPr/>
          <p:nvPr/>
        </p:nvSpPr>
        <p:spPr>
          <a:xfrm>
            <a:off x="7918720" y="5392000"/>
            <a:ext cx="3235560" cy="366000"/>
          </a:xfrm>
          <a:prstGeom prst="rect">
            <a:avLst/>
          </a:prstGeom>
          <a:noFill/>
          <a:ln/>
        </p:spPr>
        <p:txBody>
          <a:bodyPr wrap="square" rtlCol="0" anchor="t"/>
          <a:lstStyle/>
          <a:p>
            <a:pPr marL="0" marR="0" lvl="0" indent="0" algn="l" defTabSz="914400" rtl="0" eaLnBrk="1" fontAlgn="auto" latinLnBrk="0" hangingPunct="1">
              <a:lnSpc>
                <a:spcPct val="116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9AA5B8"/>
                </a:solidFill>
                <a:effectLst/>
                <a:uLnTx/>
                <a:uFillTx/>
                <a:latin typeface="Calibri" pitchFamily="34" charset="0"/>
                <a:ea typeface="Calibri" pitchFamily="34" charset="-122"/>
                <a:cs typeface="Calibri" pitchFamily="34" charset="-120"/>
              </a:rPr>
              <a:t>≥2 sources, ≥2 events, ≥45 confidence. A badge, not a filter.</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4"/>
          <p:cNvSpPr/>
          <p:nvPr/>
        </p:nvSpPr>
        <p:spPr>
          <a:xfrm>
            <a:off x="457200" y="6473952"/>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77089"/>
                </a:solidFill>
                <a:effectLst/>
                <a:uLnTx/>
                <a:uFillTx/>
                <a:latin typeface="Calibri" pitchFamily="34" charset="0"/>
                <a:ea typeface="Calibri" pitchFamily="34" charset="-122"/>
                <a:cs typeface="Calibri" pitchFamily="34" charset="-120"/>
              </a:rPr>
              <a:t>Cobalt Data Society · Innovation Radar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5"/>
          <p:cNvSpPr/>
          <p:nvPr/>
        </p:nvSpPr>
        <p:spPr>
          <a:xfrm>
            <a:off x="8534095" y="6473952"/>
            <a:ext cx="3200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77089"/>
                </a:solidFill>
                <a:effectLst/>
                <a:uLnTx/>
                <a:uFillTx/>
                <a:latin typeface="Calibri" pitchFamily="34" charset="0"/>
                <a:ea typeface="Calibri" pitchFamily="34" charset="-122"/>
                <a:cs typeface="Calibri" pitchFamily="34" charset="-120"/>
              </a:rPr>
              <a:t>How it works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32">
            <a:extLst>
              <a:ext uri="{FF2B5EF4-FFF2-40B4-BE49-F238E27FC236}">
                <a16:creationId xmlns:a16="http://schemas.microsoft.com/office/drawing/2014/main" id="{076FF764-C6DC-89EE-C6A0-8C1FFD6971B8}"/>
              </a:ext>
            </a:extLst>
          </p:cNvPr>
          <p:cNvSpPr/>
          <p:nvPr/>
        </p:nvSpPr>
        <p:spPr>
          <a:xfrm>
            <a:off x="8751100" y="219191"/>
            <a:ext cx="3200400" cy="274320"/>
          </a:xfrm>
          <a:prstGeom prst="rect">
            <a:avLst/>
          </a:prstGeom>
          <a:noFill/>
          <a:ln/>
        </p:spPr>
        <p:txBody>
          <a:bodyPr wrap="square" rtlCol="0" anchor="ctr"/>
          <a:lstStyle/>
          <a:p>
            <a:pPr marL="0" indent="0" algn="r">
              <a:buNone/>
            </a:pPr>
            <a:r>
              <a:rPr lang="en-US" sz="900" dirty="0">
                <a:solidFill>
                  <a:srgbClr val="67708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2"/>
          <p:cNvSpPr/>
          <p:nvPr/>
        </p:nvSpPr>
        <p:spPr>
          <a:xfrm>
            <a:off x="822960" y="402336"/>
            <a:ext cx="237744" cy="237744"/>
          </a:xfrm>
          <a:prstGeom prst="ellipse">
            <a:avLst/>
          </a:prstGeom>
          <a:noFill/>
          <a:ln w="15875">
            <a:solidFill>
              <a:srgbClr val="22D3EE"/>
            </a:solidFill>
            <a:prstDash val="solid"/>
          </a:ln>
        </p:spPr>
        <p:txBody>
          <a:bodyPr/>
          <a:lstStyle/>
          <a:p>
            <a:endParaRPr lang="fr-BE"/>
          </a:p>
        </p:txBody>
      </p:sp>
      <p:sp>
        <p:nvSpPr>
          <p:cNvPr id="3" name="Shape 3"/>
          <p:cNvSpPr/>
          <p:nvPr/>
        </p:nvSpPr>
        <p:spPr>
          <a:xfrm>
            <a:off x="882396" y="461772"/>
            <a:ext cx="118872" cy="118872"/>
          </a:xfrm>
          <a:prstGeom prst="ellipse">
            <a:avLst/>
          </a:prstGeom>
          <a:noFill/>
          <a:ln w="15875">
            <a:solidFill>
              <a:srgbClr val="2F5CFF"/>
            </a:solidFill>
            <a:prstDash val="solid"/>
          </a:ln>
        </p:spPr>
        <p:txBody>
          <a:bodyPr/>
          <a:lstStyle/>
          <a:p>
            <a:endParaRPr lang="fr-BE"/>
          </a:p>
        </p:txBody>
      </p:sp>
      <p:sp>
        <p:nvSpPr>
          <p:cNvPr id="4" name="Shape 4"/>
          <p:cNvSpPr/>
          <p:nvPr/>
        </p:nvSpPr>
        <p:spPr>
          <a:xfrm>
            <a:off x="918972" y="498348"/>
            <a:ext cx="45720" cy="45720"/>
          </a:xfrm>
          <a:prstGeom prst="ellipse">
            <a:avLst/>
          </a:prstGeom>
          <a:solidFill>
            <a:srgbClr val="22D3EE"/>
          </a:solidFill>
          <a:ln>
            <a:noFill/>
          </a:ln>
        </p:spPr>
        <p:txBody>
          <a:bodyPr/>
          <a:lstStyle/>
          <a:p>
            <a:endParaRPr lang="fr-BE"/>
          </a:p>
        </p:txBody>
      </p:sp>
      <p:sp>
        <p:nvSpPr>
          <p:cNvPr id="5" name="Text 5"/>
          <p:cNvSpPr/>
          <p:nvPr/>
        </p:nvSpPr>
        <p:spPr>
          <a:xfrm>
            <a:off x="1152144" y="356616"/>
            <a:ext cx="365760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60" normalizeH="0" baseline="0" noProof="0" dirty="0">
                <a:ln>
                  <a:noFill/>
                </a:ln>
                <a:solidFill>
                  <a:srgbClr val="9AA5B8"/>
                </a:solidFill>
                <a:effectLst/>
                <a:uLnTx/>
                <a:uFillTx/>
                <a:latin typeface="Arial" pitchFamily="34" charset="0"/>
                <a:ea typeface="Arial" pitchFamily="34" charset="-122"/>
                <a:cs typeface="Arial" pitchFamily="34" charset="-120"/>
              </a:rPr>
              <a:t>COBALT DATA SOCIETY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6"/>
          <p:cNvSpPr/>
          <p:nvPr/>
        </p:nvSpPr>
        <p:spPr>
          <a:xfrm>
            <a:off x="822960" y="841248"/>
            <a:ext cx="960120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22D3EE"/>
                </a:solidFill>
                <a:effectLst/>
                <a:uLnTx/>
                <a:uFillTx/>
                <a:latin typeface="Arial" pitchFamily="34" charset="0"/>
                <a:ea typeface="Arial" pitchFamily="34" charset="-122"/>
                <a:cs typeface="Arial" pitchFamily="34" charset="-120"/>
              </a:rPr>
              <a:t>UNIQUENESS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7"/>
          <p:cNvSpPr/>
          <p:nvPr/>
        </p:nvSpPr>
        <p:spPr>
          <a:xfrm>
            <a:off x="822960" y="1152144"/>
            <a:ext cx="105156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Three simple layers make it personal</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8"/>
          <p:cNvSpPr/>
          <p:nvPr/>
        </p:nvSpPr>
        <p:spPr>
          <a:xfrm>
            <a:off x="822960" y="1828800"/>
            <a:ext cx="10561320" cy="43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0" cap="none" spc="0" normalizeH="0" baseline="0" noProof="0" dirty="0">
                <a:ln>
                  <a:noFill/>
                </a:ln>
                <a:solidFill>
                  <a:srgbClr val="9AA5B8"/>
                </a:solidFill>
                <a:effectLst/>
                <a:uLnTx/>
                <a:uFillTx/>
                <a:latin typeface="Calibri" pitchFamily="34" charset="0"/>
                <a:ea typeface="Calibri" pitchFamily="34" charset="-122"/>
                <a:cs typeface="Calibri" pitchFamily="34" charset="-120"/>
              </a:rPr>
              <a:t>Company Workspace, Web Search, and Orange Priorities combine into one tuned, professional experience.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9"/>
          <p:cNvSpPr/>
          <p:nvPr/>
        </p:nvSpPr>
        <p:spPr>
          <a:xfrm>
            <a:off x="822960" y="2400000"/>
            <a:ext cx="6500000" cy="28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0" cap="none" spc="80" normalizeH="0" baseline="0" noProof="0" dirty="0">
                <a:ln>
                  <a:noFill/>
                </a:ln>
                <a:solidFill>
                  <a:srgbClr val="22D3EE"/>
                </a:solidFill>
                <a:effectLst/>
                <a:uLnTx/>
                <a:uFillTx/>
                <a:latin typeface="Arial" pitchFamily="34" charset="0"/>
                <a:ea typeface="Arial" pitchFamily="34" charset="-122"/>
                <a:cs typeface="Arial" pitchFamily="34" charset="-120"/>
              </a:rPr>
              <a:t>COMPANY WORKSPACE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10"/>
          <p:cNvSpPr/>
          <p:nvPr/>
        </p:nvSpPr>
        <p:spPr>
          <a:xfrm>
            <a:off x="822960" y="2720000"/>
            <a:ext cx="6500000" cy="32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0" cap="none" spc="0" normalizeH="0" baseline="0" noProof="0" dirty="0">
                <a:ln>
                  <a:noFill/>
                </a:ln>
                <a:solidFill>
                  <a:srgbClr val="9AA5B8"/>
                </a:solidFill>
                <a:effectLst/>
                <a:uLnTx/>
                <a:uFillTx/>
                <a:latin typeface="Calibri" pitchFamily="34" charset="0"/>
                <a:ea typeface="Calibri" pitchFamily="34" charset="-122"/>
                <a:cs typeface="Calibri" pitchFamily="34" charset="-120"/>
              </a:rPr>
              <a:t>Upload your own documents; ask the AI to work them exactly the way this deal needs.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dot"/>
          <p:cNvSpPr/>
          <p:nvPr/>
        </p:nvSpPr>
        <p:spPr>
          <a:xfrm>
            <a:off x="822960" y="3239384"/>
            <a:ext cx="60000" cy="60000"/>
          </a:xfrm>
          <a:prstGeom prst="ellipse">
            <a:avLst/>
          </a:prstGeom>
          <a:solidFill>
            <a:srgbClr val="22D3EE"/>
          </a:solidFill>
          <a:ln>
            <a:noFill/>
          </a:ln>
        </p:spPr>
        <p:txBody>
          <a:bodyPr/>
          <a:lstStyle/>
          <a:p>
            <a:endParaRPr lang="fr-BE"/>
          </a:p>
        </p:txBody>
      </p:sp>
      <p:sp>
        <p:nvSpPr>
          <p:cNvPr id="12" name="Text 12"/>
          <p:cNvSpPr/>
          <p:nvPr/>
        </p:nvSpPr>
        <p:spPr>
          <a:xfrm>
            <a:off x="972960" y="3120000"/>
            <a:ext cx="6350000" cy="26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Targeted extraction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3"/>
          <p:cNvSpPr/>
          <p:nvPr/>
        </p:nvSpPr>
        <p:spPr>
          <a:xfrm>
            <a:off x="972960" y="3410000"/>
            <a:ext cx="6350000" cy="500000"/>
          </a:xfrm>
          <a:prstGeom prst="rect">
            <a:avLst/>
          </a:prstGeom>
          <a:noFill/>
          <a:ln/>
        </p:spPr>
        <p:txBody>
          <a:bodyPr wrap="square"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9AA5B8"/>
                </a:solidFill>
                <a:effectLst/>
                <a:uLnTx/>
                <a:uFillTx/>
                <a:latin typeface="Calibri" pitchFamily="34" charset="0"/>
                <a:ea typeface="Calibri" pitchFamily="34" charset="-122"/>
                <a:cs typeface="Calibri" pitchFamily="34" charset="-120"/>
              </a:rPr>
              <a:t>Point it at one type of data across a document and pull out exactly that — nothing else.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dot"/>
          <p:cNvSpPr/>
          <p:nvPr/>
        </p:nvSpPr>
        <p:spPr>
          <a:xfrm>
            <a:off x="797302" y="4135000"/>
            <a:ext cx="60000" cy="60000"/>
          </a:xfrm>
          <a:prstGeom prst="ellipse">
            <a:avLst/>
          </a:prstGeom>
          <a:solidFill>
            <a:srgbClr val="22D3EE"/>
          </a:solidFill>
          <a:ln>
            <a:noFill/>
          </a:ln>
        </p:spPr>
        <p:txBody>
          <a:bodyPr/>
          <a:lstStyle/>
          <a:p>
            <a:endParaRPr lang="fr-BE"/>
          </a:p>
        </p:txBody>
      </p:sp>
      <p:sp>
        <p:nvSpPr>
          <p:cNvPr id="15" name="Text 15"/>
          <p:cNvSpPr/>
          <p:nvPr/>
        </p:nvSpPr>
        <p:spPr>
          <a:xfrm>
            <a:off x="972960" y="4030000"/>
            <a:ext cx="6350000" cy="26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Whole-document summary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6"/>
          <p:cNvSpPr/>
          <p:nvPr/>
        </p:nvSpPr>
        <p:spPr>
          <a:xfrm>
            <a:off x="972960" y="4320000"/>
            <a:ext cx="6350000" cy="500000"/>
          </a:xfrm>
          <a:prstGeom prst="rect">
            <a:avLst/>
          </a:prstGeom>
          <a:noFill/>
          <a:ln/>
        </p:spPr>
        <p:txBody>
          <a:bodyPr wrap="square"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9AA5B8"/>
                </a:solidFill>
                <a:effectLst/>
                <a:uLnTx/>
                <a:uFillTx/>
                <a:latin typeface="Calibri" pitchFamily="34" charset="0"/>
                <a:ea typeface="Calibri" pitchFamily="34" charset="-122"/>
                <a:cs typeface="Calibri" pitchFamily="34" charset="-120"/>
              </a:rPr>
              <a:t>Condense a single document down to what actually matters for the deal.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dot"/>
          <p:cNvSpPr/>
          <p:nvPr/>
        </p:nvSpPr>
        <p:spPr>
          <a:xfrm>
            <a:off x="816003" y="5028800"/>
            <a:ext cx="60000" cy="60000"/>
          </a:xfrm>
          <a:prstGeom prst="ellipse">
            <a:avLst/>
          </a:prstGeom>
          <a:solidFill>
            <a:srgbClr val="22D3EE"/>
          </a:solidFill>
          <a:ln>
            <a:noFill/>
          </a:ln>
        </p:spPr>
        <p:txBody>
          <a:bodyPr/>
          <a:lstStyle/>
          <a:p>
            <a:endParaRPr lang="fr-BE"/>
          </a:p>
        </p:txBody>
      </p:sp>
      <p:sp>
        <p:nvSpPr>
          <p:cNvPr id="18" name="Text 18"/>
          <p:cNvSpPr/>
          <p:nvPr/>
        </p:nvSpPr>
        <p:spPr>
          <a:xfrm>
            <a:off x="972960" y="4940000"/>
            <a:ext cx="6350000" cy="26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Bulk pattern report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9"/>
          <p:cNvSpPr/>
          <p:nvPr/>
        </p:nvSpPr>
        <p:spPr>
          <a:xfrm>
            <a:off x="972960" y="5230000"/>
            <a:ext cx="6350000" cy="500000"/>
          </a:xfrm>
          <a:prstGeom prst="rect">
            <a:avLst/>
          </a:prstGeom>
          <a:noFill/>
          <a:ln/>
        </p:spPr>
        <p:txBody>
          <a:bodyPr wrap="square"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9AA5B8"/>
                </a:solidFill>
                <a:effectLst/>
                <a:uLnTx/>
                <a:uFillTx/>
                <a:latin typeface="Calibri" pitchFamily="34" charset="0"/>
                <a:ea typeface="Calibri" pitchFamily="34" charset="-122"/>
                <a:cs typeface="Calibri" pitchFamily="34" charset="-120"/>
              </a:rPr>
              <a:t>Feed it many documents you're unsure about; get back one summarised profile of what they share.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20"/>
          <p:cNvSpPr/>
          <p:nvPr/>
        </p:nvSpPr>
        <p:spPr>
          <a:xfrm>
            <a:off x="7688720" y="2400000"/>
            <a:ext cx="3695560" cy="1615000"/>
          </a:xfrm>
          <a:prstGeom prst="roundRect">
            <a:avLst>
              <a:gd name="adj" fmla="val 2600"/>
            </a:avLst>
          </a:prstGeom>
          <a:solidFill>
            <a:srgbClr val="121A2C"/>
          </a:solidFill>
          <a:ln w="9525">
            <a:solidFill>
              <a:srgbClr val="1B2740"/>
            </a:solidFill>
            <a:prstDash val="solid"/>
          </a:ln>
        </p:spPr>
        <p:txBody>
          <a:bodyPr/>
          <a:lstStyle/>
          <a:p>
            <a:endParaRPr lang="fr-BE"/>
          </a:p>
        </p:txBody>
      </p:sp>
      <p:sp>
        <p:nvSpPr>
          <p:cNvPr id="21" name="Text 21"/>
          <p:cNvSpPr/>
          <p:nvPr/>
        </p:nvSpPr>
        <p:spPr>
          <a:xfrm>
            <a:off x="7918720" y="2610000"/>
            <a:ext cx="3235560" cy="34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Web Search</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2"/>
          <p:cNvSpPr/>
          <p:nvPr/>
        </p:nvSpPr>
        <p:spPr>
          <a:xfrm>
            <a:off x="7918720" y="2970000"/>
            <a:ext cx="3235560" cy="26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30" normalizeH="0" baseline="0" noProof="0" dirty="0">
                <a:ln>
                  <a:noFill/>
                </a:ln>
                <a:solidFill>
                  <a:srgbClr val="22D3EE"/>
                </a:solidFill>
                <a:effectLst/>
                <a:uLnTx/>
                <a:uFillTx/>
                <a:latin typeface="Arial" pitchFamily="34" charset="0"/>
                <a:ea typeface="Arial" pitchFamily="34" charset="-122"/>
                <a:cs typeface="Arial" pitchFamily="34" charset="-120"/>
              </a:rPr>
              <a:t>Ad-hoc · Discovery page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3"/>
          <p:cNvSpPr/>
          <p:nvPr/>
        </p:nvSpPr>
        <p:spPr>
          <a:xfrm>
            <a:off x="7918720" y="3270000"/>
            <a:ext cx="3235560" cy="715000"/>
          </a:xfrm>
          <a:prstGeom prst="rect">
            <a:avLst/>
          </a:prstGeom>
          <a:noFill/>
          <a:ln/>
        </p:spPr>
        <p:txBody>
          <a:bodyPr wrap="square" rtlCol="0" anchor="t"/>
          <a:lstStyle/>
          <a:p>
            <a:pPr marL="0" marR="0" lvl="0" indent="0" algn="l" defTabSz="914400" rtl="0" eaLnBrk="1" fontAlgn="auto" latinLnBrk="0" hangingPunct="1">
              <a:lnSpc>
                <a:spcPct val="118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9AA5B8"/>
                </a:solidFill>
                <a:effectLst/>
                <a:uLnTx/>
                <a:uFillTx/>
                <a:latin typeface="Calibri" pitchFamily="34" charset="0"/>
                <a:ea typeface="Calibri" pitchFamily="34" charset="-122"/>
                <a:cs typeface="Calibri" pitchFamily="34" charset="-120"/>
              </a:rPr>
              <a:t>Live web search surfaces candidate opportunities beyond the structured pipeline — promote anything worth tracking straight into the radar.</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4"/>
          <p:cNvSpPr/>
          <p:nvPr/>
        </p:nvSpPr>
        <p:spPr>
          <a:xfrm>
            <a:off x="7688720" y="4165000"/>
            <a:ext cx="3695560" cy="1615000"/>
          </a:xfrm>
          <a:prstGeom prst="roundRect">
            <a:avLst>
              <a:gd name="adj" fmla="val 2600"/>
            </a:avLst>
          </a:prstGeom>
          <a:solidFill>
            <a:srgbClr val="121A2C"/>
          </a:solidFill>
          <a:ln w="9525">
            <a:solidFill>
              <a:srgbClr val="1B2740"/>
            </a:solidFill>
            <a:prstDash val="solid"/>
          </a:ln>
        </p:spPr>
        <p:txBody>
          <a:bodyPr/>
          <a:lstStyle/>
          <a:p>
            <a:endParaRPr lang="fr-BE"/>
          </a:p>
        </p:txBody>
      </p:sp>
      <p:sp>
        <p:nvSpPr>
          <p:cNvPr id="25" name="Text 25"/>
          <p:cNvSpPr/>
          <p:nvPr/>
        </p:nvSpPr>
        <p:spPr>
          <a:xfrm>
            <a:off x="7918720" y="4375000"/>
            <a:ext cx="3235560" cy="34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pitchFamily="34" charset="0"/>
                <a:ea typeface="Arial" pitchFamily="34" charset="-122"/>
                <a:cs typeface="Arial" pitchFamily="34" charset="-120"/>
              </a:rPr>
              <a:t>Orange Priorities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6"/>
          <p:cNvSpPr/>
          <p:nvPr/>
        </p:nvSpPr>
        <p:spPr>
          <a:xfrm>
            <a:off x="7918720" y="4735000"/>
            <a:ext cx="3235560" cy="26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30" normalizeH="0" baseline="0" noProof="0" dirty="0">
                <a:ln>
                  <a:noFill/>
                </a:ln>
                <a:solidFill>
                  <a:srgbClr val="22D3EE"/>
                </a:solidFill>
                <a:effectLst/>
                <a:uLnTx/>
                <a:uFillTx/>
                <a:latin typeface="Arial" pitchFamily="34" charset="0"/>
                <a:ea typeface="Arial" pitchFamily="34" charset="-122"/>
                <a:cs typeface="Arial" pitchFamily="34" charset="-120"/>
              </a:rPr>
              <a:t>Company page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7"/>
          <p:cNvSpPr/>
          <p:nvPr/>
        </p:nvSpPr>
        <p:spPr>
          <a:xfrm>
            <a:off x="7918720" y="5035000"/>
            <a:ext cx="3235560" cy="715000"/>
          </a:xfrm>
          <a:prstGeom prst="rect">
            <a:avLst/>
          </a:prstGeom>
          <a:noFill/>
          <a:ln/>
        </p:spPr>
        <p:txBody>
          <a:bodyPr wrap="square" rtlCol="0" anchor="t"/>
          <a:lstStyle/>
          <a:p>
            <a:pPr marL="0" marR="0" lvl="0" indent="0" algn="l" defTabSz="914400" rtl="0" eaLnBrk="1" fontAlgn="auto" latinLnBrk="0" hangingPunct="1">
              <a:lnSpc>
                <a:spcPct val="118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9AA5B8"/>
                </a:solidFill>
                <a:effectLst/>
                <a:uLnTx/>
                <a:uFillTx/>
                <a:latin typeface="Calibri" pitchFamily="34" charset="0"/>
                <a:ea typeface="Calibri" pitchFamily="34" charset="-122"/>
                <a:cs typeface="Calibri" pitchFamily="34" charset="-120"/>
              </a:rPr>
              <a:t>The other simple, highly customisable layer — explicit priorities that drive the Orange Fit match.</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8"/>
          <p:cNvSpPr/>
          <p:nvPr/>
        </p:nvSpPr>
        <p:spPr>
          <a:xfrm>
            <a:off x="822960" y="5993176"/>
            <a:ext cx="10561320" cy="3200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0" cap="none" spc="0" normalizeH="0" baseline="0" noProof="0" dirty="0">
                <a:ln>
                  <a:noFill/>
                </a:ln>
                <a:solidFill>
                  <a:srgbClr val="DCE3F0"/>
                </a:solidFill>
                <a:effectLst/>
                <a:uLnTx/>
                <a:uFillTx/>
                <a:latin typeface="Calibri" pitchFamily="34" charset="0"/>
                <a:ea typeface="Calibri" pitchFamily="34" charset="-122"/>
                <a:cs typeface="Calibri" pitchFamily="34" charset="-120"/>
              </a:rPr>
              <a:t>Company Workspace  +  Web Search  +  Orange Priorities  —  one personalised, professional experience.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9"/>
          <p:cNvSpPr/>
          <p:nvPr/>
        </p:nvSpPr>
        <p:spPr>
          <a:xfrm>
            <a:off x="457200" y="6473952"/>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77089"/>
                </a:solidFill>
                <a:effectLst/>
                <a:uLnTx/>
                <a:uFillTx/>
                <a:latin typeface="Calibri" pitchFamily="34" charset="0"/>
                <a:ea typeface="Calibri" pitchFamily="34" charset="-122"/>
                <a:cs typeface="Calibri" pitchFamily="34" charset="-120"/>
              </a:rPr>
              <a:t>Cobalt Data Society · Innovation Radar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30"/>
          <p:cNvSpPr/>
          <p:nvPr/>
        </p:nvSpPr>
        <p:spPr>
          <a:xfrm>
            <a:off x="8534095" y="6473952"/>
            <a:ext cx="3200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77089"/>
                </a:solidFill>
                <a:effectLst/>
                <a:uLnTx/>
                <a:uFillTx/>
                <a:latin typeface="Calibri" pitchFamily="34" charset="0"/>
                <a:ea typeface="Calibri" pitchFamily="34" charset="-122"/>
                <a:cs typeface="Calibri" pitchFamily="34" charset="-120"/>
              </a:rPr>
              <a:t>Uniqueness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2">
            <a:extLst>
              <a:ext uri="{FF2B5EF4-FFF2-40B4-BE49-F238E27FC236}">
                <a16:creationId xmlns:a16="http://schemas.microsoft.com/office/drawing/2014/main" id="{21937EA4-5B95-FF52-9245-1834D5934BD1}"/>
              </a:ext>
            </a:extLst>
          </p:cNvPr>
          <p:cNvSpPr/>
          <p:nvPr/>
        </p:nvSpPr>
        <p:spPr>
          <a:xfrm>
            <a:off x="8751100" y="219191"/>
            <a:ext cx="3200400" cy="274320"/>
          </a:xfrm>
          <a:prstGeom prst="rect">
            <a:avLst/>
          </a:prstGeom>
          <a:noFill/>
          <a:ln/>
        </p:spPr>
        <p:txBody>
          <a:bodyPr wrap="square" rtlCol="0" anchor="ctr"/>
          <a:lstStyle/>
          <a:p>
            <a:pPr marL="0" indent="0" algn="r">
              <a:buNone/>
            </a:pPr>
            <a:r>
              <a:rPr lang="en-US" sz="900" dirty="0">
                <a:solidFill>
                  <a:srgbClr val="67708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822960" y="402336"/>
            <a:ext cx="237744" cy="237744"/>
          </a:xfrm>
          <a:prstGeom prst="ellipse">
            <a:avLst/>
          </a:prstGeom>
          <a:ln w="15875">
            <a:solidFill>
              <a:srgbClr val="22D3EE"/>
            </a:solidFill>
            <a:prstDash val="solid"/>
          </a:ln>
        </p:spPr>
        <p:txBody>
          <a:bodyPr/>
          <a:lstStyle/>
          <a:p>
            <a:endParaRPr lang="fr-BE"/>
          </a:p>
        </p:txBody>
      </p:sp>
      <p:sp>
        <p:nvSpPr>
          <p:cNvPr id="3" name="Shape 1"/>
          <p:cNvSpPr/>
          <p:nvPr/>
        </p:nvSpPr>
        <p:spPr>
          <a:xfrm>
            <a:off x="882396" y="461772"/>
            <a:ext cx="118872" cy="118872"/>
          </a:xfrm>
          <a:prstGeom prst="ellipse">
            <a:avLst/>
          </a:prstGeom>
          <a:ln w="15875">
            <a:solidFill>
              <a:srgbClr val="2F5CFF"/>
            </a:solidFill>
            <a:prstDash val="solid"/>
          </a:ln>
        </p:spPr>
        <p:txBody>
          <a:bodyPr/>
          <a:lstStyle/>
          <a:p>
            <a:endParaRPr lang="fr-BE"/>
          </a:p>
        </p:txBody>
      </p:sp>
      <p:sp>
        <p:nvSpPr>
          <p:cNvPr id="4" name="Shape 2"/>
          <p:cNvSpPr/>
          <p:nvPr/>
        </p:nvSpPr>
        <p:spPr>
          <a:xfrm>
            <a:off x="918972" y="498348"/>
            <a:ext cx="45720" cy="45720"/>
          </a:xfrm>
          <a:prstGeom prst="ellipse">
            <a:avLst/>
          </a:prstGeom>
          <a:solidFill>
            <a:srgbClr val="22D3EE"/>
          </a:solidFill>
          <a:ln/>
        </p:spPr>
        <p:txBody>
          <a:bodyPr/>
          <a:lstStyle/>
          <a:p>
            <a:endParaRPr lang="fr-BE"/>
          </a:p>
        </p:txBody>
      </p:sp>
      <p:sp>
        <p:nvSpPr>
          <p:cNvPr id="5" name="Text 3"/>
          <p:cNvSpPr/>
          <p:nvPr/>
        </p:nvSpPr>
        <p:spPr>
          <a:xfrm>
            <a:off x="1152144" y="356616"/>
            <a:ext cx="3657600" cy="292608"/>
          </a:xfrm>
          <a:prstGeom prst="rect">
            <a:avLst/>
          </a:prstGeom>
          <a:noFill/>
          <a:ln/>
        </p:spPr>
        <p:txBody>
          <a:bodyPr wrap="square" rtlCol="0" anchor="ctr"/>
          <a:lstStyle/>
          <a:p>
            <a:pPr marL="0" indent="0">
              <a:buNone/>
            </a:pPr>
            <a:r>
              <a:rPr lang="en-US" sz="1050" b="1" kern="0" spc="160" dirty="0">
                <a:solidFill>
                  <a:srgbClr val="9AA5B8"/>
                </a:solidFill>
                <a:latin typeface="Arial" pitchFamily="34" charset="0"/>
                <a:ea typeface="Arial" pitchFamily="34" charset="-122"/>
                <a:cs typeface="Arial" pitchFamily="34" charset="-120"/>
              </a:rPr>
              <a:t>COBALT DATA SOCIETY</a:t>
            </a:r>
            <a:endParaRPr lang="en-US" sz="1050" dirty="0"/>
          </a:p>
        </p:txBody>
      </p:sp>
      <p:sp>
        <p:nvSpPr>
          <p:cNvPr id="6" name="Text 4"/>
          <p:cNvSpPr/>
          <p:nvPr/>
        </p:nvSpPr>
        <p:spPr>
          <a:xfrm>
            <a:off x="822960" y="841248"/>
            <a:ext cx="9601200" cy="292608"/>
          </a:xfrm>
          <a:prstGeom prst="rect">
            <a:avLst/>
          </a:prstGeom>
          <a:noFill/>
          <a:ln/>
        </p:spPr>
        <p:txBody>
          <a:bodyPr wrap="square" rtlCol="0" anchor="ctr"/>
          <a:lstStyle/>
          <a:p>
            <a:pPr marL="0" indent="0">
              <a:buNone/>
            </a:pPr>
            <a:r>
              <a:rPr lang="en-US" sz="1200" b="1" kern="0" spc="150" dirty="0">
                <a:solidFill>
                  <a:srgbClr val="22D3EE"/>
                </a:solidFill>
                <a:latin typeface="Arial" pitchFamily="34" charset="0"/>
                <a:ea typeface="Arial" pitchFamily="34" charset="-122"/>
                <a:cs typeface="Arial" pitchFamily="34" charset="-120"/>
              </a:rPr>
              <a:t>BUSINESS FINDINGS · 1 OF 3</a:t>
            </a:r>
            <a:endParaRPr lang="en-US" sz="1200" dirty="0"/>
          </a:p>
        </p:txBody>
      </p:sp>
      <p:sp>
        <p:nvSpPr>
          <p:cNvPr id="7" name="Text 5"/>
          <p:cNvSpPr/>
          <p:nvPr/>
        </p:nvSpPr>
        <p:spPr>
          <a:xfrm>
            <a:off x="822960" y="1152144"/>
            <a:ext cx="10515600" cy="777240"/>
          </a:xfrm>
          <a:prstGeom prst="rect">
            <a:avLst/>
          </a:prstGeom>
          <a:noFill/>
          <a:ln/>
        </p:spPr>
        <p:txBody>
          <a:bodyPr wrap="square" rtlCol="0" anchor="ctr"/>
          <a:lstStyle/>
          <a:p>
            <a:pPr marL="0" indent="0">
              <a:buNone/>
            </a:pPr>
            <a:r>
              <a:rPr lang="en-US" sz="2700" b="1" dirty="0">
                <a:solidFill>
                  <a:srgbClr val="FFFFFF"/>
                </a:solidFill>
                <a:latin typeface="Arial" pitchFamily="34" charset="0"/>
                <a:cs typeface="Arial" pitchFamily="34" charset="-120"/>
              </a:rPr>
              <a:t>Top 5 opportunity spaces </a:t>
            </a:r>
            <a:endParaRPr lang="en-US" sz="2700" dirty="0"/>
          </a:p>
        </p:txBody>
      </p:sp>
      <p:sp>
        <p:nvSpPr>
          <p:cNvPr id="8" name="Text 6"/>
          <p:cNvSpPr/>
          <p:nvPr/>
        </p:nvSpPr>
        <p:spPr>
          <a:xfrm>
            <a:off x="5162896" y="1412748"/>
            <a:ext cx="2481487" cy="365760"/>
          </a:xfrm>
          <a:prstGeom prst="rect">
            <a:avLst/>
          </a:prstGeom>
          <a:noFill/>
          <a:ln/>
        </p:spPr>
        <p:txBody>
          <a:bodyPr wrap="square" rtlCol="0" anchor="ctr"/>
          <a:lstStyle/>
          <a:p>
            <a:pPr marL="0" indent="0">
              <a:buNone/>
            </a:pPr>
            <a:r>
              <a:rPr lang="en-US" sz="1600" b="1" i="1" dirty="0">
                <a:solidFill>
                  <a:srgbClr val="B9C2D6"/>
                </a:solidFill>
                <a:latin typeface="Calibri" pitchFamily="34" charset="0"/>
                <a:ea typeface="Calibri" pitchFamily="34" charset="-122"/>
                <a:cs typeface="Calibri" pitchFamily="34" charset="-120"/>
              </a:rPr>
              <a:t>Strategists and Sales</a:t>
            </a:r>
            <a:endParaRPr lang="en-US" sz="1600" b="1" dirty="0"/>
          </a:p>
        </p:txBody>
      </p:sp>
      <p:sp>
        <p:nvSpPr>
          <p:cNvPr id="9" name="Shape 7"/>
          <p:cNvSpPr/>
          <p:nvPr/>
        </p:nvSpPr>
        <p:spPr>
          <a:xfrm>
            <a:off x="822960" y="2148840"/>
            <a:ext cx="10561320" cy="1234440"/>
          </a:xfrm>
          <a:prstGeom prst="roundRect">
            <a:avLst>
              <a:gd name="adj" fmla="val 8889"/>
            </a:avLst>
          </a:prstGeom>
          <a:solidFill>
            <a:srgbClr val="0E1A33"/>
          </a:solidFill>
          <a:ln w="15875">
            <a:solidFill>
              <a:srgbClr val="22D3EE"/>
            </a:solidFill>
            <a:prstDash val="solid"/>
          </a:ln>
        </p:spPr>
        <p:txBody>
          <a:bodyPr/>
          <a:lstStyle/>
          <a:p>
            <a:endParaRPr lang="fr-BE"/>
          </a:p>
        </p:txBody>
      </p:sp>
      <p:sp>
        <p:nvSpPr>
          <p:cNvPr id="10" name="Text 8"/>
          <p:cNvSpPr/>
          <p:nvPr/>
        </p:nvSpPr>
        <p:spPr>
          <a:xfrm>
            <a:off x="1097280" y="2276856"/>
            <a:ext cx="1554480" cy="621792"/>
          </a:xfrm>
          <a:prstGeom prst="rect">
            <a:avLst/>
          </a:prstGeom>
          <a:noFill/>
          <a:ln/>
        </p:spPr>
        <p:txBody>
          <a:bodyPr wrap="square" rtlCol="0" anchor="ctr"/>
          <a:lstStyle/>
          <a:p>
            <a:pPr marL="0" indent="0">
              <a:buNone/>
            </a:pPr>
            <a:r>
              <a:rPr lang="en-US" sz="3400" b="1" dirty="0">
                <a:solidFill>
                  <a:srgbClr val="22D3EE"/>
                </a:solidFill>
                <a:latin typeface="Arial" pitchFamily="34" charset="0"/>
                <a:ea typeface="Arial" pitchFamily="34" charset="-122"/>
                <a:cs typeface="Arial" pitchFamily="34" charset="-120"/>
              </a:rPr>
              <a:t>76%</a:t>
            </a:r>
            <a:endParaRPr lang="en-US" sz="3400" dirty="0"/>
          </a:p>
        </p:txBody>
      </p:sp>
      <p:sp>
        <p:nvSpPr>
          <p:cNvPr id="11" name="Text 9"/>
          <p:cNvSpPr/>
          <p:nvPr/>
        </p:nvSpPr>
        <p:spPr>
          <a:xfrm>
            <a:off x="1097280" y="2898648"/>
            <a:ext cx="1737360" cy="256032"/>
          </a:xfrm>
          <a:prstGeom prst="rect">
            <a:avLst/>
          </a:prstGeom>
          <a:noFill/>
          <a:ln/>
        </p:spPr>
        <p:txBody>
          <a:bodyPr wrap="square" rtlCol="0" anchor="ctr"/>
          <a:lstStyle/>
          <a:p>
            <a:pPr marL="0" indent="0">
              <a:buNone/>
            </a:pPr>
            <a:r>
              <a:rPr lang="en-US" sz="850" b="1" kern="0" spc="80" dirty="0">
                <a:solidFill>
                  <a:srgbClr val="677089"/>
                </a:solidFill>
                <a:latin typeface="Arial" pitchFamily="34" charset="0"/>
                <a:ea typeface="Arial" pitchFamily="34" charset="-122"/>
                <a:cs typeface="Arial" pitchFamily="34" charset="-120"/>
              </a:rPr>
              <a:t>ATTRACTIVENESS</a:t>
            </a:r>
            <a:endParaRPr lang="en-US" sz="850" dirty="0"/>
          </a:p>
        </p:txBody>
      </p:sp>
      <p:sp>
        <p:nvSpPr>
          <p:cNvPr id="12" name="Shape 10"/>
          <p:cNvSpPr/>
          <p:nvPr/>
        </p:nvSpPr>
        <p:spPr>
          <a:xfrm>
            <a:off x="2743200" y="2313432"/>
            <a:ext cx="0" cy="868680"/>
          </a:xfrm>
          <a:prstGeom prst="line">
            <a:avLst/>
          </a:prstGeom>
          <a:noFill/>
          <a:ln w="12700">
            <a:solidFill>
              <a:srgbClr val="22304A"/>
            </a:solidFill>
            <a:prstDash val="solid"/>
          </a:ln>
        </p:spPr>
        <p:txBody>
          <a:bodyPr/>
          <a:lstStyle/>
          <a:p>
            <a:endParaRPr lang="fr-BE"/>
          </a:p>
        </p:txBody>
      </p:sp>
      <p:sp>
        <p:nvSpPr>
          <p:cNvPr id="13" name="Text 11"/>
          <p:cNvSpPr/>
          <p:nvPr/>
        </p:nvSpPr>
        <p:spPr>
          <a:xfrm>
            <a:off x="2971800" y="2276856"/>
            <a:ext cx="1554480" cy="621792"/>
          </a:xfrm>
          <a:prstGeom prst="rect">
            <a:avLst/>
          </a:prstGeom>
          <a:noFill/>
          <a:ln/>
        </p:spPr>
        <p:txBody>
          <a:bodyPr wrap="square" rtlCol="0" anchor="ctr"/>
          <a:lstStyle/>
          <a:p>
            <a:pPr marL="0" indent="0">
              <a:buNone/>
            </a:pPr>
            <a:r>
              <a:rPr lang="en-US" sz="3400" b="1" dirty="0">
                <a:solidFill>
                  <a:srgbClr val="F58A3E"/>
                </a:solidFill>
                <a:latin typeface="Arial" pitchFamily="34" charset="0"/>
                <a:ea typeface="Arial" pitchFamily="34" charset="-122"/>
                <a:cs typeface="Arial" pitchFamily="34" charset="-120"/>
              </a:rPr>
              <a:t>75%</a:t>
            </a:r>
            <a:endParaRPr lang="en-US" sz="3400" dirty="0"/>
          </a:p>
        </p:txBody>
      </p:sp>
      <p:sp>
        <p:nvSpPr>
          <p:cNvPr id="14" name="Text 12"/>
          <p:cNvSpPr/>
          <p:nvPr/>
        </p:nvSpPr>
        <p:spPr>
          <a:xfrm>
            <a:off x="2971800" y="2898648"/>
            <a:ext cx="1737360" cy="256032"/>
          </a:xfrm>
          <a:prstGeom prst="rect">
            <a:avLst/>
          </a:prstGeom>
          <a:noFill/>
          <a:ln/>
        </p:spPr>
        <p:txBody>
          <a:bodyPr wrap="square" rtlCol="0" anchor="ctr"/>
          <a:lstStyle/>
          <a:p>
            <a:pPr marL="0" indent="0">
              <a:buNone/>
            </a:pPr>
            <a:r>
              <a:rPr lang="en-US" sz="850" b="1" kern="0" spc="80" dirty="0">
                <a:solidFill>
                  <a:srgbClr val="677089"/>
                </a:solidFill>
                <a:latin typeface="Arial" pitchFamily="34" charset="0"/>
                <a:ea typeface="Arial" pitchFamily="34" charset="-122"/>
                <a:cs typeface="Arial" pitchFamily="34" charset="-120"/>
              </a:rPr>
              <a:t>ORANGE FIT</a:t>
            </a:r>
            <a:endParaRPr lang="en-US" sz="850" dirty="0"/>
          </a:p>
        </p:txBody>
      </p:sp>
      <p:sp>
        <p:nvSpPr>
          <p:cNvPr id="15" name="Shape 13"/>
          <p:cNvSpPr/>
          <p:nvPr/>
        </p:nvSpPr>
        <p:spPr>
          <a:xfrm>
            <a:off x="4617720" y="2313432"/>
            <a:ext cx="0" cy="868680"/>
          </a:xfrm>
          <a:prstGeom prst="line">
            <a:avLst/>
          </a:prstGeom>
          <a:noFill/>
          <a:ln w="12700">
            <a:solidFill>
              <a:srgbClr val="22304A"/>
            </a:solidFill>
            <a:prstDash val="solid"/>
          </a:ln>
        </p:spPr>
        <p:txBody>
          <a:bodyPr/>
          <a:lstStyle/>
          <a:p>
            <a:endParaRPr lang="fr-BE"/>
          </a:p>
        </p:txBody>
      </p:sp>
      <p:sp>
        <p:nvSpPr>
          <p:cNvPr id="16" name="Text 14"/>
          <p:cNvSpPr/>
          <p:nvPr/>
        </p:nvSpPr>
        <p:spPr>
          <a:xfrm>
            <a:off x="4846320" y="2295144"/>
            <a:ext cx="5394960" cy="365760"/>
          </a:xfrm>
          <a:prstGeom prst="rect">
            <a:avLst/>
          </a:prstGeom>
          <a:noFill/>
          <a:ln/>
        </p:spPr>
        <p:txBody>
          <a:bodyPr wrap="square" rtlCol="0" anchor="ctr"/>
          <a:lstStyle/>
          <a:p>
            <a:pPr marL="0" indent="0">
              <a:buNone/>
            </a:pPr>
            <a:r>
              <a:rPr lang="en-US" sz="1550" b="1" dirty="0">
                <a:solidFill>
                  <a:srgbClr val="FFFFFF"/>
                </a:solidFill>
                <a:latin typeface="Arial" pitchFamily="34" charset="0"/>
                <a:ea typeface="Arial" pitchFamily="34" charset="-122"/>
                <a:cs typeface="Arial" pitchFamily="34" charset="-120"/>
              </a:rPr>
              <a:t>Defense × Anomaly Detection × IoT Platforms</a:t>
            </a:r>
            <a:endParaRPr lang="en-US" sz="1550" dirty="0"/>
          </a:p>
        </p:txBody>
      </p:sp>
      <p:sp>
        <p:nvSpPr>
          <p:cNvPr id="17" name="Text 15"/>
          <p:cNvSpPr/>
          <p:nvPr/>
        </p:nvSpPr>
        <p:spPr>
          <a:xfrm>
            <a:off x="4846320" y="2633472"/>
            <a:ext cx="5394960" cy="502920"/>
          </a:xfrm>
          <a:prstGeom prst="rect">
            <a:avLst/>
          </a:prstGeom>
          <a:noFill/>
          <a:ln/>
        </p:spPr>
        <p:txBody>
          <a:bodyPr wrap="square" rtlCol="0" anchor="ctr"/>
          <a:lstStyle/>
          <a:p>
            <a:pPr marL="0" indent="0">
              <a:lnSpc>
                <a:spcPct val="120000"/>
              </a:lnSpc>
              <a:buNone/>
            </a:pPr>
            <a:r>
              <a:rPr lang="en-US" sz="1050" i="1" dirty="0">
                <a:solidFill>
                  <a:srgbClr val="B9C2D6"/>
                </a:solidFill>
                <a:latin typeface="Calibri" pitchFamily="34" charset="0"/>
                <a:ea typeface="Calibri" pitchFamily="34" charset="-122"/>
                <a:cs typeface="Calibri" pitchFamily="34" charset="-120"/>
              </a:rPr>
              <a:t>The strongest, freshest signal on the entire radar — and it tops the list for every persona we ran.</a:t>
            </a:r>
            <a:endParaRPr lang="en-US" sz="1050" dirty="0"/>
          </a:p>
        </p:txBody>
      </p:sp>
      <p:sp>
        <p:nvSpPr>
          <p:cNvPr id="18" name="Shape 16"/>
          <p:cNvSpPr/>
          <p:nvPr/>
        </p:nvSpPr>
        <p:spPr>
          <a:xfrm>
            <a:off x="4846320" y="3081528"/>
            <a:ext cx="2039112" cy="237744"/>
          </a:xfrm>
          <a:prstGeom prst="roundRect">
            <a:avLst>
              <a:gd name="adj" fmla="val 50000"/>
            </a:avLst>
          </a:prstGeom>
          <a:ln w="9525">
            <a:solidFill>
              <a:srgbClr val="22D3EE"/>
            </a:solidFill>
            <a:prstDash val="solid"/>
          </a:ln>
        </p:spPr>
        <p:txBody>
          <a:bodyPr/>
          <a:lstStyle/>
          <a:p>
            <a:endParaRPr lang="fr-BE"/>
          </a:p>
        </p:txBody>
      </p:sp>
      <p:sp>
        <p:nvSpPr>
          <p:cNvPr id="19" name="Text 17"/>
          <p:cNvSpPr/>
          <p:nvPr/>
        </p:nvSpPr>
        <p:spPr>
          <a:xfrm>
            <a:off x="4846320" y="3081528"/>
            <a:ext cx="2039112" cy="237744"/>
          </a:xfrm>
          <a:prstGeom prst="rect">
            <a:avLst/>
          </a:prstGeom>
          <a:noFill/>
          <a:ln/>
        </p:spPr>
        <p:txBody>
          <a:bodyPr wrap="square" rtlCol="0" anchor="ctr"/>
          <a:lstStyle/>
          <a:p>
            <a:pPr marL="0" indent="0" algn="ctr">
              <a:buNone/>
            </a:pPr>
            <a:r>
              <a:rPr lang="en-US" sz="750" b="1" kern="0" spc="40" dirty="0">
                <a:solidFill>
                  <a:srgbClr val="22D3EE"/>
                </a:solidFill>
                <a:latin typeface="Arial" pitchFamily="34" charset="0"/>
                <a:ea typeface="Arial" pitchFamily="34" charset="-122"/>
                <a:cs typeface="Arial" pitchFamily="34" charset="-120"/>
              </a:rPr>
              <a:t>TOP PICK — EVERY PERSONA</a:t>
            </a:r>
            <a:endParaRPr lang="en-US" sz="750" dirty="0"/>
          </a:p>
        </p:txBody>
      </p:sp>
      <p:sp>
        <p:nvSpPr>
          <p:cNvPr id="20" name="Shape 18"/>
          <p:cNvSpPr/>
          <p:nvPr/>
        </p:nvSpPr>
        <p:spPr>
          <a:xfrm>
            <a:off x="6995160" y="3081528"/>
            <a:ext cx="1257300" cy="237744"/>
          </a:xfrm>
          <a:prstGeom prst="roundRect">
            <a:avLst>
              <a:gd name="adj" fmla="val 50000"/>
            </a:avLst>
          </a:prstGeom>
          <a:ln w="9525">
            <a:solidFill>
              <a:srgbClr val="3A4A6B"/>
            </a:solidFill>
            <a:prstDash val="solid"/>
          </a:ln>
        </p:spPr>
        <p:txBody>
          <a:bodyPr/>
          <a:lstStyle/>
          <a:p>
            <a:endParaRPr lang="fr-BE"/>
          </a:p>
        </p:txBody>
      </p:sp>
      <p:sp>
        <p:nvSpPr>
          <p:cNvPr id="21" name="Text 19"/>
          <p:cNvSpPr/>
          <p:nvPr/>
        </p:nvSpPr>
        <p:spPr>
          <a:xfrm>
            <a:off x="6995160" y="3081528"/>
            <a:ext cx="1257300" cy="237744"/>
          </a:xfrm>
          <a:prstGeom prst="rect">
            <a:avLst/>
          </a:prstGeom>
          <a:noFill/>
          <a:ln/>
        </p:spPr>
        <p:txBody>
          <a:bodyPr wrap="square" rtlCol="0" anchor="ctr"/>
          <a:lstStyle/>
          <a:p>
            <a:pPr marL="0" indent="0" algn="ctr">
              <a:buNone/>
            </a:pPr>
            <a:r>
              <a:rPr lang="en-US" sz="750" b="1" kern="0" spc="40" dirty="0">
                <a:solidFill>
                  <a:srgbClr val="677089"/>
                </a:solidFill>
                <a:latin typeface="Arial" pitchFamily="34" charset="0"/>
                <a:ea typeface="Arial" pitchFamily="34" charset="-122"/>
                <a:cs typeface="Arial" pitchFamily="34" charset="-120"/>
              </a:rPr>
              <a:t>LATER</a:t>
            </a:r>
            <a:endParaRPr lang="en-US" sz="750" dirty="0"/>
          </a:p>
        </p:txBody>
      </p:sp>
      <p:sp>
        <p:nvSpPr>
          <p:cNvPr id="22" name="Shape 20"/>
          <p:cNvSpPr/>
          <p:nvPr/>
        </p:nvSpPr>
        <p:spPr>
          <a:xfrm>
            <a:off x="8362188" y="3081528"/>
            <a:ext cx="1421892" cy="237744"/>
          </a:xfrm>
          <a:prstGeom prst="roundRect">
            <a:avLst>
              <a:gd name="adj" fmla="val 50000"/>
            </a:avLst>
          </a:prstGeom>
          <a:ln w="9525">
            <a:solidFill>
              <a:srgbClr val="3A4A6B"/>
            </a:solidFill>
            <a:prstDash val="solid"/>
          </a:ln>
        </p:spPr>
        <p:txBody>
          <a:bodyPr/>
          <a:lstStyle/>
          <a:p>
            <a:endParaRPr lang="fr-BE"/>
          </a:p>
        </p:txBody>
      </p:sp>
      <p:sp>
        <p:nvSpPr>
          <p:cNvPr id="23" name="Text 21"/>
          <p:cNvSpPr/>
          <p:nvPr/>
        </p:nvSpPr>
        <p:spPr>
          <a:xfrm>
            <a:off x="8362188" y="3081528"/>
            <a:ext cx="1421892" cy="237744"/>
          </a:xfrm>
          <a:prstGeom prst="rect">
            <a:avLst/>
          </a:prstGeom>
          <a:noFill/>
          <a:ln/>
        </p:spPr>
        <p:txBody>
          <a:bodyPr wrap="square" rtlCol="0" anchor="ctr"/>
          <a:lstStyle/>
          <a:p>
            <a:pPr marL="0" indent="0" algn="ctr">
              <a:buNone/>
            </a:pPr>
            <a:r>
              <a:rPr lang="en-US" sz="750" b="1" kern="0" spc="40" dirty="0">
                <a:solidFill>
                  <a:srgbClr val="677089"/>
                </a:solidFill>
                <a:latin typeface="Arial" pitchFamily="34" charset="0"/>
                <a:ea typeface="Arial" pitchFamily="34" charset="-122"/>
                <a:cs typeface="Arial" pitchFamily="34" charset="-120"/>
              </a:rPr>
              <a:t>5 SIGNALS</a:t>
            </a:r>
            <a:endParaRPr lang="en-US" sz="750" dirty="0"/>
          </a:p>
        </p:txBody>
      </p:sp>
      <p:sp>
        <p:nvSpPr>
          <p:cNvPr id="24" name="Shape 22"/>
          <p:cNvSpPr/>
          <p:nvPr/>
        </p:nvSpPr>
        <p:spPr>
          <a:xfrm>
            <a:off x="9893808" y="3081528"/>
            <a:ext cx="1175004" cy="237744"/>
          </a:xfrm>
          <a:prstGeom prst="roundRect">
            <a:avLst>
              <a:gd name="adj" fmla="val 50000"/>
            </a:avLst>
          </a:prstGeom>
          <a:ln w="9525">
            <a:solidFill>
              <a:srgbClr val="3A4A6B"/>
            </a:solidFill>
            <a:prstDash val="solid"/>
          </a:ln>
        </p:spPr>
        <p:txBody>
          <a:bodyPr/>
          <a:lstStyle/>
          <a:p>
            <a:endParaRPr lang="fr-BE"/>
          </a:p>
        </p:txBody>
      </p:sp>
      <p:sp>
        <p:nvSpPr>
          <p:cNvPr id="25" name="Text 23"/>
          <p:cNvSpPr/>
          <p:nvPr/>
        </p:nvSpPr>
        <p:spPr>
          <a:xfrm>
            <a:off x="9893808" y="3081528"/>
            <a:ext cx="1175004" cy="237744"/>
          </a:xfrm>
          <a:prstGeom prst="rect">
            <a:avLst/>
          </a:prstGeom>
          <a:noFill/>
          <a:ln/>
        </p:spPr>
        <p:txBody>
          <a:bodyPr wrap="square" rtlCol="0" anchor="ctr"/>
          <a:lstStyle/>
          <a:p>
            <a:pPr marL="0" indent="0" algn="ctr">
              <a:buNone/>
            </a:pPr>
            <a:r>
              <a:rPr lang="en-US" sz="750" b="1" kern="0" spc="40" dirty="0">
                <a:solidFill>
                  <a:srgbClr val="677089"/>
                </a:solidFill>
                <a:latin typeface="Arial" pitchFamily="34" charset="0"/>
                <a:ea typeface="Arial" pitchFamily="34" charset="-122"/>
                <a:cs typeface="Arial" pitchFamily="34" charset="-120"/>
              </a:rPr>
              <a:t>NEW</a:t>
            </a:r>
            <a:endParaRPr lang="en-US" sz="750" dirty="0"/>
          </a:p>
        </p:txBody>
      </p:sp>
      <p:sp>
        <p:nvSpPr>
          <p:cNvPr id="26" name="Shape 24"/>
          <p:cNvSpPr/>
          <p:nvPr/>
        </p:nvSpPr>
        <p:spPr>
          <a:xfrm>
            <a:off x="822960" y="3584448"/>
            <a:ext cx="3401568" cy="960120"/>
          </a:xfrm>
          <a:prstGeom prst="roundRect">
            <a:avLst>
              <a:gd name="adj" fmla="val 8571"/>
            </a:avLst>
          </a:prstGeom>
          <a:solidFill>
            <a:srgbClr val="121A2C"/>
          </a:solidFill>
          <a:ln w="9525">
            <a:solidFill>
              <a:srgbClr val="1B2740"/>
            </a:solidFill>
            <a:prstDash val="solid"/>
          </a:ln>
        </p:spPr>
        <p:txBody>
          <a:bodyPr/>
          <a:lstStyle/>
          <a:p>
            <a:endParaRPr lang="fr-BE"/>
          </a:p>
        </p:txBody>
      </p:sp>
      <p:sp>
        <p:nvSpPr>
          <p:cNvPr id="27" name="Text 25"/>
          <p:cNvSpPr/>
          <p:nvPr/>
        </p:nvSpPr>
        <p:spPr>
          <a:xfrm>
            <a:off x="987552" y="3675888"/>
            <a:ext cx="1005840" cy="274320"/>
          </a:xfrm>
          <a:prstGeom prst="rect">
            <a:avLst/>
          </a:prstGeom>
          <a:noFill/>
          <a:ln/>
        </p:spPr>
        <p:txBody>
          <a:bodyPr wrap="square" rtlCol="0" anchor="ctr"/>
          <a:lstStyle/>
          <a:p>
            <a:pPr marL="0" indent="0">
              <a:buNone/>
            </a:pPr>
            <a:r>
              <a:rPr lang="en-US" sz="1000" b="1" kern="0" spc="50" dirty="0">
                <a:solidFill>
                  <a:srgbClr val="2F5CFF"/>
                </a:solidFill>
                <a:latin typeface="Arial" pitchFamily="34" charset="0"/>
                <a:ea typeface="Arial" pitchFamily="34" charset="-122"/>
                <a:cs typeface="Arial" pitchFamily="34" charset="-120"/>
              </a:rPr>
              <a:t>RANK 2</a:t>
            </a:r>
            <a:endParaRPr lang="en-US" sz="1000" dirty="0"/>
          </a:p>
        </p:txBody>
      </p:sp>
      <p:sp>
        <p:nvSpPr>
          <p:cNvPr id="28" name="Text 26"/>
          <p:cNvSpPr/>
          <p:nvPr/>
        </p:nvSpPr>
        <p:spPr>
          <a:xfrm>
            <a:off x="987552" y="3913632"/>
            <a:ext cx="3072384" cy="292608"/>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Diagnostic support</a:t>
            </a:r>
            <a:endParaRPr lang="en-US" sz="1200" dirty="0"/>
          </a:p>
        </p:txBody>
      </p:sp>
      <p:sp>
        <p:nvSpPr>
          <p:cNvPr id="29" name="Text 27"/>
          <p:cNvSpPr/>
          <p:nvPr/>
        </p:nvSpPr>
        <p:spPr>
          <a:xfrm>
            <a:off x="987552" y="4187952"/>
            <a:ext cx="3072384" cy="228600"/>
          </a:xfrm>
          <a:prstGeom prst="rect">
            <a:avLst/>
          </a:prstGeom>
          <a:noFill/>
          <a:ln/>
        </p:spPr>
        <p:txBody>
          <a:bodyPr wrap="square" rtlCol="0" anchor="ctr"/>
          <a:lstStyle/>
          <a:p>
            <a:pPr marL="0" indent="0">
              <a:buNone/>
            </a:pPr>
            <a:r>
              <a:rPr lang="en-US" sz="950" dirty="0">
                <a:solidFill>
                  <a:srgbClr val="9AA5B8"/>
                </a:solidFill>
                <a:latin typeface="Calibri" pitchFamily="34" charset="0"/>
                <a:ea typeface="Calibri" pitchFamily="34" charset="-122"/>
                <a:cs typeface="Calibri" pitchFamily="34" charset="-120"/>
              </a:rPr>
              <a:t>Lifesciences · ML</a:t>
            </a:r>
            <a:endParaRPr lang="en-US" sz="950" dirty="0"/>
          </a:p>
        </p:txBody>
      </p:sp>
      <p:sp>
        <p:nvSpPr>
          <p:cNvPr id="30" name="Text 28"/>
          <p:cNvSpPr/>
          <p:nvPr/>
        </p:nvSpPr>
        <p:spPr>
          <a:xfrm>
            <a:off x="987552" y="3675888"/>
            <a:ext cx="3072384" cy="274320"/>
          </a:xfrm>
          <a:prstGeom prst="rect">
            <a:avLst/>
          </a:prstGeom>
          <a:noFill/>
          <a:ln/>
        </p:spPr>
        <p:txBody>
          <a:bodyPr wrap="square" rtlCol="0" anchor="ctr"/>
          <a:lstStyle/>
          <a:p>
            <a:pPr marL="0" indent="0" algn="r">
              <a:buNone/>
            </a:pPr>
            <a:r>
              <a:rPr lang="en-US" sz="1050" b="1" dirty="0">
                <a:solidFill>
                  <a:srgbClr val="22D3EE"/>
                </a:solidFill>
                <a:latin typeface="Arial" pitchFamily="34" charset="0"/>
                <a:ea typeface="Arial" pitchFamily="34" charset="-122"/>
                <a:cs typeface="Arial" pitchFamily="34" charset="-120"/>
              </a:rPr>
              <a:t>75% </a:t>
            </a:r>
            <a:r>
              <a:rPr lang="en-US" sz="900" dirty="0">
                <a:solidFill>
                  <a:srgbClr val="677089"/>
                </a:solidFill>
                <a:latin typeface="Arial" pitchFamily="34" charset="0"/>
                <a:ea typeface="Arial" pitchFamily="34" charset="-122"/>
                <a:cs typeface="Arial" pitchFamily="34" charset="-120"/>
              </a:rPr>
              <a:t>attract.   </a:t>
            </a:r>
            <a:r>
              <a:rPr lang="en-US" sz="1050" b="1" dirty="0">
                <a:solidFill>
                  <a:srgbClr val="F58A3E"/>
                </a:solidFill>
                <a:latin typeface="Arial" pitchFamily="34" charset="0"/>
                <a:ea typeface="Arial" pitchFamily="34" charset="-122"/>
                <a:cs typeface="Arial" pitchFamily="34" charset="-120"/>
              </a:rPr>
              <a:t>50% </a:t>
            </a:r>
            <a:r>
              <a:rPr lang="en-US" sz="900" dirty="0">
                <a:solidFill>
                  <a:srgbClr val="677089"/>
                </a:solidFill>
                <a:latin typeface="Arial" pitchFamily="34" charset="0"/>
                <a:ea typeface="Arial" pitchFamily="34" charset="-122"/>
                <a:cs typeface="Arial" pitchFamily="34" charset="-120"/>
              </a:rPr>
              <a:t>fit</a:t>
            </a:r>
            <a:endParaRPr lang="en-US" sz="1050" dirty="0"/>
          </a:p>
        </p:txBody>
      </p:sp>
      <p:sp>
        <p:nvSpPr>
          <p:cNvPr id="31" name="Shape 29"/>
          <p:cNvSpPr/>
          <p:nvPr/>
        </p:nvSpPr>
        <p:spPr>
          <a:xfrm>
            <a:off x="4407408" y="3584448"/>
            <a:ext cx="3401568" cy="960120"/>
          </a:xfrm>
          <a:prstGeom prst="roundRect">
            <a:avLst>
              <a:gd name="adj" fmla="val 8571"/>
            </a:avLst>
          </a:prstGeom>
          <a:solidFill>
            <a:srgbClr val="121A2C"/>
          </a:solidFill>
          <a:ln w="9525">
            <a:solidFill>
              <a:srgbClr val="1B2740"/>
            </a:solidFill>
            <a:prstDash val="solid"/>
          </a:ln>
        </p:spPr>
        <p:txBody>
          <a:bodyPr/>
          <a:lstStyle/>
          <a:p>
            <a:endParaRPr lang="fr-BE"/>
          </a:p>
        </p:txBody>
      </p:sp>
      <p:sp>
        <p:nvSpPr>
          <p:cNvPr id="32" name="Text 30"/>
          <p:cNvSpPr/>
          <p:nvPr/>
        </p:nvSpPr>
        <p:spPr>
          <a:xfrm>
            <a:off x="4572000" y="3675888"/>
            <a:ext cx="1005840" cy="274320"/>
          </a:xfrm>
          <a:prstGeom prst="rect">
            <a:avLst/>
          </a:prstGeom>
          <a:noFill/>
          <a:ln/>
        </p:spPr>
        <p:txBody>
          <a:bodyPr wrap="square" rtlCol="0" anchor="ctr"/>
          <a:lstStyle/>
          <a:p>
            <a:pPr marL="0" indent="0">
              <a:buNone/>
            </a:pPr>
            <a:r>
              <a:rPr lang="en-US" sz="1000" b="1" kern="0" spc="50" dirty="0">
                <a:solidFill>
                  <a:srgbClr val="2F5CFF"/>
                </a:solidFill>
                <a:latin typeface="Arial" pitchFamily="34" charset="0"/>
                <a:ea typeface="Arial" pitchFamily="34" charset="-122"/>
                <a:cs typeface="Arial" pitchFamily="34" charset="-120"/>
              </a:rPr>
              <a:t>RANK 3</a:t>
            </a:r>
            <a:endParaRPr lang="en-US" sz="1000" dirty="0"/>
          </a:p>
        </p:txBody>
      </p:sp>
      <p:sp>
        <p:nvSpPr>
          <p:cNvPr id="33" name="Text 31"/>
          <p:cNvSpPr/>
          <p:nvPr/>
        </p:nvSpPr>
        <p:spPr>
          <a:xfrm>
            <a:off x="4572000" y="3913632"/>
            <a:ext cx="3072384" cy="292608"/>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Emissions monitoring</a:t>
            </a:r>
            <a:endParaRPr lang="en-US" sz="1200" dirty="0"/>
          </a:p>
        </p:txBody>
      </p:sp>
      <p:sp>
        <p:nvSpPr>
          <p:cNvPr id="34" name="Text 32"/>
          <p:cNvSpPr/>
          <p:nvPr/>
        </p:nvSpPr>
        <p:spPr>
          <a:xfrm>
            <a:off x="4572000" y="4187952"/>
            <a:ext cx="3072384" cy="228600"/>
          </a:xfrm>
          <a:prstGeom prst="rect">
            <a:avLst/>
          </a:prstGeom>
          <a:noFill/>
          <a:ln/>
        </p:spPr>
        <p:txBody>
          <a:bodyPr wrap="square" rtlCol="0" anchor="ctr"/>
          <a:lstStyle/>
          <a:p>
            <a:pPr marL="0" indent="0">
              <a:buNone/>
            </a:pPr>
            <a:r>
              <a:rPr lang="en-US" sz="950" dirty="0">
                <a:solidFill>
                  <a:srgbClr val="9AA5B8"/>
                </a:solidFill>
                <a:latin typeface="Calibri" pitchFamily="34" charset="0"/>
                <a:ea typeface="Calibri" pitchFamily="34" charset="-122"/>
                <a:cs typeface="Calibri" pitchFamily="34" charset="-120"/>
              </a:rPr>
              <a:t>Aerospace · ML</a:t>
            </a:r>
            <a:endParaRPr lang="en-US" sz="950" dirty="0"/>
          </a:p>
        </p:txBody>
      </p:sp>
      <p:sp>
        <p:nvSpPr>
          <p:cNvPr id="35" name="Text 33"/>
          <p:cNvSpPr/>
          <p:nvPr/>
        </p:nvSpPr>
        <p:spPr>
          <a:xfrm>
            <a:off x="4572000" y="3675888"/>
            <a:ext cx="3072384" cy="274320"/>
          </a:xfrm>
          <a:prstGeom prst="rect">
            <a:avLst/>
          </a:prstGeom>
          <a:noFill/>
          <a:ln/>
        </p:spPr>
        <p:txBody>
          <a:bodyPr wrap="square" rtlCol="0" anchor="ctr"/>
          <a:lstStyle/>
          <a:p>
            <a:pPr marL="0" indent="0" algn="r">
              <a:buNone/>
            </a:pPr>
            <a:r>
              <a:rPr lang="en-US" sz="1050" b="1" dirty="0">
                <a:solidFill>
                  <a:srgbClr val="22D3EE"/>
                </a:solidFill>
                <a:latin typeface="Arial" pitchFamily="34" charset="0"/>
                <a:ea typeface="Arial" pitchFamily="34" charset="-122"/>
                <a:cs typeface="Arial" pitchFamily="34" charset="-120"/>
              </a:rPr>
              <a:t>75% </a:t>
            </a:r>
            <a:r>
              <a:rPr lang="en-US" sz="900" dirty="0">
                <a:solidFill>
                  <a:srgbClr val="677089"/>
                </a:solidFill>
                <a:latin typeface="Arial" pitchFamily="34" charset="0"/>
                <a:ea typeface="Arial" pitchFamily="34" charset="-122"/>
                <a:cs typeface="Arial" pitchFamily="34" charset="-120"/>
              </a:rPr>
              <a:t>attract.   </a:t>
            </a:r>
            <a:r>
              <a:rPr lang="en-US" sz="1050" b="1" dirty="0">
                <a:solidFill>
                  <a:srgbClr val="F58A3E"/>
                </a:solidFill>
                <a:latin typeface="Arial" pitchFamily="34" charset="0"/>
                <a:ea typeface="Arial" pitchFamily="34" charset="-122"/>
                <a:cs typeface="Arial" pitchFamily="34" charset="-120"/>
              </a:rPr>
              <a:t>50% </a:t>
            </a:r>
            <a:r>
              <a:rPr lang="en-US" sz="900" dirty="0">
                <a:solidFill>
                  <a:srgbClr val="677089"/>
                </a:solidFill>
                <a:latin typeface="Arial" pitchFamily="34" charset="0"/>
                <a:ea typeface="Arial" pitchFamily="34" charset="-122"/>
                <a:cs typeface="Arial" pitchFamily="34" charset="-120"/>
              </a:rPr>
              <a:t>fit</a:t>
            </a:r>
            <a:endParaRPr lang="en-US" sz="1050" dirty="0"/>
          </a:p>
        </p:txBody>
      </p:sp>
      <p:sp>
        <p:nvSpPr>
          <p:cNvPr id="36" name="Shape 34"/>
          <p:cNvSpPr/>
          <p:nvPr/>
        </p:nvSpPr>
        <p:spPr>
          <a:xfrm>
            <a:off x="7991856" y="3584448"/>
            <a:ext cx="3401568" cy="960120"/>
          </a:xfrm>
          <a:prstGeom prst="roundRect">
            <a:avLst>
              <a:gd name="adj" fmla="val 8571"/>
            </a:avLst>
          </a:prstGeom>
          <a:solidFill>
            <a:srgbClr val="121A2C"/>
          </a:solidFill>
          <a:ln w="9525">
            <a:solidFill>
              <a:srgbClr val="1B2740"/>
            </a:solidFill>
            <a:prstDash val="solid"/>
          </a:ln>
        </p:spPr>
        <p:txBody>
          <a:bodyPr/>
          <a:lstStyle/>
          <a:p>
            <a:endParaRPr lang="fr-BE"/>
          </a:p>
        </p:txBody>
      </p:sp>
      <p:sp>
        <p:nvSpPr>
          <p:cNvPr id="37" name="Text 35"/>
          <p:cNvSpPr/>
          <p:nvPr/>
        </p:nvSpPr>
        <p:spPr>
          <a:xfrm>
            <a:off x="8156448" y="3675888"/>
            <a:ext cx="1005840" cy="274320"/>
          </a:xfrm>
          <a:prstGeom prst="rect">
            <a:avLst/>
          </a:prstGeom>
          <a:noFill/>
          <a:ln/>
        </p:spPr>
        <p:txBody>
          <a:bodyPr wrap="square" rtlCol="0" anchor="ctr"/>
          <a:lstStyle/>
          <a:p>
            <a:pPr marL="0" indent="0">
              <a:buNone/>
            </a:pPr>
            <a:r>
              <a:rPr lang="en-US" sz="1000" b="1" kern="0" spc="50" dirty="0">
                <a:solidFill>
                  <a:srgbClr val="2F5CFF"/>
                </a:solidFill>
                <a:latin typeface="Arial" pitchFamily="34" charset="0"/>
                <a:ea typeface="Arial" pitchFamily="34" charset="-122"/>
                <a:cs typeface="Arial" pitchFamily="34" charset="-120"/>
              </a:rPr>
              <a:t>RANK 4</a:t>
            </a:r>
            <a:endParaRPr lang="en-US" sz="1000" dirty="0"/>
          </a:p>
        </p:txBody>
      </p:sp>
      <p:sp>
        <p:nvSpPr>
          <p:cNvPr id="38" name="Text 36"/>
          <p:cNvSpPr/>
          <p:nvPr/>
        </p:nvSpPr>
        <p:spPr>
          <a:xfrm>
            <a:off x="8156448" y="3913632"/>
            <a:ext cx="3072384" cy="292608"/>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Diagnostic support</a:t>
            </a:r>
            <a:endParaRPr lang="en-US" sz="1200" dirty="0"/>
          </a:p>
        </p:txBody>
      </p:sp>
      <p:sp>
        <p:nvSpPr>
          <p:cNvPr id="39" name="Text 37"/>
          <p:cNvSpPr/>
          <p:nvPr/>
        </p:nvSpPr>
        <p:spPr>
          <a:xfrm>
            <a:off x="8156448" y="4187952"/>
            <a:ext cx="3072384" cy="228600"/>
          </a:xfrm>
          <a:prstGeom prst="rect">
            <a:avLst/>
          </a:prstGeom>
          <a:noFill/>
          <a:ln/>
        </p:spPr>
        <p:txBody>
          <a:bodyPr wrap="square" rtlCol="0" anchor="ctr"/>
          <a:lstStyle/>
          <a:p>
            <a:pPr marL="0" indent="0">
              <a:buNone/>
            </a:pPr>
            <a:r>
              <a:rPr lang="en-US" sz="950" dirty="0">
                <a:solidFill>
                  <a:srgbClr val="9AA5B8"/>
                </a:solidFill>
                <a:latin typeface="Calibri" pitchFamily="34" charset="0"/>
                <a:ea typeface="Calibri" pitchFamily="34" charset="-122"/>
                <a:cs typeface="Calibri" pitchFamily="34" charset="-120"/>
              </a:rPr>
              <a:t>Healthcare · ML</a:t>
            </a:r>
            <a:endParaRPr lang="en-US" sz="950" dirty="0"/>
          </a:p>
        </p:txBody>
      </p:sp>
      <p:sp>
        <p:nvSpPr>
          <p:cNvPr id="40" name="Text 38"/>
          <p:cNvSpPr/>
          <p:nvPr/>
        </p:nvSpPr>
        <p:spPr>
          <a:xfrm>
            <a:off x="8156448" y="3675888"/>
            <a:ext cx="3072384" cy="274320"/>
          </a:xfrm>
          <a:prstGeom prst="rect">
            <a:avLst/>
          </a:prstGeom>
          <a:noFill/>
          <a:ln/>
        </p:spPr>
        <p:txBody>
          <a:bodyPr wrap="square" rtlCol="0" anchor="ctr"/>
          <a:lstStyle/>
          <a:p>
            <a:pPr marL="0" indent="0" algn="r">
              <a:buNone/>
            </a:pPr>
            <a:r>
              <a:rPr lang="en-US" sz="1050" b="1" dirty="0">
                <a:solidFill>
                  <a:srgbClr val="22D3EE"/>
                </a:solidFill>
                <a:latin typeface="Arial" pitchFamily="34" charset="0"/>
                <a:ea typeface="Arial" pitchFamily="34" charset="-122"/>
                <a:cs typeface="Arial" pitchFamily="34" charset="-120"/>
              </a:rPr>
              <a:t>74% </a:t>
            </a:r>
            <a:r>
              <a:rPr lang="en-US" sz="900" dirty="0">
                <a:solidFill>
                  <a:srgbClr val="677089"/>
                </a:solidFill>
                <a:latin typeface="Arial" pitchFamily="34" charset="0"/>
                <a:ea typeface="Arial" pitchFamily="34" charset="-122"/>
                <a:cs typeface="Arial" pitchFamily="34" charset="-120"/>
              </a:rPr>
              <a:t>attract.   </a:t>
            </a:r>
            <a:r>
              <a:rPr lang="en-US" sz="1050" b="1" dirty="0">
                <a:solidFill>
                  <a:srgbClr val="F58A3E"/>
                </a:solidFill>
                <a:latin typeface="Arial" pitchFamily="34" charset="0"/>
                <a:ea typeface="Arial" pitchFamily="34" charset="-122"/>
                <a:cs typeface="Arial" pitchFamily="34" charset="-120"/>
              </a:rPr>
              <a:t>50% </a:t>
            </a:r>
            <a:r>
              <a:rPr lang="en-US" sz="900" dirty="0">
                <a:solidFill>
                  <a:srgbClr val="677089"/>
                </a:solidFill>
                <a:latin typeface="Arial" pitchFamily="34" charset="0"/>
                <a:ea typeface="Arial" pitchFamily="34" charset="-122"/>
                <a:cs typeface="Arial" pitchFamily="34" charset="-120"/>
              </a:rPr>
              <a:t>fit</a:t>
            </a:r>
            <a:endParaRPr lang="en-US" sz="1050" dirty="0"/>
          </a:p>
        </p:txBody>
      </p:sp>
      <p:sp>
        <p:nvSpPr>
          <p:cNvPr id="41" name="Text 39"/>
          <p:cNvSpPr/>
          <p:nvPr/>
        </p:nvSpPr>
        <p:spPr>
          <a:xfrm>
            <a:off x="822960" y="4727448"/>
            <a:ext cx="7315200" cy="274320"/>
          </a:xfrm>
          <a:prstGeom prst="rect">
            <a:avLst/>
          </a:prstGeom>
          <a:noFill/>
          <a:ln/>
        </p:spPr>
        <p:txBody>
          <a:bodyPr wrap="square" rtlCol="0" anchor="ctr"/>
          <a:lstStyle/>
          <a:p>
            <a:pPr marL="0" indent="0">
              <a:buNone/>
            </a:pPr>
            <a:r>
              <a:rPr lang="en-US" sz="1050" b="1" kern="0" spc="100" dirty="0">
                <a:solidFill>
                  <a:srgbClr val="677089"/>
                </a:solidFill>
                <a:latin typeface="Arial" pitchFamily="34" charset="0"/>
                <a:ea typeface="Arial" pitchFamily="34" charset="-122"/>
                <a:cs typeface="Arial" pitchFamily="34" charset="-120"/>
              </a:rPr>
              <a:t>RANK 5 — SAME EVIDENCE, DIFFERENT BET</a:t>
            </a:r>
            <a:endParaRPr lang="en-US" sz="1050" dirty="0"/>
          </a:p>
        </p:txBody>
      </p:sp>
      <p:sp>
        <p:nvSpPr>
          <p:cNvPr id="42" name="Shape 40"/>
          <p:cNvSpPr/>
          <p:nvPr/>
        </p:nvSpPr>
        <p:spPr>
          <a:xfrm>
            <a:off x="822960" y="5074920"/>
            <a:ext cx="5189220" cy="1005840"/>
          </a:xfrm>
          <a:prstGeom prst="roundRect">
            <a:avLst>
              <a:gd name="adj" fmla="val 8182"/>
            </a:avLst>
          </a:prstGeom>
          <a:solidFill>
            <a:srgbClr val="0E1A33"/>
          </a:solidFill>
          <a:ln w="12700">
            <a:solidFill>
              <a:srgbClr val="22D3EE"/>
            </a:solidFill>
            <a:prstDash val="solid"/>
          </a:ln>
        </p:spPr>
        <p:txBody>
          <a:bodyPr/>
          <a:lstStyle/>
          <a:p>
            <a:endParaRPr lang="fr-BE"/>
          </a:p>
        </p:txBody>
      </p:sp>
      <p:sp>
        <p:nvSpPr>
          <p:cNvPr id="43" name="Text 41"/>
          <p:cNvSpPr/>
          <p:nvPr/>
        </p:nvSpPr>
        <p:spPr>
          <a:xfrm>
            <a:off x="1005840" y="5166360"/>
            <a:ext cx="4823460" cy="237744"/>
          </a:xfrm>
          <a:prstGeom prst="rect">
            <a:avLst/>
          </a:prstGeom>
          <a:noFill/>
          <a:ln/>
        </p:spPr>
        <p:txBody>
          <a:bodyPr wrap="square" rtlCol="0" anchor="ctr"/>
          <a:lstStyle/>
          <a:p>
            <a:pPr marL="0" indent="0">
              <a:buNone/>
            </a:pPr>
            <a:r>
              <a:rPr lang="en-US" sz="1050" b="1" kern="0" spc="100" dirty="0">
                <a:solidFill>
                  <a:srgbClr val="22D3EE"/>
                </a:solidFill>
                <a:latin typeface="Arial" pitchFamily="34" charset="0"/>
                <a:ea typeface="Arial" pitchFamily="34" charset="-122"/>
                <a:cs typeface="Arial" pitchFamily="34" charset="-120"/>
              </a:rPr>
              <a:t>STRATEGIST</a:t>
            </a:r>
            <a:endParaRPr lang="en-US" sz="1050" dirty="0"/>
          </a:p>
        </p:txBody>
      </p:sp>
      <p:sp>
        <p:nvSpPr>
          <p:cNvPr id="44" name="Text 42"/>
          <p:cNvSpPr/>
          <p:nvPr/>
        </p:nvSpPr>
        <p:spPr>
          <a:xfrm>
            <a:off x="1005840" y="5404104"/>
            <a:ext cx="4823460" cy="274320"/>
          </a:xfrm>
          <a:prstGeom prst="rect">
            <a:avLst/>
          </a:prstGeom>
          <a:noFill/>
          <a:ln/>
        </p:spPr>
        <p:txBody>
          <a:bodyPr wrap="square" rtlCol="0" anchor="ctr"/>
          <a:lstStyle/>
          <a:p>
            <a:pPr marL="0" indent="0">
              <a:buNone/>
            </a:pPr>
            <a:r>
              <a:rPr lang="en-US" sz="1250" b="1" dirty="0">
                <a:solidFill>
                  <a:srgbClr val="FFFFFF"/>
                </a:solidFill>
              </a:rPr>
              <a:t>Compliance monitoring </a:t>
            </a:r>
            <a:r>
              <a:rPr lang="en-US" sz="1000" dirty="0">
                <a:solidFill>
                  <a:srgbClr val="9AA5B8"/>
                </a:solidFill>
              </a:rPr>
              <a:t>— Defense · Cybersecurity Platform</a:t>
            </a:r>
            <a:endParaRPr lang="en-US" sz="1250" dirty="0"/>
          </a:p>
        </p:txBody>
      </p:sp>
      <p:sp>
        <p:nvSpPr>
          <p:cNvPr id="45" name="Text 43"/>
          <p:cNvSpPr/>
          <p:nvPr/>
        </p:nvSpPr>
        <p:spPr>
          <a:xfrm>
            <a:off x="1005840" y="5641848"/>
            <a:ext cx="4823460" cy="228600"/>
          </a:xfrm>
          <a:prstGeom prst="rect">
            <a:avLst/>
          </a:prstGeom>
          <a:noFill/>
          <a:ln/>
        </p:spPr>
        <p:txBody>
          <a:bodyPr wrap="square" rtlCol="0" anchor="ctr"/>
          <a:lstStyle/>
          <a:p>
            <a:pPr marL="0" indent="0">
              <a:buNone/>
            </a:pPr>
            <a:r>
              <a:rPr lang="en-US" sz="1000" b="1" dirty="0">
                <a:solidFill>
                  <a:srgbClr val="22D3EE"/>
                </a:solidFill>
              </a:rPr>
              <a:t>69% attract.   </a:t>
            </a:r>
            <a:r>
              <a:rPr lang="en-US" sz="1000" b="1" dirty="0">
                <a:solidFill>
                  <a:srgbClr val="F58A3E"/>
                </a:solidFill>
              </a:rPr>
              <a:t>25% fit</a:t>
            </a:r>
            <a:endParaRPr lang="en-US" sz="1000" dirty="0"/>
          </a:p>
        </p:txBody>
      </p:sp>
      <p:sp>
        <p:nvSpPr>
          <p:cNvPr id="46" name="Text 44"/>
          <p:cNvSpPr/>
          <p:nvPr/>
        </p:nvSpPr>
        <p:spPr>
          <a:xfrm>
            <a:off x="1005840" y="5852160"/>
            <a:ext cx="4823460" cy="274320"/>
          </a:xfrm>
          <a:prstGeom prst="rect">
            <a:avLst/>
          </a:prstGeom>
          <a:noFill/>
          <a:ln/>
        </p:spPr>
        <p:txBody>
          <a:bodyPr wrap="square" rtlCol="0" anchor="ctr"/>
          <a:lstStyle/>
          <a:p>
            <a:pPr marL="0" indent="0">
              <a:buNone/>
            </a:pPr>
            <a:r>
              <a:rPr lang="en-US" sz="900" i="1" dirty="0">
                <a:solidFill>
                  <a:srgbClr val="677089"/>
                </a:solidFill>
                <a:latin typeface="Calibri" pitchFamily="34" charset="0"/>
                <a:ea typeface="Calibri" pitchFamily="34" charset="-122"/>
                <a:cs typeface="Calibri" pitchFamily="34" charset="-120"/>
              </a:rPr>
              <a:t>Breadth over fit: 14 signals say “watch closely,” even if alignment is still thin.</a:t>
            </a:r>
            <a:endParaRPr lang="en-US" sz="900" dirty="0"/>
          </a:p>
        </p:txBody>
      </p:sp>
      <p:sp>
        <p:nvSpPr>
          <p:cNvPr id="47" name="Shape 45"/>
          <p:cNvSpPr/>
          <p:nvPr/>
        </p:nvSpPr>
        <p:spPr>
          <a:xfrm>
            <a:off x="6195060" y="5074920"/>
            <a:ext cx="5189220" cy="1005840"/>
          </a:xfrm>
          <a:prstGeom prst="roundRect">
            <a:avLst>
              <a:gd name="adj" fmla="val 8182"/>
            </a:avLst>
          </a:prstGeom>
          <a:solidFill>
            <a:srgbClr val="0E1A33"/>
          </a:solidFill>
          <a:ln w="12700">
            <a:solidFill>
              <a:srgbClr val="2F5CFF"/>
            </a:solidFill>
            <a:prstDash val="solid"/>
          </a:ln>
        </p:spPr>
        <p:txBody>
          <a:bodyPr/>
          <a:lstStyle/>
          <a:p>
            <a:endParaRPr lang="fr-BE"/>
          </a:p>
        </p:txBody>
      </p:sp>
      <p:sp>
        <p:nvSpPr>
          <p:cNvPr id="48" name="Text 46"/>
          <p:cNvSpPr/>
          <p:nvPr/>
        </p:nvSpPr>
        <p:spPr>
          <a:xfrm>
            <a:off x="6377940" y="5166360"/>
            <a:ext cx="4823460" cy="237744"/>
          </a:xfrm>
          <a:prstGeom prst="rect">
            <a:avLst/>
          </a:prstGeom>
          <a:noFill/>
          <a:ln/>
        </p:spPr>
        <p:txBody>
          <a:bodyPr wrap="square" rtlCol="0" anchor="ctr"/>
          <a:lstStyle/>
          <a:p>
            <a:pPr marL="0" indent="0">
              <a:buNone/>
            </a:pPr>
            <a:r>
              <a:rPr lang="en-US" sz="1050" b="1" kern="0" spc="100" dirty="0">
                <a:solidFill>
                  <a:srgbClr val="2F5CFF"/>
                </a:solidFill>
                <a:latin typeface="Arial" pitchFamily="34" charset="0"/>
                <a:ea typeface="Arial" pitchFamily="34" charset="-122"/>
                <a:cs typeface="Arial" pitchFamily="34" charset="-120"/>
              </a:rPr>
              <a:t>SALES</a:t>
            </a:r>
            <a:endParaRPr lang="en-US" sz="1050" dirty="0"/>
          </a:p>
        </p:txBody>
      </p:sp>
      <p:sp>
        <p:nvSpPr>
          <p:cNvPr id="49" name="Text 47"/>
          <p:cNvSpPr/>
          <p:nvPr/>
        </p:nvSpPr>
        <p:spPr>
          <a:xfrm>
            <a:off x="6377940" y="5404104"/>
            <a:ext cx="4823460" cy="274320"/>
          </a:xfrm>
          <a:prstGeom prst="rect">
            <a:avLst/>
          </a:prstGeom>
          <a:noFill/>
          <a:ln/>
        </p:spPr>
        <p:txBody>
          <a:bodyPr wrap="square" rtlCol="0" anchor="ctr"/>
          <a:lstStyle/>
          <a:p>
            <a:pPr marL="0" indent="0">
              <a:buNone/>
            </a:pPr>
            <a:r>
              <a:rPr lang="en-US" sz="1250" b="1" dirty="0">
                <a:solidFill>
                  <a:srgbClr val="FFFFFF"/>
                </a:solidFill>
              </a:rPr>
              <a:t>Anomaly detection </a:t>
            </a:r>
            <a:r>
              <a:rPr lang="en-US" sz="1000" dirty="0">
                <a:solidFill>
                  <a:srgbClr val="9AA5B8"/>
                </a:solidFill>
              </a:rPr>
              <a:t>— Defense · Computer Vision</a:t>
            </a:r>
            <a:endParaRPr lang="en-US" sz="1250" dirty="0"/>
          </a:p>
        </p:txBody>
      </p:sp>
      <p:sp>
        <p:nvSpPr>
          <p:cNvPr id="50" name="Text 48"/>
          <p:cNvSpPr/>
          <p:nvPr/>
        </p:nvSpPr>
        <p:spPr>
          <a:xfrm>
            <a:off x="6377940" y="5641848"/>
            <a:ext cx="4823460" cy="228600"/>
          </a:xfrm>
          <a:prstGeom prst="rect">
            <a:avLst/>
          </a:prstGeom>
          <a:noFill/>
          <a:ln/>
        </p:spPr>
        <p:txBody>
          <a:bodyPr wrap="square" rtlCol="0" anchor="ctr"/>
          <a:lstStyle/>
          <a:p>
            <a:pPr marL="0" indent="0">
              <a:buNone/>
            </a:pPr>
            <a:r>
              <a:rPr lang="en-US" sz="1000" b="1" dirty="0">
                <a:solidFill>
                  <a:srgbClr val="22D3EE"/>
                </a:solidFill>
              </a:rPr>
              <a:t>65% attract.   </a:t>
            </a:r>
            <a:r>
              <a:rPr lang="en-US" sz="1000" b="1" dirty="0">
                <a:solidFill>
                  <a:srgbClr val="F58A3E"/>
                </a:solidFill>
              </a:rPr>
              <a:t>75% fit</a:t>
            </a:r>
            <a:endParaRPr lang="en-US" sz="1000" dirty="0"/>
          </a:p>
        </p:txBody>
      </p:sp>
      <p:sp>
        <p:nvSpPr>
          <p:cNvPr id="51" name="Text 49"/>
          <p:cNvSpPr/>
          <p:nvPr/>
        </p:nvSpPr>
        <p:spPr>
          <a:xfrm>
            <a:off x="6377940" y="5852160"/>
            <a:ext cx="4823460" cy="274320"/>
          </a:xfrm>
          <a:prstGeom prst="rect">
            <a:avLst/>
          </a:prstGeom>
          <a:noFill/>
          <a:ln/>
        </p:spPr>
        <p:txBody>
          <a:bodyPr wrap="square" rtlCol="0" anchor="ctr"/>
          <a:lstStyle/>
          <a:p>
            <a:pPr marL="0" indent="0">
              <a:buNone/>
            </a:pPr>
            <a:r>
              <a:rPr lang="en-US" sz="900" i="1" dirty="0">
                <a:solidFill>
                  <a:srgbClr val="677089"/>
                </a:solidFill>
                <a:latin typeface="Calibri" pitchFamily="34" charset="0"/>
                <a:ea typeface="Calibri" pitchFamily="34" charset="-122"/>
                <a:cs typeface="Calibri" pitchFamily="34" charset="-120"/>
              </a:rPr>
              <a:t>Fit over breadth: only 2 signals, but 75% Orange Fit says the door is already open.</a:t>
            </a:r>
            <a:endParaRPr lang="en-US" sz="900" dirty="0"/>
          </a:p>
        </p:txBody>
      </p:sp>
      <p:sp>
        <p:nvSpPr>
          <p:cNvPr id="52" name="Text 50"/>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677089"/>
                </a:solidFill>
                <a:latin typeface="Calibri" pitchFamily="34" charset="0"/>
                <a:ea typeface="Calibri" pitchFamily="34" charset="-122"/>
                <a:cs typeface="Calibri" pitchFamily="34" charset="-120"/>
              </a:rPr>
              <a:t>Cobalt Data Society · Innovation Radar</a:t>
            </a:r>
            <a:endParaRPr lang="en-US" sz="900" dirty="0"/>
          </a:p>
        </p:txBody>
      </p:sp>
      <p:sp>
        <p:nvSpPr>
          <p:cNvPr id="53" name="Text 51"/>
          <p:cNvSpPr/>
          <p:nvPr/>
        </p:nvSpPr>
        <p:spPr>
          <a:xfrm>
            <a:off x="8534095" y="6473952"/>
            <a:ext cx="3200400" cy="274320"/>
          </a:xfrm>
          <a:prstGeom prst="rect">
            <a:avLst/>
          </a:prstGeom>
          <a:noFill/>
          <a:ln/>
        </p:spPr>
        <p:txBody>
          <a:bodyPr wrap="square" rtlCol="0" anchor="ctr"/>
          <a:lstStyle/>
          <a:p>
            <a:pPr marL="0" indent="0" algn="r">
              <a:buNone/>
            </a:pPr>
            <a:r>
              <a:rPr lang="en-US" sz="900" dirty="0">
                <a:solidFill>
                  <a:srgbClr val="677089"/>
                </a:solidFill>
                <a:latin typeface="Calibri" pitchFamily="34" charset="0"/>
                <a:ea typeface="Calibri" pitchFamily="34" charset="-122"/>
                <a:cs typeface="Calibri" pitchFamily="34" charset="-120"/>
              </a:rPr>
              <a:t>Business findings</a:t>
            </a:r>
            <a:endParaRPr lang="en-US" sz="900" dirty="0"/>
          </a:p>
        </p:txBody>
      </p:sp>
      <p:sp>
        <p:nvSpPr>
          <p:cNvPr id="55" name="Text 32">
            <a:extLst>
              <a:ext uri="{FF2B5EF4-FFF2-40B4-BE49-F238E27FC236}">
                <a16:creationId xmlns:a16="http://schemas.microsoft.com/office/drawing/2014/main" id="{9CC48F8E-4513-E5A4-9945-79527FF08289}"/>
              </a:ext>
            </a:extLst>
          </p:cNvPr>
          <p:cNvSpPr/>
          <p:nvPr/>
        </p:nvSpPr>
        <p:spPr>
          <a:xfrm>
            <a:off x="8751100" y="219191"/>
            <a:ext cx="3200400" cy="274320"/>
          </a:xfrm>
          <a:prstGeom prst="rect">
            <a:avLst/>
          </a:prstGeom>
          <a:noFill/>
          <a:ln/>
        </p:spPr>
        <p:txBody>
          <a:bodyPr wrap="square" rtlCol="0" anchor="ctr"/>
          <a:lstStyle/>
          <a:p>
            <a:pPr marL="0" indent="0" algn="r">
              <a:buNone/>
            </a:pPr>
            <a:r>
              <a:rPr lang="en-US" sz="900" dirty="0">
                <a:solidFill>
                  <a:srgbClr val="677089"/>
                </a:solidFill>
                <a:latin typeface="Calibri" pitchFamily="34" charset="0"/>
                <a:ea typeface="Calibri" pitchFamily="34" charset="-122"/>
                <a:cs typeface="Calibri" pitchFamily="34" charset="-120"/>
              </a:rPr>
              <a:t>5</a:t>
            </a:r>
            <a:endParaRPr lang="en-US" sz="900" dirty="0"/>
          </a:p>
        </p:txBody>
      </p:sp>
      <p:sp>
        <p:nvSpPr>
          <p:cNvPr id="58" name="Text 28">
            <a:extLst>
              <a:ext uri="{FF2B5EF4-FFF2-40B4-BE49-F238E27FC236}">
                <a16:creationId xmlns:a16="http://schemas.microsoft.com/office/drawing/2014/main" id="{966F9506-3B5D-F09E-CED9-A0B6BF6D4B64}"/>
              </a:ext>
            </a:extLst>
          </p:cNvPr>
          <p:cNvSpPr/>
          <p:nvPr/>
        </p:nvSpPr>
        <p:spPr>
          <a:xfrm>
            <a:off x="6283038" y="4195302"/>
            <a:ext cx="1901853" cy="274320"/>
          </a:xfrm>
          <a:prstGeom prst="rect">
            <a:avLst/>
          </a:prstGeom>
          <a:noFill/>
          <a:ln/>
        </p:spPr>
        <p:txBody>
          <a:bodyPr wrap="square" rtlCol="0" anchor="ctr"/>
          <a:lstStyle/>
          <a:p>
            <a:pPr marL="0" indent="0">
              <a:buNone/>
            </a:pPr>
            <a:r>
              <a:rPr lang="en-US" sz="900" dirty="0">
                <a:solidFill>
                  <a:schemeClr val="accent4">
                    <a:lumMod val="60000"/>
                    <a:lumOff val="40000"/>
                  </a:schemeClr>
                </a:solidFill>
                <a:latin typeface="Arial" pitchFamily="34" charset="0"/>
                <a:cs typeface="Arial" pitchFamily="34" charset="-120"/>
              </a:rPr>
              <a:t>Central scenario : 141M € </a:t>
            </a:r>
            <a:endParaRPr lang="en-US" sz="900" dirty="0">
              <a:solidFill>
                <a:schemeClr val="accent4">
                  <a:lumMod val="60000"/>
                  <a:lumOff val="40000"/>
                </a:schemeClr>
              </a:solidFill>
            </a:endParaRPr>
          </a:p>
        </p:txBody>
      </p:sp>
      <p:sp>
        <p:nvSpPr>
          <p:cNvPr id="60" name="Text 28">
            <a:extLst>
              <a:ext uri="{FF2B5EF4-FFF2-40B4-BE49-F238E27FC236}">
                <a16:creationId xmlns:a16="http://schemas.microsoft.com/office/drawing/2014/main" id="{1D6A4D20-3449-9FA6-1D63-48F06E833710}"/>
              </a:ext>
            </a:extLst>
          </p:cNvPr>
          <p:cNvSpPr/>
          <p:nvPr/>
        </p:nvSpPr>
        <p:spPr>
          <a:xfrm>
            <a:off x="9862797" y="2243893"/>
            <a:ext cx="1901853" cy="274320"/>
          </a:xfrm>
          <a:prstGeom prst="rect">
            <a:avLst/>
          </a:prstGeom>
          <a:noFill/>
          <a:ln/>
        </p:spPr>
        <p:txBody>
          <a:bodyPr wrap="square" rtlCol="0" anchor="ctr"/>
          <a:lstStyle/>
          <a:p>
            <a:pPr marL="0" indent="0">
              <a:buNone/>
            </a:pPr>
            <a:r>
              <a:rPr lang="en-US" sz="900" dirty="0">
                <a:solidFill>
                  <a:schemeClr val="accent4">
                    <a:lumMod val="60000"/>
                    <a:lumOff val="40000"/>
                  </a:schemeClr>
                </a:solidFill>
                <a:latin typeface="Arial" pitchFamily="34" charset="0"/>
                <a:cs typeface="Arial" pitchFamily="34" charset="-120"/>
              </a:rPr>
              <a:t>Central scenario : 48M € </a:t>
            </a:r>
            <a:endParaRPr lang="en-US" sz="900" dirty="0">
              <a:solidFill>
                <a:schemeClr val="accent4">
                  <a:lumMod val="60000"/>
                  <a:lumOff val="40000"/>
                </a:schemeClr>
              </a:solidFill>
            </a:endParaRPr>
          </a:p>
        </p:txBody>
      </p:sp>
      <p:sp>
        <p:nvSpPr>
          <p:cNvPr id="62" name="Text 28">
            <a:extLst>
              <a:ext uri="{FF2B5EF4-FFF2-40B4-BE49-F238E27FC236}">
                <a16:creationId xmlns:a16="http://schemas.microsoft.com/office/drawing/2014/main" id="{DFB5597A-9CC2-7E08-C823-53DF31172228}"/>
              </a:ext>
            </a:extLst>
          </p:cNvPr>
          <p:cNvSpPr/>
          <p:nvPr/>
        </p:nvSpPr>
        <p:spPr>
          <a:xfrm>
            <a:off x="4487367" y="5113021"/>
            <a:ext cx="1901853" cy="274320"/>
          </a:xfrm>
          <a:prstGeom prst="rect">
            <a:avLst/>
          </a:prstGeom>
          <a:noFill/>
          <a:ln/>
        </p:spPr>
        <p:txBody>
          <a:bodyPr wrap="square" rtlCol="0" anchor="ctr"/>
          <a:lstStyle/>
          <a:p>
            <a:pPr marL="0" indent="0">
              <a:buNone/>
            </a:pPr>
            <a:r>
              <a:rPr lang="en-US" sz="900" dirty="0">
                <a:solidFill>
                  <a:schemeClr val="accent4">
                    <a:lumMod val="60000"/>
                    <a:lumOff val="40000"/>
                  </a:schemeClr>
                </a:solidFill>
                <a:latin typeface="Arial" pitchFamily="34" charset="0"/>
                <a:cs typeface="Arial" pitchFamily="34" charset="-120"/>
              </a:rPr>
              <a:t>Central scenario : 35M € </a:t>
            </a:r>
            <a:endParaRPr lang="en-US" sz="900" dirty="0">
              <a:solidFill>
                <a:schemeClr val="accent4">
                  <a:lumMod val="60000"/>
                  <a:lumOff val="40000"/>
                </a:schemeClr>
              </a:solidFill>
            </a:endParaRPr>
          </a:p>
        </p:txBody>
      </p:sp>
      <p:sp>
        <p:nvSpPr>
          <p:cNvPr id="64" name="Text 28">
            <a:extLst>
              <a:ext uri="{FF2B5EF4-FFF2-40B4-BE49-F238E27FC236}">
                <a16:creationId xmlns:a16="http://schemas.microsoft.com/office/drawing/2014/main" id="{13098CCB-D361-4882-AC5A-516188A61EAC}"/>
              </a:ext>
            </a:extLst>
          </p:cNvPr>
          <p:cNvSpPr/>
          <p:nvPr/>
        </p:nvSpPr>
        <p:spPr>
          <a:xfrm>
            <a:off x="9854512" y="4183698"/>
            <a:ext cx="1901853" cy="274320"/>
          </a:xfrm>
          <a:prstGeom prst="rect">
            <a:avLst/>
          </a:prstGeom>
          <a:noFill/>
          <a:ln/>
        </p:spPr>
        <p:txBody>
          <a:bodyPr wrap="square" rtlCol="0" anchor="ctr"/>
          <a:lstStyle/>
          <a:p>
            <a:pPr marL="0" indent="0">
              <a:buNone/>
            </a:pPr>
            <a:r>
              <a:rPr lang="en-US" sz="900" dirty="0">
                <a:solidFill>
                  <a:schemeClr val="accent4">
                    <a:lumMod val="60000"/>
                    <a:lumOff val="40000"/>
                  </a:schemeClr>
                </a:solidFill>
                <a:latin typeface="Arial" pitchFamily="34" charset="0"/>
                <a:cs typeface="Arial" pitchFamily="34" charset="-120"/>
              </a:rPr>
              <a:t>Central scenario : 3.36B €* </a:t>
            </a:r>
            <a:endParaRPr lang="en-US" sz="900" dirty="0">
              <a:solidFill>
                <a:schemeClr val="accent4">
                  <a:lumMod val="60000"/>
                  <a:lumOff val="40000"/>
                </a:schemeClr>
              </a:solidFill>
            </a:endParaRPr>
          </a:p>
        </p:txBody>
      </p:sp>
      <p:sp>
        <p:nvSpPr>
          <p:cNvPr id="66" name="Text 28">
            <a:extLst>
              <a:ext uri="{FF2B5EF4-FFF2-40B4-BE49-F238E27FC236}">
                <a16:creationId xmlns:a16="http://schemas.microsoft.com/office/drawing/2014/main" id="{2FEC509B-DD38-840E-089C-4B87C07D3639}"/>
              </a:ext>
            </a:extLst>
          </p:cNvPr>
          <p:cNvSpPr/>
          <p:nvPr/>
        </p:nvSpPr>
        <p:spPr>
          <a:xfrm>
            <a:off x="2666808" y="4196942"/>
            <a:ext cx="1901853" cy="274320"/>
          </a:xfrm>
          <a:prstGeom prst="rect">
            <a:avLst/>
          </a:prstGeom>
          <a:noFill/>
          <a:ln/>
        </p:spPr>
        <p:txBody>
          <a:bodyPr wrap="square" rtlCol="0" anchor="ctr"/>
          <a:lstStyle/>
          <a:p>
            <a:pPr marL="0" indent="0">
              <a:buNone/>
            </a:pPr>
            <a:r>
              <a:rPr lang="en-US" sz="900" dirty="0">
                <a:solidFill>
                  <a:schemeClr val="accent4">
                    <a:lumMod val="60000"/>
                    <a:lumOff val="40000"/>
                  </a:schemeClr>
                </a:solidFill>
                <a:latin typeface="Arial" pitchFamily="34" charset="0"/>
                <a:cs typeface="Arial" pitchFamily="34" charset="-120"/>
              </a:rPr>
              <a:t>Central scenario : 543M €</a:t>
            </a:r>
            <a:endParaRPr lang="en-US" sz="900" dirty="0">
              <a:solidFill>
                <a:schemeClr val="accent4">
                  <a:lumMod val="60000"/>
                  <a:lumOff val="40000"/>
                </a:schemeClr>
              </a:solidFill>
            </a:endParaRPr>
          </a:p>
        </p:txBody>
      </p:sp>
      <p:sp>
        <p:nvSpPr>
          <p:cNvPr id="68" name="Text 28">
            <a:extLst>
              <a:ext uri="{FF2B5EF4-FFF2-40B4-BE49-F238E27FC236}">
                <a16:creationId xmlns:a16="http://schemas.microsoft.com/office/drawing/2014/main" id="{573AF0D3-7850-5015-BDF6-D859877FB9FA}"/>
              </a:ext>
            </a:extLst>
          </p:cNvPr>
          <p:cNvSpPr/>
          <p:nvPr/>
        </p:nvSpPr>
        <p:spPr>
          <a:xfrm>
            <a:off x="9894275" y="5127921"/>
            <a:ext cx="1901853" cy="274320"/>
          </a:xfrm>
          <a:prstGeom prst="rect">
            <a:avLst/>
          </a:prstGeom>
          <a:noFill/>
          <a:ln/>
        </p:spPr>
        <p:txBody>
          <a:bodyPr wrap="square" rtlCol="0" anchor="ctr"/>
          <a:lstStyle/>
          <a:p>
            <a:pPr marL="0" indent="0">
              <a:buNone/>
            </a:pPr>
            <a:r>
              <a:rPr lang="en-US" sz="900" dirty="0">
                <a:solidFill>
                  <a:schemeClr val="accent4">
                    <a:lumMod val="60000"/>
                    <a:lumOff val="40000"/>
                  </a:schemeClr>
                </a:solidFill>
                <a:latin typeface="Arial" pitchFamily="34" charset="0"/>
                <a:cs typeface="Arial" pitchFamily="34" charset="-120"/>
              </a:rPr>
              <a:t>Central scenario : 31M € </a:t>
            </a:r>
            <a:endParaRPr lang="en-US" sz="900" dirty="0">
              <a:solidFill>
                <a:schemeClr val="accent4">
                  <a:lumMod val="60000"/>
                  <a:lumOff val="40000"/>
                </a:schemeClr>
              </a:solidFill>
            </a:endParaRPr>
          </a:p>
        </p:txBody>
      </p:sp>
      <p:sp>
        <p:nvSpPr>
          <p:cNvPr id="59" name="Text 28">
            <a:extLst>
              <a:ext uri="{FF2B5EF4-FFF2-40B4-BE49-F238E27FC236}">
                <a16:creationId xmlns:a16="http://schemas.microsoft.com/office/drawing/2014/main" id="{74AFFF5B-4A11-D82C-6CC8-4D44D8C2FBF1}"/>
              </a:ext>
            </a:extLst>
          </p:cNvPr>
          <p:cNvSpPr/>
          <p:nvPr/>
        </p:nvSpPr>
        <p:spPr>
          <a:xfrm>
            <a:off x="8402026" y="6261699"/>
            <a:ext cx="3127463" cy="274320"/>
          </a:xfrm>
          <a:prstGeom prst="rect">
            <a:avLst/>
          </a:prstGeom>
          <a:noFill/>
          <a:ln/>
        </p:spPr>
        <p:txBody>
          <a:bodyPr wrap="square" rtlCol="0" anchor="ctr"/>
          <a:lstStyle/>
          <a:p>
            <a:pPr marL="0" indent="0" algn="r">
              <a:buNone/>
            </a:pPr>
            <a:r>
              <a:rPr lang="en-US" sz="700" dirty="0">
                <a:solidFill>
                  <a:schemeClr val="accent4">
                    <a:lumMod val="60000"/>
                    <a:lumOff val="40000"/>
                  </a:schemeClr>
                </a:solidFill>
                <a:latin typeface="Arial" pitchFamily="34" charset="0"/>
                <a:cs typeface="Arial" pitchFamily="34" charset="-120"/>
              </a:rPr>
              <a:t>*high-uncertainty proxy</a:t>
            </a:r>
          </a:p>
          <a:p>
            <a:pPr marL="0" indent="0" algn="r">
              <a:buNone/>
            </a:pPr>
            <a:r>
              <a:rPr lang="en-US" sz="700" dirty="0">
                <a:solidFill>
                  <a:schemeClr val="accent4">
                    <a:lumMod val="60000"/>
                    <a:lumOff val="40000"/>
                  </a:schemeClr>
                </a:solidFill>
                <a:latin typeface="Arial" pitchFamily="34" charset="0"/>
                <a:cs typeface="Arial" pitchFamily="34" charset="-120"/>
              </a:rPr>
              <a:t>Modelled provisional annual potential; not a forecast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822960" y="402336"/>
            <a:ext cx="237744" cy="237744"/>
          </a:xfrm>
          <a:prstGeom prst="ellipse">
            <a:avLst/>
          </a:prstGeom>
          <a:ln w="15875">
            <a:solidFill>
              <a:srgbClr val="22D3EE"/>
            </a:solidFill>
            <a:prstDash val="solid"/>
          </a:ln>
        </p:spPr>
        <p:txBody>
          <a:bodyPr/>
          <a:lstStyle/>
          <a:p>
            <a:endParaRPr lang="fr-BE"/>
          </a:p>
        </p:txBody>
      </p:sp>
      <p:sp>
        <p:nvSpPr>
          <p:cNvPr id="3" name="Shape 1"/>
          <p:cNvSpPr/>
          <p:nvPr/>
        </p:nvSpPr>
        <p:spPr>
          <a:xfrm>
            <a:off x="882396" y="461772"/>
            <a:ext cx="118872" cy="118872"/>
          </a:xfrm>
          <a:prstGeom prst="ellipse">
            <a:avLst/>
          </a:prstGeom>
          <a:ln w="15875">
            <a:solidFill>
              <a:srgbClr val="2F5CFF"/>
            </a:solidFill>
            <a:prstDash val="solid"/>
          </a:ln>
        </p:spPr>
        <p:txBody>
          <a:bodyPr/>
          <a:lstStyle/>
          <a:p>
            <a:endParaRPr lang="fr-BE"/>
          </a:p>
        </p:txBody>
      </p:sp>
      <p:sp>
        <p:nvSpPr>
          <p:cNvPr id="4" name="Shape 2"/>
          <p:cNvSpPr/>
          <p:nvPr/>
        </p:nvSpPr>
        <p:spPr>
          <a:xfrm>
            <a:off x="918972" y="498348"/>
            <a:ext cx="45720" cy="45720"/>
          </a:xfrm>
          <a:prstGeom prst="ellipse">
            <a:avLst/>
          </a:prstGeom>
          <a:solidFill>
            <a:srgbClr val="22D3EE"/>
          </a:solidFill>
          <a:ln/>
        </p:spPr>
        <p:txBody>
          <a:bodyPr/>
          <a:lstStyle/>
          <a:p>
            <a:endParaRPr lang="fr-BE"/>
          </a:p>
        </p:txBody>
      </p:sp>
      <p:sp>
        <p:nvSpPr>
          <p:cNvPr id="5" name="Text 3"/>
          <p:cNvSpPr/>
          <p:nvPr/>
        </p:nvSpPr>
        <p:spPr>
          <a:xfrm>
            <a:off x="1152144" y="356616"/>
            <a:ext cx="3657600" cy="292608"/>
          </a:xfrm>
          <a:prstGeom prst="rect">
            <a:avLst/>
          </a:prstGeom>
          <a:noFill/>
          <a:ln/>
        </p:spPr>
        <p:txBody>
          <a:bodyPr wrap="square" rtlCol="0" anchor="ctr"/>
          <a:lstStyle/>
          <a:p>
            <a:pPr marL="0" indent="0">
              <a:buNone/>
            </a:pPr>
            <a:r>
              <a:rPr lang="en-US" sz="1050" b="1" kern="0" spc="160" dirty="0">
                <a:solidFill>
                  <a:srgbClr val="9AA5B8"/>
                </a:solidFill>
                <a:latin typeface="Arial" pitchFamily="34" charset="0"/>
                <a:ea typeface="Arial" pitchFamily="34" charset="-122"/>
                <a:cs typeface="Arial" pitchFamily="34" charset="-120"/>
              </a:rPr>
              <a:t>COBALT DATA SOCIETY</a:t>
            </a:r>
            <a:endParaRPr lang="en-US" sz="1050" dirty="0"/>
          </a:p>
        </p:txBody>
      </p:sp>
      <p:sp>
        <p:nvSpPr>
          <p:cNvPr id="6" name="Text 4"/>
          <p:cNvSpPr/>
          <p:nvPr/>
        </p:nvSpPr>
        <p:spPr>
          <a:xfrm>
            <a:off x="822960" y="841248"/>
            <a:ext cx="9601200" cy="292608"/>
          </a:xfrm>
          <a:prstGeom prst="rect">
            <a:avLst/>
          </a:prstGeom>
          <a:noFill/>
          <a:ln/>
        </p:spPr>
        <p:txBody>
          <a:bodyPr wrap="square" rtlCol="0" anchor="ctr"/>
          <a:lstStyle/>
          <a:p>
            <a:pPr marL="0" indent="0">
              <a:buNone/>
            </a:pPr>
            <a:r>
              <a:rPr lang="en-US" sz="1200" b="1" kern="0" spc="150" dirty="0">
                <a:solidFill>
                  <a:srgbClr val="22D3EE"/>
                </a:solidFill>
                <a:latin typeface="Arial" pitchFamily="34" charset="0"/>
                <a:ea typeface="Arial" pitchFamily="34" charset="-122"/>
                <a:cs typeface="Arial" pitchFamily="34" charset="-120"/>
              </a:rPr>
              <a:t>BUSINESS FINDINGS · 2 OF 3</a:t>
            </a:r>
            <a:endParaRPr lang="en-US" sz="1200" dirty="0"/>
          </a:p>
        </p:txBody>
      </p:sp>
      <p:sp>
        <p:nvSpPr>
          <p:cNvPr id="7" name="Text 5"/>
          <p:cNvSpPr/>
          <p:nvPr/>
        </p:nvSpPr>
        <p:spPr>
          <a:xfrm>
            <a:off x="822960" y="1152144"/>
            <a:ext cx="10515600" cy="77724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Top 5 opportunity spaces </a:t>
            </a:r>
            <a:endParaRPr lang="en-US" sz="2700" dirty="0"/>
          </a:p>
        </p:txBody>
      </p:sp>
      <p:sp>
        <p:nvSpPr>
          <p:cNvPr id="9" name="Shape 7"/>
          <p:cNvSpPr/>
          <p:nvPr/>
        </p:nvSpPr>
        <p:spPr>
          <a:xfrm>
            <a:off x="822960" y="2240280"/>
            <a:ext cx="10561320" cy="1234440"/>
          </a:xfrm>
          <a:prstGeom prst="roundRect">
            <a:avLst>
              <a:gd name="adj" fmla="val 8889"/>
            </a:avLst>
          </a:prstGeom>
          <a:solidFill>
            <a:srgbClr val="0E1A33"/>
          </a:solidFill>
          <a:ln w="15875">
            <a:solidFill>
              <a:srgbClr val="22D3EE"/>
            </a:solidFill>
            <a:prstDash val="solid"/>
          </a:ln>
        </p:spPr>
        <p:txBody>
          <a:bodyPr/>
          <a:lstStyle/>
          <a:p>
            <a:endParaRPr lang="fr-BE"/>
          </a:p>
        </p:txBody>
      </p:sp>
      <p:sp>
        <p:nvSpPr>
          <p:cNvPr id="10" name="Text 8"/>
          <p:cNvSpPr/>
          <p:nvPr/>
        </p:nvSpPr>
        <p:spPr>
          <a:xfrm>
            <a:off x="1097280" y="2368296"/>
            <a:ext cx="1554480" cy="621792"/>
          </a:xfrm>
          <a:prstGeom prst="rect">
            <a:avLst/>
          </a:prstGeom>
          <a:noFill/>
          <a:ln/>
        </p:spPr>
        <p:txBody>
          <a:bodyPr wrap="square" rtlCol="0" anchor="ctr"/>
          <a:lstStyle/>
          <a:p>
            <a:pPr marL="0" indent="0">
              <a:buNone/>
            </a:pPr>
            <a:r>
              <a:rPr lang="en-US" sz="3400" b="1" dirty="0">
                <a:solidFill>
                  <a:srgbClr val="22D3EE"/>
                </a:solidFill>
                <a:latin typeface="Arial" pitchFamily="34" charset="0"/>
                <a:ea typeface="Arial" pitchFamily="34" charset="-122"/>
                <a:cs typeface="Arial" pitchFamily="34" charset="-120"/>
              </a:rPr>
              <a:t>76%</a:t>
            </a:r>
            <a:endParaRPr lang="en-US" sz="3400" dirty="0"/>
          </a:p>
        </p:txBody>
      </p:sp>
      <p:sp>
        <p:nvSpPr>
          <p:cNvPr id="11" name="Text 9"/>
          <p:cNvSpPr/>
          <p:nvPr/>
        </p:nvSpPr>
        <p:spPr>
          <a:xfrm>
            <a:off x="1097280" y="2990088"/>
            <a:ext cx="1737360" cy="256032"/>
          </a:xfrm>
          <a:prstGeom prst="rect">
            <a:avLst/>
          </a:prstGeom>
          <a:noFill/>
          <a:ln/>
        </p:spPr>
        <p:txBody>
          <a:bodyPr wrap="square" rtlCol="0" anchor="ctr"/>
          <a:lstStyle/>
          <a:p>
            <a:pPr marL="0" indent="0">
              <a:buNone/>
            </a:pPr>
            <a:r>
              <a:rPr lang="en-US" sz="850" b="1" kern="0" spc="80" dirty="0">
                <a:solidFill>
                  <a:srgbClr val="677089"/>
                </a:solidFill>
                <a:latin typeface="Arial" pitchFamily="34" charset="0"/>
                <a:ea typeface="Arial" pitchFamily="34" charset="-122"/>
                <a:cs typeface="Arial" pitchFamily="34" charset="-120"/>
              </a:rPr>
              <a:t>ATTRACTIVENESS</a:t>
            </a:r>
            <a:endParaRPr lang="en-US" sz="850" dirty="0"/>
          </a:p>
        </p:txBody>
      </p:sp>
      <p:sp>
        <p:nvSpPr>
          <p:cNvPr id="12" name="Shape 10"/>
          <p:cNvSpPr/>
          <p:nvPr/>
        </p:nvSpPr>
        <p:spPr>
          <a:xfrm>
            <a:off x="2743200" y="2404872"/>
            <a:ext cx="0" cy="868680"/>
          </a:xfrm>
          <a:prstGeom prst="line">
            <a:avLst/>
          </a:prstGeom>
          <a:noFill/>
          <a:ln w="12700">
            <a:solidFill>
              <a:srgbClr val="22304A"/>
            </a:solidFill>
            <a:prstDash val="solid"/>
          </a:ln>
        </p:spPr>
        <p:txBody>
          <a:bodyPr/>
          <a:lstStyle/>
          <a:p>
            <a:endParaRPr lang="fr-BE"/>
          </a:p>
        </p:txBody>
      </p:sp>
      <p:sp>
        <p:nvSpPr>
          <p:cNvPr id="13" name="Text 11"/>
          <p:cNvSpPr/>
          <p:nvPr/>
        </p:nvSpPr>
        <p:spPr>
          <a:xfrm>
            <a:off x="2971800" y="2368296"/>
            <a:ext cx="1554480" cy="621792"/>
          </a:xfrm>
          <a:prstGeom prst="rect">
            <a:avLst/>
          </a:prstGeom>
          <a:noFill/>
          <a:ln/>
        </p:spPr>
        <p:txBody>
          <a:bodyPr wrap="square" rtlCol="0" anchor="ctr"/>
          <a:lstStyle/>
          <a:p>
            <a:pPr marL="0" indent="0">
              <a:buNone/>
            </a:pPr>
            <a:r>
              <a:rPr lang="en-US" sz="3400" b="1" dirty="0">
                <a:solidFill>
                  <a:srgbClr val="F58A3E"/>
                </a:solidFill>
                <a:latin typeface="Arial" pitchFamily="34" charset="0"/>
                <a:ea typeface="Arial" pitchFamily="34" charset="-122"/>
                <a:cs typeface="Arial" pitchFamily="34" charset="-120"/>
              </a:rPr>
              <a:t>75%</a:t>
            </a:r>
            <a:endParaRPr lang="en-US" sz="3400" dirty="0"/>
          </a:p>
        </p:txBody>
      </p:sp>
      <p:sp>
        <p:nvSpPr>
          <p:cNvPr id="14" name="Text 12"/>
          <p:cNvSpPr/>
          <p:nvPr/>
        </p:nvSpPr>
        <p:spPr>
          <a:xfrm>
            <a:off x="2971800" y="2990088"/>
            <a:ext cx="1737360" cy="256032"/>
          </a:xfrm>
          <a:prstGeom prst="rect">
            <a:avLst/>
          </a:prstGeom>
          <a:noFill/>
          <a:ln/>
        </p:spPr>
        <p:txBody>
          <a:bodyPr wrap="square" rtlCol="0" anchor="ctr"/>
          <a:lstStyle/>
          <a:p>
            <a:pPr marL="0" indent="0">
              <a:buNone/>
            </a:pPr>
            <a:r>
              <a:rPr lang="en-US" sz="850" b="1" kern="0" spc="80" dirty="0">
                <a:solidFill>
                  <a:srgbClr val="677089"/>
                </a:solidFill>
                <a:latin typeface="Arial" pitchFamily="34" charset="0"/>
                <a:ea typeface="Arial" pitchFamily="34" charset="-122"/>
                <a:cs typeface="Arial" pitchFamily="34" charset="-120"/>
              </a:rPr>
              <a:t>ORANGE FIT</a:t>
            </a:r>
            <a:endParaRPr lang="en-US" sz="850" dirty="0"/>
          </a:p>
        </p:txBody>
      </p:sp>
      <p:sp>
        <p:nvSpPr>
          <p:cNvPr id="15" name="Shape 13"/>
          <p:cNvSpPr/>
          <p:nvPr/>
        </p:nvSpPr>
        <p:spPr>
          <a:xfrm>
            <a:off x="4617720" y="2404872"/>
            <a:ext cx="0" cy="868680"/>
          </a:xfrm>
          <a:prstGeom prst="line">
            <a:avLst/>
          </a:prstGeom>
          <a:noFill/>
          <a:ln w="12700">
            <a:solidFill>
              <a:srgbClr val="22304A"/>
            </a:solidFill>
            <a:prstDash val="solid"/>
          </a:ln>
        </p:spPr>
        <p:txBody>
          <a:bodyPr/>
          <a:lstStyle/>
          <a:p>
            <a:endParaRPr lang="fr-BE"/>
          </a:p>
        </p:txBody>
      </p:sp>
      <p:sp>
        <p:nvSpPr>
          <p:cNvPr id="16" name="Text 14"/>
          <p:cNvSpPr/>
          <p:nvPr/>
        </p:nvSpPr>
        <p:spPr>
          <a:xfrm>
            <a:off x="4846320" y="2482001"/>
            <a:ext cx="5394960" cy="365760"/>
          </a:xfrm>
          <a:prstGeom prst="rect">
            <a:avLst/>
          </a:prstGeom>
          <a:noFill/>
          <a:ln/>
        </p:spPr>
        <p:txBody>
          <a:bodyPr wrap="square" rtlCol="0" anchor="ctr"/>
          <a:lstStyle/>
          <a:p>
            <a:pPr marL="0" indent="0">
              <a:buNone/>
            </a:pPr>
            <a:r>
              <a:rPr lang="en-US" sz="1550" b="1" dirty="0">
                <a:solidFill>
                  <a:srgbClr val="FFFFFF"/>
                </a:solidFill>
                <a:latin typeface="Arial" pitchFamily="34" charset="0"/>
                <a:ea typeface="Arial" pitchFamily="34" charset="-122"/>
                <a:cs typeface="Arial" pitchFamily="34" charset="-120"/>
              </a:rPr>
              <a:t>Defense × Anomaly Detection × IoT Platforms</a:t>
            </a:r>
            <a:endParaRPr lang="en-US" sz="1550" dirty="0"/>
          </a:p>
        </p:txBody>
      </p:sp>
      <p:sp>
        <p:nvSpPr>
          <p:cNvPr id="18" name="Shape 16"/>
          <p:cNvSpPr/>
          <p:nvPr/>
        </p:nvSpPr>
        <p:spPr>
          <a:xfrm>
            <a:off x="4846320" y="3003208"/>
            <a:ext cx="2039112" cy="237744"/>
          </a:xfrm>
          <a:prstGeom prst="roundRect">
            <a:avLst>
              <a:gd name="adj" fmla="val 50000"/>
            </a:avLst>
          </a:prstGeom>
          <a:ln w="9525">
            <a:solidFill>
              <a:srgbClr val="22D3EE"/>
            </a:solidFill>
            <a:prstDash val="solid"/>
          </a:ln>
        </p:spPr>
        <p:txBody>
          <a:bodyPr/>
          <a:lstStyle/>
          <a:p>
            <a:endParaRPr lang="fr-BE"/>
          </a:p>
        </p:txBody>
      </p:sp>
      <p:sp>
        <p:nvSpPr>
          <p:cNvPr id="19" name="Text 17"/>
          <p:cNvSpPr/>
          <p:nvPr/>
        </p:nvSpPr>
        <p:spPr>
          <a:xfrm>
            <a:off x="4846320" y="3003208"/>
            <a:ext cx="2039112" cy="237744"/>
          </a:xfrm>
          <a:prstGeom prst="rect">
            <a:avLst/>
          </a:prstGeom>
          <a:noFill/>
          <a:ln/>
        </p:spPr>
        <p:txBody>
          <a:bodyPr wrap="square" rtlCol="0" anchor="ctr"/>
          <a:lstStyle/>
          <a:p>
            <a:pPr marL="0" indent="0" algn="ctr">
              <a:buNone/>
            </a:pPr>
            <a:r>
              <a:rPr lang="en-US" sz="750" b="1" kern="0" spc="40" dirty="0">
                <a:solidFill>
                  <a:srgbClr val="22D3EE"/>
                </a:solidFill>
                <a:latin typeface="Arial" pitchFamily="34" charset="0"/>
                <a:ea typeface="Arial" pitchFamily="34" charset="-122"/>
                <a:cs typeface="Arial" pitchFamily="34" charset="-120"/>
              </a:rPr>
              <a:t>TOP PICK — EVERY PERSONA</a:t>
            </a:r>
            <a:endParaRPr lang="en-US" sz="750" dirty="0"/>
          </a:p>
        </p:txBody>
      </p:sp>
      <p:sp>
        <p:nvSpPr>
          <p:cNvPr id="20" name="Shape 18"/>
          <p:cNvSpPr/>
          <p:nvPr/>
        </p:nvSpPr>
        <p:spPr>
          <a:xfrm>
            <a:off x="6995160" y="3003208"/>
            <a:ext cx="1257300" cy="237744"/>
          </a:xfrm>
          <a:prstGeom prst="roundRect">
            <a:avLst>
              <a:gd name="adj" fmla="val 50000"/>
            </a:avLst>
          </a:prstGeom>
          <a:ln w="9525">
            <a:solidFill>
              <a:srgbClr val="3A4A6B"/>
            </a:solidFill>
            <a:prstDash val="solid"/>
          </a:ln>
        </p:spPr>
        <p:txBody>
          <a:bodyPr/>
          <a:lstStyle/>
          <a:p>
            <a:endParaRPr lang="fr-BE"/>
          </a:p>
        </p:txBody>
      </p:sp>
      <p:sp>
        <p:nvSpPr>
          <p:cNvPr id="21" name="Text 19"/>
          <p:cNvSpPr/>
          <p:nvPr/>
        </p:nvSpPr>
        <p:spPr>
          <a:xfrm>
            <a:off x="6995160" y="3003208"/>
            <a:ext cx="1257300" cy="237744"/>
          </a:xfrm>
          <a:prstGeom prst="rect">
            <a:avLst/>
          </a:prstGeom>
          <a:noFill/>
          <a:ln/>
        </p:spPr>
        <p:txBody>
          <a:bodyPr wrap="square" rtlCol="0" anchor="ctr"/>
          <a:lstStyle/>
          <a:p>
            <a:pPr marL="0" indent="0" algn="ctr">
              <a:buNone/>
            </a:pPr>
            <a:r>
              <a:rPr lang="en-US" sz="750" b="1" kern="0" spc="40" dirty="0">
                <a:solidFill>
                  <a:srgbClr val="677089"/>
                </a:solidFill>
                <a:latin typeface="Arial" pitchFamily="34" charset="0"/>
                <a:ea typeface="Arial" pitchFamily="34" charset="-122"/>
                <a:cs typeface="Arial" pitchFamily="34" charset="-120"/>
              </a:rPr>
              <a:t>LATER</a:t>
            </a:r>
            <a:endParaRPr lang="en-US" sz="750" dirty="0"/>
          </a:p>
        </p:txBody>
      </p:sp>
      <p:sp>
        <p:nvSpPr>
          <p:cNvPr id="22" name="Shape 20"/>
          <p:cNvSpPr/>
          <p:nvPr/>
        </p:nvSpPr>
        <p:spPr>
          <a:xfrm>
            <a:off x="8362188" y="3003208"/>
            <a:ext cx="1421892" cy="237744"/>
          </a:xfrm>
          <a:prstGeom prst="roundRect">
            <a:avLst>
              <a:gd name="adj" fmla="val 50000"/>
            </a:avLst>
          </a:prstGeom>
          <a:ln w="9525">
            <a:solidFill>
              <a:srgbClr val="3A4A6B"/>
            </a:solidFill>
            <a:prstDash val="solid"/>
          </a:ln>
        </p:spPr>
        <p:txBody>
          <a:bodyPr/>
          <a:lstStyle/>
          <a:p>
            <a:endParaRPr lang="fr-BE"/>
          </a:p>
        </p:txBody>
      </p:sp>
      <p:sp>
        <p:nvSpPr>
          <p:cNvPr id="23" name="Text 21"/>
          <p:cNvSpPr/>
          <p:nvPr/>
        </p:nvSpPr>
        <p:spPr>
          <a:xfrm>
            <a:off x="8362188" y="3003208"/>
            <a:ext cx="1421892" cy="237744"/>
          </a:xfrm>
          <a:prstGeom prst="rect">
            <a:avLst/>
          </a:prstGeom>
          <a:noFill/>
          <a:ln/>
        </p:spPr>
        <p:txBody>
          <a:bodyPr wrap="square" rtlCol="0" anchor="ctr"/>
          <a:lstStyle/>
          <a:p>
            <a:pPr marL="0" indent="0" algn="ctr">
              <a:buNone/>
            </a:pPr>
            <a:r>
              <a:rPr lang="en-US" sz="750" b="1" kern="0" spc="40" dirty="0">
                <a:solidFill>
                  <a:srgbClr val="677089"/>
                </a:solidFill>
                <a:latin typeface="Arial" pitchFamily="34" charset="0"/>
                <a:ea typeface="Arial" pitchFamily="34" charset="-122"/>
                <a:cs typeface="Arial" pitchFamily="34" charset="-120"/>
              </a:rPr>
              <a:t>5 SIGNALS</a:t>
            </a:r>
            <a:endParaRPr lang="en-US" sz="750" dirty="0"/>
          </a:p>
        </p:txBody>
      </p:sp>
      <p:sp>
        <p:nvSpPr>
          <p:cNvPr id="24" name="Shape 22"/>
          <p:cNvSpPr/>
          <p:nvPr/>
        </p:nvSpPr>
        <p:spPr>
          <a:xfrm>
            <a:off x="9893808" y="3003208"/>
            <a:ext cx="1175004" cy="237744"/>
          </a:xfrm>
          <a:prstGeom prst="roundRect">
            <a:avLst>
              <a:gd name="adj" fmla="val 50000"/>
            </a:avLst>
          </a:prstGeom>
          <a:ln w="9525">
            <a:solidFill>
              <a:srgbClr val="3A4A6B"/>
            </a:solidFill>
            <a:prstDash val="solid"/>
          </a:ln>
        </p:spPr>
        <p:txBody>
          <a:bodyPr/>
          <a:lstStyle/>
          <a:p>
            <a:endParaRPr lang="fr-BE"/>
          </a:p>
        </p:txBody>
      </p:sp>
      <p:sp>
        <p:nvSpPr>
          <p:cNvPr id="25" name="Text 23"/>
          <p:cNvSpPr/>
          <p:nvPr/>
        </p:nvSpPr>
        <p:spPr>
          <a:xfrm>
            <a:off x="9893808" y="3003208"/>
            <a:ext cx="1175004" cy="237744"/>
          </a:xfrm>
          <a:prstGeom prst="rect">
            <a:avLst/>
          </a:prstGeom>
          <a:noFill/>
          <a:ln/>
        </p:spPr>
        <p:txBody>
          <a:bodyPr wrap="square" rtlCol="0" anchor="ctr"/>
          <a:lstStyle/>
          <a:p>
            <a:pPr marL="0" indent="0" algn="ctr">
              <a:buNone/>
            </a:pPr>
            <a:r>
              <a:rPr lang="en-US" sz="750" b="1" kern="0" spc="40" dirty="0">
                <a:solidFill>
                  <a:srgbClr val="677089"/>
                </a:solidFill>
                <a:latin typeface="Arial" pitchFamily="34" charset="0"/>
                <a:ea typeface="Arial" pitchFamily="34" charset="-122"/>
                <a:cs typeface="Arial" pitchFamily="34" charset="-120"/>
              </a:rPr>
              <a:t>NEW</a:t>
            </a:r>
            <a:endParaRPr lang="en-US" sz="750" dirty="0"/>
          </a:p>
        </p:txBody>
      </p:sp>
      <p:sp>
        <p:nvSpPr>
          <p:cNvPr id="26" name="Shape 24"/>
          <p:cNvSpPr/>
          <p:nvPr/>
        </p:nvSpPr>
        <p:spPr>
          <a:xfrm>
            <a:off x="822960" y="3703320"/>
            <a:ext cx="2503170" cy="1691640"/>
          </a:xfrm>
          <a:prstGeom prst="roundRect">
            <a:avLst>
              <a:gd name="adj" fmla="val 5405"/>
            </a:avLst>
          </a:prstGeom>
          <a:solidFill>
            <a:srgbClr val="121A2C"/>
          </a:solidFill>
          <a:ln w="9525">
            <a:solidFill>
              <a:srgbClr val="1B2740"/>
            </a:solidFill>
            <a:prstDash val="solid"/>
          </a:ln>
        </p:spPr>
        <p:txBody>
          <a:bodyPr/>
          <a:lstStyle/>
          <a:p>
            <a:endParaRPr lang="fr-BE"/>
          </a:p>
        </p:txBody>
      </p:sp>
      <p:sp>
        <p:nvSpPr>
          <p:cNvPr id="28" name="Text 26"/>
          <p:cNvSpPr/>
          <p:nvPr/>
        </p:nvSpPr>
        <p:spPr>
          <a:xfrm>
            <a:off x="987552" y="4114800"/>
            <a:ext cx="2173986" cy="310896"/>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Risk scoring</a:t>
            </a:r>
            <a:endParaRPr lang="en-US" sz="1250" dirty="0"/>
          </a:p>
        </p:txBody>
      </p:sp>
      <p:sp>
        <p:nvSpPr>
          <p:cNvPr id="29" name="Text 27"/>
          <p:cNvSpPr/>
          <p:nvPr/>
        </p:nvSpPr>
        <p:spPr>
          <a:xfrm>
            <a:off x="987552" y="4416552"/>
            <a:ext cx="2173986" cy="274320"/>
          </a:xfrm>
          <a:prstGeom prst="rect">
            <a:avLst/>
          </a:prstGeom>
          <a:noFill/>
          <a:ln/>
        </p:spPr>
        <p:txBody>
          <a:bodyPr wrap="square" rtlCol="0" anchor="ctr"/>
          <a:lstStyle/>
          <a:p>
            <a:pPr marL="0" indent="0">
              <a:buNone/>
            </a:pPr>
            <a:r>
              <a:rPr lang="en-US" sz="900" dirty="0">
                <a:solidFill>
                  <a:srgbClr val="9AA5B8"/>
                </a:solidFill>
                <a:latin typeface="Calibri" pitchFamily="34" charset="0"/>
                <a:ea typeface="Calibri" pitchFamily="34" charset="-122"/>
                <a:cs typeface="Calibri" pitchFamily="34" charset="-120"/>
              </a:rPr>
              <a:t>Finance, Banking &amp; Insurance · ML</a:t>
            </a:r>
            <a:endParaRPr lang="en-US" sz="900" dirty="0"/>
          </a:p>
        </p:txBody>
      </p:sp>
      <p:sp>
        <p:nvSpPr>
          <p:cNvPr id="30" name="Text 28"/>
          <p:cNvSpPr/>
          <p:nvPr/>
        </p:nvSpPr>
        <p:spPr>
          <a:xfrm>
            <a:off x="987552" y="4709160"/>
            <a:ext cx="2173986" cy="274320"/>
          </a:xfrm>
          <a:prstGeom prst="rect">
            <a:avLst/>
          </a:prstGeom>
          <a:noFill/>
          <a:ln/>
        </p:spPr>
        <p:txBody>
          <a:bodyPr wrap="square" rtlCol="0" anchor="ctr"/>
          <a:lstStyle/>
          <a:p>
            <a:pPr marL="0" indent="0">
              <a:buNone/>
            </a:pPr>
            <a:r>
              <a:rPr lang="en-US" sz="1100" b="1" dirty="0">
                <a:solidFill>
                  <a:srgbClr val="22D3EE"/>
                </a:solidFill>
              </a:rPr>
              <a:t>61% </a:t>
            </a:r>
            <a:r>
              <a:rPr lang="en-US" sz="850" dirty="0">
                <a:solidFill>
                  <a:srgbClr val="677089"/>
                </a:solidFill>
              </a:rPr>
              <a:t>attract.  </a:t>
            </a:r>
            <a:r>
              <a:rPr lang="en-US" sz="1100" b="1" dirty="0">
                <a:solidFill>
                  <a:srgbClr val="F58A3E"/>
                </a:solidFill>
              </a:rPr>
              <a:t>75% </a:t>
            </a:r>
            <a:r>
              <a:rPr lang="en-US" sz="850" dirty="0">
                <a:solidFill>
                  <a:srgbClr val="677089"/>
                </a:solidFill>
              </a:rPr>
              <a:t>fit</a:t>
            </a:r>
            <a:endParaRPr lang="en-US" sz="1100" dirty="0"/>
          </a:p>
        </p:txBody>
      </p:sp>
      <p:sp>
        <p:nvSpPr>
          <p:cNvPr id="31" name="Shape 29"/>
          <p:cNvSpPr/>
          <p:nvPr/>
        </p:nvSpPr>
        <p:spPr>
          <a:xfrm>
            <a:off x="987552" y="5056632"/>
            <a:ext cx="2173986" cy="0"/>
          </a:xfrm>
          <a:prstGeom prst="line">
            <a:avLst/>
          </a:prstGeom>
          <a:noFill/>
          <a:ln w="9525">
            <a:solidFill>
              <a:srgbClr val="22304A"/>
            </a:solidFill>
            <a:prstDash val="solid"/>
          </a:ln>
        </p:spPr>
        <p:txBody>
          <a:bodyPr/>
          <a:lstStyle/>
          <a:p>
            <a:endParaRPr lang="fr-BE"/>
          </a:p>
        </p:txBody>
      </p:sp>
      <p:sp>
        <p:nvSpPr>
          <p:cNvPr id="33" name="Shape 31"/>
          <p:cNvSpPr/>
          <p:nvPr/>
        </p:nvSpPr>
        <p:spPr>
          <a:xfrm>
            <a:off x="3463290" y="3703320"/>
            <a:ext cx="2503170" cy="1691640"/>
          </a:xfrm>
          <a:prstGeom prst="roundRect">
            <a:avLst>
              <a:gd name="adj" fmla="val 5405"/>
            </a:avLst>
          </a:prstGeom>
          <a:solidFill>
            <a:srgbClr val="121A2C"/>
          </a:solidFill>
          <a:ln w="9525">
            <a:solidFill>
              <a:srgbClr val="1B2740"/>
            </a:solidFill>
            <a:prstDash val="solid"/>
          </a:ln>
        </p:spPr>
        <p:txBody>
          <a:bodyPr/>
          <a:lstStyle/>
          <a:p>
            <a:endParaRPr lang="fr-BE"/>
          </a:p>
        </p:txBody>
      </p:sp>
      <p:sp>
        <p:nvSpPr>
          <p:cNvPr id="34" name="Text 32"/>
          <p:cNvSpPr/>
          <p:nvPr/>
        </p:nvSpPr>
        <p:spPr>
          <a:xfrm>
            <a:off x="3627882" y="3840480"/>
            <a:ext cx="2173986" cy="256032"/>
          </a:xfrm>
          <a:prstGeom prst="rect">
            <a:avLst/>
          </a:prstGeom>
          <a:noFill/>
          <a:ln/>
        </p:spPr>
        <p:txBody>
          <a:bodyPr wrap="square" rtlCol="0" anchor="ctr"/>
          <a:lstStyle/>
          <a:p>
            <a:pPr marL="0" indent="0">
              <a:buNone/>
            </a:pPr>
            <a:r>
              <a:rPr lang="en-US" sz="950" b="1" kern="0" spc="80" dirty="0">
                <a:solidFill>
                  <a:srgbClr val="2F5CFF"/>
                </a:solidFill>
                <a:latin typeface="Arial" pitchFamily="34" charset="0"/>
                <a:ea typeface="Arial" pitchFamily="34" charset="-122"/>
                <a:cs typeface="Arial" pitchFamily="34" charset="-120"/>
              </a:rPr>
              <a:t>RANK 3</a:t>
            </a:r>
            <a:endParaRPr lang="en-US" sz="950" dirty="0"/>
          </a:p>
        </p:txBody>
      </p:sp>
      <p:sp>
        <p:nvSpPr>
          <p:cNvPr id="35" name="Text 33"/>
          <p:cNvSpPr/>
          <p:nvPr/>
        </p:nvSpPr>
        <p:spPr>
          <a:xfrm>
            <a:off x="3627882" y="4114800"/>
            <a:ext cx="2173986" cy="310896"/>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Anomaly detection</a:t>
            </a:r>
            <a:endParaRPr lang="en-US" sz="1250" dirty="0"/>
          </a:p>
        </p:txBody>
      </p:sp>
      <p:sp>
        <p:nvSpPr>
          <p:cNvPr id="36" name="Text 34"/>
          <p:cNvSpPr/>
          <p:nvPr/>
        </p:nvSpPr>
        <p:spPr>
          <a:xfrm>
            <a:off x="3627882" y="4416552"/>
            <a:ext cx="2173986" cy="274320"/>
          </a:xfrm>
          <a:prstGeom prst="rect">
            <a:avLst/>
          </a:prstGeom>
          <a:noFill/>
          <a:ln/>
        </p:spPr>
        <p:txBody>
          <a:bodyPr wrap="square" rtlCol="0" anchor="ctr"/>
          <a:lstStyle/>
          <a:p>
            <a:pPr marL="0" indent="0">
              <a:buNone/>
            </a:pPr>
            <a:r>
              <a:rPr lang="en-US" sz="900" dirty="0">
                <a:solidFill>
                  <a:srgbClr val="9AA5B8"/>
                </a:solidFill>
                <a:latin typeface="Calibri" pitchFamily="34" charset="0"/>
                <a:ea typeface="Calibri" pitchFamily="34" charset="-122"/>
                <a:cs typeface="Calibri" pitchFamily="34" charset="-120"/>
              </a:rPr>
              <a:t>Aerospace · ML</a:t>
            </a:r>
            <a:endParaRPr lang="en-US" sz="900" dirty="0"/>
          </a:p>
        </p:txBody>
      </p:sp>
      <p:sp>
        <p:nvSpPr>
          <p:cNvPr id="37" name="Text 35"/>
          <p:cNvSpPr/>
          <p:nvPr/>
        </p:nvSpPr>
        <p:spPr>
          <a:xfrm>
            <a:off x="3627882" y="4709160"/>
            <a:ext cx="2173986" cy="274320"/>
          </a:xfrm>
          <a:prstGeom prst="rect">
            <a:avLst/>
          </a:prstGeom>
          <a:noFill/>
          <a:ln/>
        </p:spPr>
        <p:txBody>
          <a:bodyPr wrap="square" rtlCol="0" anchor="ctr"/>
          <a:lstStyle/>
          <a:p>
            <a:pPr marL="0" indent="0">
              <a:buNone/>
            </a:pPr>
            <a:r>
              <a:rPr lang="en-US" sz="1100" b="1" dirty="0">
                <a:solidFill>
                  <a:srgbClr val="22D3EE"/>
                </a:solidFill>
              </a:rPr>
              <a:t>51% </a:t>
            </a:r>
            <a:r>
              <a:rPr lang="en-US" sz="850" dirty="0">
                <a:solidFill>
                  <a:srgbClr val="677089"/>
                </a:solidFill>
              </a:rPr>
              <a:t>attract.  </a:t>
            </a:r>
            <a:r>
              <a:rPr lang="en-US" sz="1100" b="1" dirty="0">
                <a:solidFill>
                  <a:srgbClr val="F58A3E"/>
                </a:solidFill>
              </a:rPr>
              <a:t>75% </a:t>
            </a:r>
            <a:r>
              <a:rPr lang="en-US" sz="850" dirty="0">
                <a:solidFill>
                  <a:srgbClr val="677089"/>
                </a:solidFill>
              </a:rPr>
              <a:t>fit</a:t>
            </a:r>
            <a:endParaRPr lang="en-US" sz="1100" dirty="0"/>
          </a:p>
        </p:txBody>
      </p:sp>
      <p:sp>
        <p:nvSpPr>
          <p:cNvPr id="38" name="Shape 36"/>
          <p:cNvSpPr/>
          <p:nvPr/>
        </p:nvSpPr>
        <p:spPr>
          <a:xfrm>
            <a:off x="3627882" y="5056632"/>
            <a:ext cx="2173986" cy="0"/>
          </a:xfrm>
          <a:prstGeom prst="line">
            <a:avLst/>
          </a:prstGeom>
          <a:noFill/>
          <a:ln w="9525">
            <a:solidFill>
              <a:srgbClr val="22304A"/>
            </a:solidFill>
            <a:prstDash val="solid"/>
          </a:ln>
        </p:spPr>
        <p:txBody>
          <a:bodyPr/>
          <a:lstStyle/>
          <a:p>
            <a:endParaRPr lang="fr-BE"/>
          </a:p>
        </p:txBody>
      </p:sp>
      <p:sp>
        <p:nvSpPr>
          <p:cNvPr id="40" name="Shape 38"/>
          <p:cNvSpPr/>
          <p:nvPr/>
        </p:nvSpPr>
        <p:spPr>
          <a:xfrm>
            <a:off x="6103620" y="3703320"/>
            <a:ext cx="2503170" cy="1691640"/>
          </a:xfrm>
          <a:prstGeom prst="roundRect">
            <a:avLst>
              <a:gd name="adj" fmla="val 5405"/>
            </a:avLst>
          </a:prstGeom>
          <a:solidFill>
            <a:srgbClr val="121A2C"/>
          </a:solidFill>
          <a:ln w="9525">
            <a:solidFill>
              <a:srgbClr val="1B2740"/>
            </a:solidFill>
            <a:prstDash val="solid"/>
          </a:ln>
        </p:spPr>
        <p:txBody>
          <a:bodyPr/>
          <a:lstStyle/>
          <a:p>
            <a:endParaRPr lang="fr-BE"/>
          </a:p>
        </p:txBody>
      </p:sp>
      <p:sp>
        <p:nvSpPr>
          <p:cNvPr id="41" name="Text 39"/>
          <p:cNvSpPr/>
          <p:nvPr/>
        </p:nvSpPr>
        <p:spPr>
          <a:xfrm>
            <a:off x="6268212" y="3840480"/>
            <a:ext cx="2173986" cy="256032"/>
          </a:xfrm>
          <a:prstGeom prst="rect">
            <a:avLst/>
          </a:prstGeom>
          <a:noFill/>
          <a:ln/>
        </p:spPr>
        <p:txBody>
          <a:bodyPr wrap="square" rtlCol="0" anchor="ctr"/>
          <a:lstStyle/>
          <a:p>
            <a:pPr marL="0" indent="0">
              <a:buNone/>
            </a:pPr>
            <a:r>
              <a:rPr lang="en-US" sz="950" b="1" kern="0" spc="80" dirty="0">
                <a:solidFill>
                  <a:srgbClr val="2F5CFF"/>
                </a:solidFill>
                <a:latin typeface="Arial" pitchFamily="34" charset="0"/>
                <a:ea typeface="Arial" pitchFamily="34" charset="-122"/>
                <a:cs typeface="Arial" pitchFamily="34" charset="-120"/>
              </a:rPr>
              <a:t>RANK 4</a:t>
            </a:r>
            <a:endParaRPr lang="en-US" sz="950" dirty="0"/>
          </a:p>
        </p:txBody>
      </p:sp>
      <p:sp>
        <p:nvSpPr>
          <p:cNvPr id="42" name="Text 40"/>
          <p:cNvSpPr/>
          <p:nvPr/>
        </p:nvSpPr>
        <p:spPr>
          <a:xfrm>
            <a:off x="6268212" y="4114800"/>
            <a:ext cx="2173986" cy="310896"/>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Anomaly detection</a:t>
            </a:r>
            <a:endParaRPr lang="en-US" sz="1250" dirty="0"/>
          </a:p>
        </p:txBody>
      </p:sp>
      <p:sp>
        <p:nvSpPr>
          <p:cNvPr id="43" name="Text 41"/>
          <p:cNvSpPr/>
          <p:nvPr/>
        </p:nvSpPr>
        <p:spPr>
          <a:xfrm>
            <a:off x="6268212" y="4416552"/>
            <a:ext cx="2173986" cy="274320"/>
          </a:xfrm>
          <a:prstGeom prst="rect">
            <a:avLst/>
          </a:prstGeom>
          <a:noFill/>
          <a:ln/>
        </p:spPr>
        <p:txBody>
          <a:bodyPr wrap="square" rtlCol="0" anchor="ctr"/>
          <a:lstStyle/>
          <a:p>
            <a:pPr marL="0" indent="0">
              <a:buNone/>
            </a:pPr>
            <a:r>
              <a:rPr lang="en-US" sz="900" dirty="0">
                <a:solidFill>
                  <a:srgbClr val="9AA5B8"/>
                </a:solidFill>
                <a:latin typeface="Calibri" pitchFamily="34" charset="0"/>
                <a:ea typeface="Calibri" pitchFamily="34" charset="-122"/>
                <a:cs typeface="Calibri" pitchFamily="34" charset="-120"/>
              </a:rPr>
              <a:t>Defense · Computer Vision</a:t>
            </a:r>
            <a:endParaRPr lang="en-US" sz="900" dirty="0"/>
          </a:p>
        </p:txBody>
      </p:sp>
      <p:sp>
        <p:nvSpPr>
          <p:cNvPr id="44" name="Text 42"/>
          <p:cNvSpPr/>
          <p:nvPr/>
        </p:nvSpPr>
        <p:spPr>
          <a:xfrm>
            <a:off x="6268212" y="4709160"/>
            <a:ext cx="2173986" cy="274320"/>
          </a:xfrm>
          <a:prstGeom prst="rect">
            <a:avLst/>
          </a:prstGeom>
          <a:noFill/>
          <a:ln/>
        </p:spPr>
        <p:txBody>
          <a:bodyPr wrap="square" rtlCol="0" anchor="ctr"/>
          <a:lstStyle/>
          <a:p>
            <a:pPr marL="0" indent="0">
              <a:buNone/>
            </a:pPr>
            <a:r>
              <a:rPr lang="en-US" sz="1100" b="1" dirty="0">
                <a:solidFill>
                  <a:srgbClr val="22D3EE"/>
                </a:solidFill>
              </a:rPr>
              <a:t>65% </a:t>
            </a:r>
            <a:r>
              <a:rPr lang="en-US" sz="850" dirty="0">
                <a:solidFill>
                  <a:srgbClr val="677089"/>
                </a:solidFill>
              </a:rPr>
              <a:t>attract.  </a:t>
            </a:r>
            <a:r>
              <a:rPr lang="en-US" sz="1100" b="1" dirty="0">
                <a:solidFill>
                  <a:srgbClr val="F58A3E"/>
                </a:solidFill>
              </a:rPr>
              <a:t>75% </a:t>
            </a:r>
            <a:r>
              <a:rPr lang="en-US" sz="850" dirty="0">
                <a:solidFill>
                  <a:srgbClr val="677089"/>
                </a:solidFill>
              </a:rPr>
              <a:t>fit</a:t>
            </a:r>
            <a:endParaRPr lang="en-US" sz="1100" dirty="0"/>
          </a:p>
        </p:txBody>
      </p:sp>
      <p:sp>
        <p:nvSpPr>
          <p:cNvPr id="45" name="Shape 43"/>
          <p:cNvSpPr/>
          <p:nvPr/>
        </p:nvSpPr>
        <p:spPr>
          <a:xfrm>
            <a:off x="6268212" y="5056632"/>
            <a:ext cx="2173986" cy="0"/>
          </a:xfrm>
          <a:prstGeom prst="line">
            <a:avLst/>
          </a:prstGeom>
          <a:noFill/>
          <a:ln w="9525">
            <a:solidFill>
              <a:srgbClr val="22304A"/>
            </a:solidFill>
            <a:prstDash val="solid"/>
          </a:ln>
        </p:spPr>
        <p:txBody>
          <a:bodyPr/>
          <a:lstStyle/>
          <a:p>
            <a:endParaRPr lang="fr-BE"/>
          </a:p>
        </p:txBody>
      </p:sp>
      <p:sp>
        <p:nvSpPr>
          <p:cNvPr id="47" name="Shape 45"/>
          <p:cNvSpPr/>
          <p:nvPr/>
        </p:nvSpPr>
        <p:spPr>
          <a:xfrm>
            <a:off x="8743950" y="3703320"/>
            <a:ext cx="2503170" cy="1691640"/>
          </a:xfrm>
          <a:prstGeom prst="roundRect">
            <a:avLst>
              <a:gd name="adj" fmla="val 5405"/>
            </a:avLst>
          </a:prstGeom>
          <a:solidFill>
            <a:srgbClr val="121A2C"/>
          </a:solidFill>
          <a:ln w="9525">
            <a:solidFill>
              <a:srgbClr val="1B2740"/>
            </a:solidFill>
            <a:prstDash val="solid"/>
          </a:ln>
        </p:spPr>
        <p:txBody>
          <a:bodyPr/>
          <a:lstStyle/>
          <a:p>
            <a:endParaRPr lang="fr-BE"/>
          </a:p>
        </p:txBody>
      </p:sp>
      <p:sp>
        <p:nvSpPr>
          <p:cNvPr id="48" name="Text 46"/>
          <p:cNvSpPr/>
          <p:nvPr/>
        </p:nvSpPr>
        <p:spPr>
          <a:xfrm>
            <a:off x="8908542" y="3840480"/>
            <a:ext cx="2173986" cy="256032"/>
          </a:xfrm>
          <a:prstGeom prst="rect">
            <a:avLst/>
          </a:prstGeom>
          <a:noFill/>
          <a:ln/>
        </p:spPr>
        <p:txBody>
          <a:bodyPr wrap="square" rtlCol="0" anchor="ctr"/>
          <a:lstStyle/>
          <a:p>
            <a:pPr marL="0" indent="0">
              <a:buNone/>
            </a:pPr>
            <a:r>
              <a:rPr lang="en-US" sz="950" b="1" kern="0" spc="80" dirty="0">
                <a:solidFill>
                  <a:srgbClr val="2F5CFF"/>
                </a:solidFill>
                <a:latin typeface="Arial" pitchFamily="34" charset="0"/>
                <a:ea typeface="Arial" pitchFamily="34" charset="-122"/>
                <a:cs typeface="Arial" pitchFamily="34" charset="-120"/>
              </a:rPr>
              <a:t>RANK 5</a:t>
            </a:r>
            <a:endParaRPr lang="en-US" sz="950" dirty="0">
              <a:solidFill>
                <a:srgbClr val="2F5CFF"/>
              </a:solidFill>
            </a:endParaRPr>
          </a:p>
        </p:txBody>
      </p:sp>
      <p:sp>
        <p:nvSpPr>
          <p:cNvPr id="49" name="Text 47"/>
          <p:cNvSpPr/>
          <p:nvPr/>
        </p:nvSpPr>
        <p:spPr>
          <a:xfrm>
            <a:off x="8908542" y="4114800"/>
            <a:ext cx="2173986" cy="310896"/>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Anomaly detection</a:t>
            </a:r>
            <a:endParaRPr lang="en-US" sz="1250" dirty="0"/>
          </a:p>
        </p:txBody>
      </p:sp>
      <p:sp>
        <p:nvSpPr>
          <p:cNvPr id="50" name="Text 48"/>
          <p:cNvSpPr/>
          <p:nvPr/>
        </p:nvSpPr>
        <p:spPr>
          <a:xfrm>
            <a:off x="8908542" y="4416552"/>
            <a:ext cx="2173986" cy="274320"/>
          </a:xfrm>
          <a:prstGeom prst="rect">
            <a:avLst/>
          </a:prstGeom>
          <a:noFill/>
          <a:ln/>
        </p:spPr>
        <p:txBody>
          <a:bodyPr wrap="square" rtlCol="0" anchor="ctr"/>
          <a:lstStyle/>
          <a:p>
            <a:pPr marL="0" indent="0">
              <a:buNone/>
            </a:pPr>
            <a:r>
              <a:rPr lang="en-US" sz="900" dirty="0">
                <a:solidFill>
                  <a:srgbClr val="9AA5B8"/>
                </a:solidFill>
                <a:latin typeface="Calibri" pitchFamily="34" charset="0"/>
                <a:ea typeface="Calibri" pitchFamily="34" charset="-122"/>
                <a:cs typeface="Calibri" pitchFamily="34" charset="-120"/>
              </a:rPr>
              <a:t>Public / Gov Sector · ML</a:t>
            </a:r>
            <a:endParaRPr lang="en-US" sz="900" dirty="0"/>
          </a:p>
        </p:txBody>
      </p:sp>
      <p:sp>
        <p:nvSpPr>
          <p:cNvPr id="51" name="Text 49"/>
          <p:cNvSpPr/>
          <p:nvPr/>
        </p:nvSpPr>
        <p:spPr>
          <a:xfrm>
            <a:off x="8908542" y="4709160"/>
            <a:ext cx="2173986" cy="274320"/>
          </a:xfrm>
          <a:prstGeom prst="rect">
            <a:avLst/>
          </a:prstGeom>
          <a:noFill/>
          <a:ln/>
        </p:spPr>
        <p:txBody>
          <a:bodyPr wrap="square" rtlCol="0" anchor="ctr"/>
          <a:lstStyle/>
          <a:p>
            <a:pPr marL="0" indent="0">
              <a:buNone/>
            </a:pPr>
            <a:r>
              <a:rPr lang="en-US" sz="1100" b="1" dirty="0">
                <a:solidFill>
                  <a:srgbClr val="22D3EE"/>
                </a:solidFill>
              </a:rPr>
              <a:t>45% </a:t>
            </a:r>
            <a:r>
              <a:rPr lang="en-US" sz="850" dirty="0">
                <a:solidFill>
                  <a:srgbClr val="677089"/>
                </a:solidFill>
              </a:rPr>
              <a:t>attract.  </a:t>
            </a:r>
            <a:r>
              <a:rPr lang="en-US" sz="1100" b="1" dirty="0">
                <a:solidFill>
                  <a:srgbClr val="F58A3E"/>
                </a:solidFill>
              </a:rPr>
              <a:t>75% </a:t>
            </a:r>
            <a:r>
              <a:rPr lang="en-US" sz="850" dirty="0">
                <a:solidFill>
                  <a:srgbClr val="677089"/>
                </a:solidFill>
              </a:rPr>
              <a:t>fit</a:t>
            </a:r>
            <a:endParaRPr lang="en-US" sz="1100" dirty="0"/>
          </a:p>
        </p:txBody>
      </p:sp>
      <p:sp>
        <p:nvSpPr>
          <p:cNvPr id="52" name="Shape 50"/>
          <p:cNvSpPr/>
          <p:nvPr/>
        </p:nvSpPr>
        <p:spPr>
          <a:xfrm>
            <a:off x="8908542" y="5056632"/>
            <a:ext cx="2173986" cy="0"/>
          </a:xfrm>
          <a:prstGeom prst="line">
            <a:avLst/>
          </a:prstGeom>
          <a:noFill/>
          <a:ln w="9525">
            <a:solidFill>
              <a:srgbClr val="22304A"/>
            </a:solidFill>
            <a:prstDash val="solid"/>
          </a:ln>
        </p:spPr>
        <p:txBody>
          <a:bodyPr/>
          <a:lstStyle/>
          <a:p>
            <a:endParaRPr lang="fr-BE"/>
          </a:p>
        </p:txBody>
      </p:sp>
      <p:sp>
        <p:nvSpPr>
          <p:cNvPr id="54" name="Text 52"/>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677089"/>
                </a:solidFill>
                <a:latin typeface="Calibri" pitchFamily="34" charset="0"/>
                <a:ea typeface="Calibri" pitchFamily="34" charset="-122"/>
                <a:cs typeface="Calibri" pitchFamily="34" charset="-120"/>
              </a:rPr>
              <a:t>Cobalt Data Society · Innovation Radar</a:t>
            </a:r>
            <a:endParaRPr lang="en-US" sz="900" dirty="0"/>
          </a:p>
        </p:txBody>
      </p:sp>
      <p:sp>
        <p:nvSpPr>
          <p:cNvPr id="55" name="Text 53"/>
          <p:cNvSpPr/>
          <p:nvPr/>
        </p:nvSpPr>
        <p:spPr>
          <a:xfrm>
            <a:off x="8534095" y="6473952"/>
            <a:ext cx="3200400" cy="274320"/>
          </a:xfrm>
          <a:prstGeom prst="rect">
            <a:avLst/>
          </a:prstGeom>
          <a:noFill/>
          <a:ln/>
        </p:spPr>
        <p:txBody>
          <a:bodyPr wrap="square" rtlCol="0" anchor="ctr"/>
          <a:lstStyle/>
          <a:p>
            <a:pPr marL="0" indent="0" algn="r">
              <a:buNone/>
            </a:pPr>
            <a:r>
              <a:rPr lang="en-US" sz="900" dirty="0">
                <a:solidFill>
                  <a:srgbClr val="677089"/>
                </a:solidFill>
                <a:latin typeface="Calibri" pitchFamily="34" charset="0"/>
                <a:ea typeface="Calibri" pitchFamily="34" charset="-122"/>
                <a:cs typeface="Calibri" pitchFamily="34" charset="-120"/>
              </a:rPr>
              <a:t>Business findings</a:t>
            </a:r>
            <a:endParaRPr lang="en-US" sz="900" dirty="0"/>
          </a:p>
        </p:txBody>
      </p:sp>
      <p:sp>
        <p:nvSpPr>
          <p:cNvPr id="57" name="Text 32">
            <a:extLst>
              <a:ext uri="{FF2B5EF4-FFF2-40B4-BE49-F238E27FC236}">
                <a16:creationId xmlns:a16="http://schemas.microsoft.com/office/drawing/2014/main" id="{271DB50B-DA6D-58DE-B272-5AFF32F9DFCE}"/>
              </a:ext>
            </a:extLst>
          </p:cNvPr>
          <p:cNvSpPr/>
          <p:nvPr/>
        </p:nvSpPr>
        <p:spPr>
          <a:xfrm>
            <a:off x="8751100" y="219191"/>
            <a:ext cx="3200400" cy="274320"/>
          </a:xfrm>
          <a:prstGeom prst="rect">
            <a:avLst/>
          </a:prstGeom>
          <a:noFill/>
          <a:ln/>
        </p:spPr>
        <p:txBody>
          <a:bodyPr wrap="square" rtlCol="0" anchor="ctr"/>
          <a:lstStyle/>
          <a:p>
            <a:pPr marL="0" indent="0" algn="r">
              <a:buNone/>
            </a:pPr>
            <a:r>
              <a:rPr lang="en-US" sz="900" dirty="0">
                <a:solidFill>
                  <a:srgbClr val="677089"/>
                </a:solidFill>
                <a:latin typeface="Calibri" pitchFamily="34" charset="0"/>
                <a:ea typeface="Calibri" pitchFamily="34" charset="-122"/>
                <a:cs typeface="Calibri" pitchFamily="34" charset="-120"/>
              </a:rPr>
              <a:t>6</a:t>
            </a:r>
            <a:endParaRPr lang="en-US" sz="900" dirty="0"/>
          </a:p>
        </p:txBody>
      </p:sp>
      <p:sp>
        <p:nvSpPr>
          <p:cNvPr id="59" name="Text 32">
            <a:extLst>
              <a:ext uri="{FF2B5EF4-FFF2-40B4-BE49-F238E27FC236}">
                <a16:creationId xmlns:a16="http://schemas.microsoft.com/office/drawing/2014/main" id="{C116FB76-EBD8-7343-7393-786E6ED644F4}"/>
              </a:ext>
            </a:extLst>
          </p:cNvPr>
          <p:cNvSpPr/>
          <p:nvPr/>
        </p:nvSpPr>
        <p:spPr>
          <a:xfrm>
            <a:off x="987552" y="3846178"/>
            <a:ext cx="2173986" cy="256032"/>
          </a:xfrm>
          <a:prstGeom prst="rect">
            <a:avLst/>
          </a:prstGeom>
          <a:noFill/>
          <a:ln/>
        </p:spPr>
        <p:txBody>
          <a:bodyPr wrap="square" rtlCol="0" anchor="ctr"/>
          <a:lstStyle/>
          <a:p>
            <a:pPr marL="0" indent="0">
              <a:buNone/>
            </a:pPr>
            <a:r>
              <a:rPr lang="en-US" sz="950" b="1" kern="0" spc="80" dirty="0">
                <a:solidFill>
                  <a:srgbClr val="2F5CFF"/>
                </a:solidFill>
                <a:latin typeface="Arial" pitchFamily="34" charset="0"/>
                <a:ea typeface="Arial" pitchFamily="34" charset="-122"/>
                <a:cs typeface="Arial" pitchFamily="34" charset="-120"/>
              </a:rPr>
              <a:t>RANK 2</a:t>
            </a:r>
            <a:endParaRPr lang="en-US" sz="950" dirty="0"/>
          </a:p>
        </p:txBody>
      </p:sp>
      <p:sp>
        <p:nvSpPr>
          <p:cNvPr id="27" name="Text 6">
            <a:extLst>
              <a:ext uri="{FF2B5EF4-FFF2-40B4-BE49-F238E27FC236}">
                <a16:creationId xmlns:a16="http://schemas.microsoft.com/office/drawing/2014/main" id="{C0CC20D5-786C-F2CC-E86D-3A8B32A2E86E}"/>
              </a:ext>
            </a:extLst>
          </p:cNvPr>
          <p:cNvSpPr/>
          <p:nvPr/>
        </p:nvSpPr>
        <p:spPr>
          <a:xfrm>
            <a:off x="5162896" y="1412748"/>
            <a:ext cx="2481487" cy="365760"/>
          </a:xfrm>
          <a:prstGeom prst="rect">
            <a:avLst/>
          </a:prstGeom>
          <a:noFill/>
          <a:ln/>
        </p:spPr>
        <p:txBody>
          <a:bodyPr wrap="square" rtlCol="0" anchor="ctr"/>
          <a:lstStyle/>
          <a:p>
            <a:pPr marL="0" indent="0">
              <a:buNone/>
            </a:pPr>
            <a:r>
              <a:rPr lang="en-US" sz="1600" b="1" i="1" dirty="0">
                <a:solidFill>
                  <a:srgbClr val="B9C2D6"/>
                </a:solidFill>
                <a:latin typeface="Calibri" pitchFamily="34" charset="0"/>
                <a:ea typeface="Calibri" pitchFamily="34" charset="-122"/>
                <a:cs typeface="Calibri" pitchFamily="34" charset="-120"/>
              </a:rPr>
              <a:t>Presales</a:t>
            </a:r>
            <a:endParaRPr lang="en-US" sz="1600" b="1" dirty="0"/>
          </a:p>
        </p:txBody>
      </p:sp>
      <p:sp>
        <p:nvSpPr>
          <p:cNvPr id="17" name="Text 28">
            <a:extLst>
              <a:ext uri="{FF2B5EF4-FFF2-40B4-BE49-F238E27FC236}">
                <a16:creationId xmlns:a16="http://schemas.microsoft.com/office/drawing/2014/main" id="{0D857B05-0549-6491-D209-F4E5CF22B94A}"/>
              </a:ext>
            </a:extLst>
          </p:cNvPr>
          <p:cNvSpPr/>
          <p:nvPr/>
        </p:nvSpPr>
        <p:spPr>
          <a:xfrm>
            <a:off x="3549760" y="5074920"/>
            <a:ext cx="1901853" cy="274320"/>
          </a:xfrm>
          <a:prstGeom prst="rect">
            <a:avLst/>
          </a:prstGeom>
          <a:noFill/>
          <a:ln/>
        </p:spPr>
        <p:txBody>
          <a:bodyPr wrap="square" rtlCol="0" anchor="ctr"/>
          <a:lstStyle/>
          <a:p>
            <a:pPr marL="0" indent="0">
              <a:buNone/>
            </a:pPr>
            <a:r>
              <a:rPr lang="en-US" sz="900" dirty="0">
                <a:solidFill>
                  <a:schemeClr val="accent4">
                    <a:lumMod val="60000"/>
                    <a:lumOff val="40000"/>
                  </a:schemeClr>
                </a:solidFill>
                <a:latin typeface="Arial" pitchFamily="34" charset="0"/>
                <a:cs typeface="Arial" pitchFamily="34" charset="-120"/>
              </a:rPr>
              <a:t>Central scenario : 141M € </a:t>
            </a:r>
            <a:endParaRPr lang="en-US" sz="900" dirty="0">
              <a:solidFill>
                <a:schemeClr val="accent4">
                  <a:lumMod val="60000"/>
                  <a:lumOff val="40000"/>
                </a:schemeClr>
              </a:solidFill>
            </a:endParaRPr>
          </a:p>
        </p:txBody>
      </p:sp>
      <p:sp>
        <p:nvSpPr>
          <p:cNvPr id="39" name="Text 28">
            <a:extLst>
              <a:ext uri="{FF2B5EF4-FFF2-40B4-BE49-F238E27FC236}">
                <a16:creationId xmlns:a16="http://schemas.microsoft.com/office/drawing/2014/main" id="{F41236A7-5A4F-A435-83E0-2FA41EB25F07}"/>
              </a:ext>
            </a:extLst>
          </p:cNvPr>
          <p:cNvSpPr/>
          <p:nvPr/>
        </p:nvSpPr>
        <p:spPr>
          <a:xfrm>
            <a:off x="6162107" y="5078225"/>
            <a:ext cx="1901853" cy="274320"/>
          </a:xfrm>
          <a:prstGeom prst="rect">
            <a:avLst/>
          </a:prstGeom>
          <a:noFill/>
          <a:ln/>
        </p:spPr>
        <p:txBody>
          <a:bodyPr wrap="square" rtlCol="0" anchor="ctr"/>
          <a:lstStyle/>
          <a:p>
            <a:pPr marL="0" indent="0">
              <a:buNone/>
            </a:pPr>
            <a:r>
              <a:rPr lang="en-US" sz="900" dirty="0">
                <a:solidFill>
                  <a:schemeClr val="accent4">
                    <a:lumMod val="60000"/>
                    <a:lumOff val="40000"/>
                  </a:schemeClr>
                </a:solidFill>
                <a:latin typeface="Arial" pitchFamily="34" charset="0"/>
                <a:cs typeface="Arial" pitchFamily="34" charset="-120"/>
              </a:rPr>
              <a:t>Central scenario : 31M € </a:t>
            </a:r>
            <a:endParaRPr lang="en-US" sz="900" dirty="0">
              <a:solidFill>
                <a:schemeClr val="accent4">
                  <a:lumMod val="60000"/>
                  <a:lumOff val="40000"/>
                </a:schemeClr>
              </a:solidFill>
            </a:endParaRPr>
          </a:p>
        </p:txBody>
      </p:sp>
      <p:sp>
        <p:nvSpPr>
          <p:cNvPr id="53" name="Text 28">
            <a:extLst>
              <a:ext uri="{FF2B5EF4-FFF2-40B4-BE49-F238E27FC236}">
                <a16:creationId xmlns:a16="http://schemas.microsoft.com/office/drawing/2014/main" id="{A2CB58EC-99C6-559F-E934-47925A17BD73}"/>
              </a:ext>
            </a:extLst>
          </p:cNvPr>
          <p:cNvSpPr/>
          <p:nvPr/>
        </p:nvSpPr>
        <p:spPr>
          <a:xfrm>
            <a:off x="9862797" y="2313473"/>
            <a:ext cx="1901853" cy="274320"/>
          </a:xfrm>
          <a:prstGeom prst="rect">
            <a:avLst/>
          </a:prstGeom>
          <a:noFill/>
          <a:ln/>
        </p:spPr>
        <p:txBody>
          <a:bodyPr wrap="square" rtlCol="0" anchor="ctr"/>
          <a:lstStyle/>
          <a:p>
            <a:pPr marL="0" indent="0">
              <a:buNone/>
            </a:pPr>
            <a:r>
              <a:rPr lang="en-US" sz="900" dirty="0">
                <a:solidFill>
                  <a:schemeClr val="accent4">
                    <a:lumMod val="60000"/>
                    <a:lumOff val="40000"/>
                  </a:schemeClr>
                </a:solidFill>
                <a:latin typeface="Arial" pitchFamily="34" charset="0"/>
                <a:cs typeface="Arial" pitchFamily="34" charset="-120"/>
              </a:rPr>
              <a:t>Central scenario : 48M € </a:t>
            </a:r>
            <a:endParaRPr lang="en-US" sz="900" dirty="0">
              <a:solidFill>
                <a:schemeClr val="accent4">
                  <a:lumMod val="60000"/>
                  <a:lumOff val="40000"/>
                </a:schemeClr>
              </a:solidFill>
            </a:endParaRPr>
          </a:p>
        </p:txBody>
      </p:sp>
      <p:sp>
        <p:nvSpPr>
          <p:cNvPr id="58" name="Text 28">
            <a:extLst>
              <a:ext uri="{FF2B5EF4-FFF2-40B4-BE49-F238E27FC236}">
                <a16:creationId xmlns:a16="http://schemas.microsoft.com/office/drawing/2014/main" id="{FDA6FB95-80A7-43D2-3365-FFA5972A8733}"/>
              </a:ext>
            </a:extLst>
          </p:cNvPr>
          <p:cNvSpPr/>
          <p:nvPr/>
        </p:nvSpPr>
        <p:spPr>
          <a:xfrm>
            <a:off x="904274" y="5043443"/>
            <a:ext cx="1901853" cy="274320"/>
          </a:xfrm>
          <a:prstGeom prst="rect">
            <a:avLst/>
          </a:prstGeom>
          <a:noFill/>
          <a:ln/>
        </p:spPr>
        <p:txBody>
          <a:bodyPr wrap="square" rtlCol="0" anchor="ctr"/>
          <a:lstStyle/>
          <a:p>
            <a:pPr marL="0" indent="0">
              <a:buNone/>
            </a:pPr>
            <a:r>
              <a:rPr lang="en-US" sz="900" dirty="0">
                <a:solidFill>
                  <a:schemeClr val="accent4">
                    <a:lumMod val="60000"/>
                    <a:lumOff val="40000"/>
                  </a:schemeClr>
                </a:solidFill>
                <a:latin typeface="Arial" pitchFamily="34" charset="0"/>
                <a:cs typeface="Arial" pitchFamily="34" charset="-120"/>
              </a:rPr>
              <a:t>Central scenario : 3.15B €*</a:t>
            </a:r>
            <a:endParaRPr lang="en-US" sz="900" dirty="0">
              <a:solidFill>
                <a:schemeClr val="accent4">
                  <a:lumMod val="60000"/>
                  <a:lumOff val="40000"/>
                </a:schemeClr>
              </a:solidFill>
            </a:endParaRPr>
          </a:p>
        </p:txBody>
      </p:sp>
      <p:sp>
        <p:nvSpPr>
          <p:cNvPr id="61" name="Text 28">
            <a:extLst>
              <a:ext uri="{FF2B5EF4-FFF2-40B4-BE49-F238E27FC236}">
                <a16:creationId xmlns:a16="http://schemas.microsoft.com/office/drawing/2014/main" id="{257A97DF-5257-B153-CD90-66E053FCE0B5}"/>
              </a:ext>
            </a:extLst>
          </p:cNvPr>
          <p:cNvSpPr/>
          <p:nvPr/>
        </p:nvSpPr>
        <p:spPr>
          <a:xfrm>
            <a:off x="8848989" y="5061647"/>
            <a:ext cx="2233539" cy="274320"/>
          </a:xfrm>
          <a:prstGeom prst="rect">
            <a:avLst/>
          </a:prstGeom>
          <a:noFill/>
          <a:ln/>
        </p:spPr>
        <p:txBody>
          <a:bodyPr wrap="square" rtlCol="0" anchor="ctr"/>
          <a:lstStyle/>
          <a:p>
            <a:pPr marL="0" indent="0">
              <a:buNone/>
            </a:pPr>
            <a:r>
              <a:rPr lang="en-US" sz="900" dirty="0">
                <a:solidFill>
                  <a:schemeClr val="accent4">
                    <a:lumMod val="60000"/>
                    <a:lumOff val="40000"/>
                  </a:schemeClr>
                </a:solidFill>
                <a:latin typeface="Arial" pitchFamily="34" charset="0"/>
                <a:cs typeface="Arial" pitchFamily="34" charset="-120"/>
              </a:rPr>
              <a:t>Central scenario : need investigations*</a:t>
            </a:r>
            <a:endParaRPr lang="en-US" sz="900" dirty="0">
              <a:solidFill>
                <a:schemeClr val="accent4">
                  <a:lumMod val="60000"/>
                  <a:lumOff val="40000"/>
                </a:schemeClr>
              </a:solidFill>
            </a:endParaRPr>
          </a:p>
        </p:txBody>
      </p:sp>
      <p:sp>
        <p:nvSpPr>
          <p:cNvPr id="32" name="Text 28">
            <a:extLst>
              <a:ext uri="{FF2B5EF4-FFF2-40B4-BE49-F238E27FC236}">
                <a16:creationId xmlns:a16="http://schemas.microsoft.com/office/drawing/2014/main" id="{8410B0CB-352B-AFBB-F11B-DF11405821D4}"/>
              </a:ext>
            </a:extLst>
          </p:cNvPr>
          <p:cNvSpPr/>
          <p:nvPr/>
        </p:nvSpPr>
        <p:spPr>
          <a:xfrm>
            <a:off x="8402026" y="6072855"/>
            <a:ext cx="3127463" cy="274320"/>
          </a:xfrm>
          <a:prstGeom prst="rect">
            <a:avLst/>
          </a:prstGeom>
          <a:noFill/>
          <a:ln/>
        </p:spPr>
        <p:txBody>
          <a:bodyPr wrap="square" rtlCol="0" anchor="ctr"/>
          <a:lstStyle/>
          <a:p>
            <a:pPr marL="0" indent="0" algn="r">
              <a:buNone/>
            </a:pPr>
            <a:r>
              <a:rPr lang="en-US" sz="700" dirty="0">
                <a:solidFill>
                  <a:schemeClr val="accent4">
                    <a:lumMod val="60000"/>
                    <a:lumOff val="40000"/>
                  </a:schemeClr>
                </a:solidFill>
                <a:latin typeface="Arial" pitchFamily="34" charset="0"/>
                <a:cs typeface="Arial" pitchFamily="34" charset="-120"/>
              </a:rPr>
              <a:t>*high-uncertainty proxy</a:t>
            </a:r>
          </a:p>
          <a:p>
            <a:pPr marL="0" indent="0" algn="r">
              <a:buNone/>
            </a:pPr>
            <a:r>
              <a:rPr lang="en-US" sz="700" dirty="0">
                <a:solidFill>
                  <a:schemeClr val="accent4">
                    <a:lumMod val="60000"/>
                    <a:lumOff val="40000"/>
                  </a:schemeClr>
                </a:solidFill>
                <a:latin typeface="Arial" pitchFamily="34" charset="0"/>
                <a:cs typeface="Arial" pitchFamily="34" charset="-120"/>
              </a:rPr>
              <a:t>Modelled provisional annual potential; not a forecast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822960" y="402336"/>
            <a:ext cx="237744" cy="237744"/>
          </a:xfrm>
          <a:prstGeom prst="ellipse">
            <a:avLst/>
          </a:prstGeom>
          <a:ln w="15875">
            <a:solidFill>
              <a:srgbClr val="22D3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882396" y="461772"/>
            <a:ext cx="118872" cy="118872"/>
          </a:xfrm>
          <a:prstGeom prst="ellipse">
            <a:avLst/>
          </a:prstGeom>
          <a:ln w="15875">
            <a:solidFill>
              <a:srgbClr val="2F5C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918972" y="498348"/>
            <a:ext cx="45720" cy="45720"/>
          </a:xfrm>
          <a:prstGeom prst="ellipse">
            <a:avLst/>
          </a:prstGeom>
          <a:solidFill>
            <a:srgbClr val="22D3E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1152144" y="356616"/>
            <a:ext cx="365760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60" normalizeH="0" baseline="0" noProof="0" dirty="0">
                <a:ln>
                  <a:noFill/>
                </a:ln>
                <a:solidFill>
                  <a:srgbClr val="9AA5B8"/>
                </a:solidFill>
                <a:effectLst/>
                <a:uLnTx/>
                <a:uFillTx/>
                <a:latin typeface="Arial" pitchFamily="34" charset="0"/>
                <a:ea typeface="Arial" pitchFamily="34" charset="-122"/>
                <a:cs typeface="Arial" pitchFamily="34" charset="-120"/>
              </a:rPr>
              <a:t>COBALT DATA SOCIETY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22960" y="841248"/>
            <a:ext cx="960120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22D3EE"/>
                </a:solidFill>
                <a:effectLst/>
                <a:uLnTx/>
                <a:uFillTx/>
                <a:latin typeface="Arial" pitchFamily="34" charset="0"/>
                <a:ea typeface="Arial" pitchFamily="34" charset="-122"/>
                <a:cs typeface="Arial" pitchFamily="34" charset="-120"/>
              </a:rPr>
              <a:t>BUSINESS FINDINGS · 3 OF 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822960" y="1152144"/>
            <a:ext cx="10515600" cy="777240"/>
          </a:xfrm>
          <a:prstGeom prst="rect">
            <a:avLst/>
          </a:prstGeom>
          <a:noFill/>
          <a:ln/>
        </p:spPr>
        <p:txBody>
          <a:bodyPr wrap="square" rtlCol="0" anchor="ctr"/>
          <a:lstStyle/>
          <a:p>
            <a:r>
              <a:rPr lang="en-US" sz="2700" b="1" dirty="0">
                <a:solidFill>
                  <a:srgbClr val="FFFFFF"/>
                </a:solidFill>
                <a:latin typeface="Arial" pitchFamily="34" charset="0"/>
                <a:cs typeface="Arial" pitchFamily="34" charset="-120"/>
              </a:rPr>
              <a:t>Time to converge for the long-term strategy </a:t>
            </a:r>
            <a:endParaRPr lang="en-US" sz="2700" dirty="0"/>
          </a:p>
        </p:txBody>
      </p:sp>
      <p:sp>
        <p:nvSpPr>
          <p:cNvPr id="9" name="Shape 7"/>
          <p:cNvSpPr/>
          <p:nvPr/>
        </p:nvSpPr>
        <p:spPr>
          <a:xfrm>
            <a:off x="822960" y="2281428"/>
            <a:ext cx="5189220" cy="4023360"/>
          </a:xfrm>
          <a:prstGeom prst="roundRect">
            <a:avLst>
              <a:gd name="adj" fmla="val 2273"/>
            </a:avLst>
          </a:prstGeom>
          <a:solidFill>
            <a:srgbClr val="121A2C"/>
          </a:solidFill>
          <a:ln w="13970">
            <a:solidFill>
              <a:srgbClr val="22D3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1060704" y="2281428"/>
            <a:ext cx="4713732"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100" normalizeH="0" baseline="0" noProof="0" dirty="0">
                <a:ln>
                  <a:noFill/>
                </a:ln>
                <a:solidFill>
                  <a:srgbClr val="22D3EE"/>
                </a:solidFill>
                <a:effectLst/>
                <a:uLnTx/>
                <a:uFillTx/>
                <a:latin typeface="Arial" pitchFamily="34" charset="0"/>
                <a:ea typeface="Arial" pitchFamily="34" charset="-122"/>
                <a:cs typeface="Arial" pitchFamily="34" charset="-120"/>
              </a:rPr>
              <a:t>STRATEGIST &amp; SALES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042416" y="2647188"/>
            <a:ext cx="4713732"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20" normalizeH="0" baseline="0" noProof="0" dirty="0">
                <a:ln>
                  <a:noFill/>
                </a:ln>
                <a:solidFill>
                  <a:srgbClr val="677089"/>
                </a:solidFill>
                <a:effectLst/>
                <a:uLnTx/>
                <a:uFillTx/>
                <a:latin typeface="Arial" pitchFamily="34" charset="0"/>
                <a:ea typeface="Arial" pitchFamily="34" charset="-122"/>
                <a:cs typeface="Arial" pitchFamily="34" charset="-120"/>
              </a:rPr>
              <a:t>WHAT THE DATA SHOWS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1061698" y="3175254"/>
            <a:ext cx="73152" cy="73152"/>
          </a:xfrm>
          <a:prstGeom prst="ellipse">
            <a:avLst/>
          </a:prstGeom>
          <a:solidFill>
            <a:srgbClr val="22D3E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1225296" y="2949321"/>
            <a:ext cx="4530852" cy="566928"/>
          </a:xfrm>
          <a:prstGeom prst="rect">
            <a:avLst/>
          </a:prstGeom>
          <a:noFill/>
          <a:ln/>
        </p:spPr>
        <p:txBody>
          <a:bodyPr wrap="square" rtlCol="0" anchor="ctr"/>
          <a:lstStyle/>
          <a:p>
            <a:pPr marL="0" marR="0" lvl="0" indent="0" algn="l" defTabSz="914400" rtl="0" eaLnBrk="1" fontAlgn="auto" latinLnBrk="0" hangingPunct="1">
              <a:lnSpc>
                <a:spcPct val="118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3F0"/>
                </a:solidFill>
                <a:effectLst/>
                <a:uLnTx/>
                <a:uFillTx/>
                <a:latin typeface="Calibri" pitchFamily="34" charset="0"/>
                <a:ea typeface="Calibri" pitchFamily="34" charset="-122"/>
                <a:cs typeface="Calibri" pitchFamily="34" charset="-120"/>
              </a:rPr>
              <a:t>Attractiveness stays strong across the board — from 65% up to 76%, no real weak spot in the top 5</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1079986" y="3737610"/>
            <a:ext cx="73152" cy="73152"/>
          </a:xfrm>
          <a:prstGeom prst="ellipse">
            <a:avLst/>
          </a:prstGeom>
          <a:solidFill>
            <a:srgbClr val="22D3E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1243584" y="3557016"/>
            <a:ext cx="4530852" cy="566928"/>
          </a:xfrm>
          <a:prstGeom prst="rect">
            <a:avLst/>
          </a:prstGeom>
          <a:noFill/>
          <a:ln/>
        </p:spPr>
        <p:txBody>
          <a:bodyPr wrap="square" rtlCol="0" anchor="ctr"/>
          <a:lstStyle/>
          <a:p>
            <a:pPr marL="0" marR="0" lvl="0" indent="0" algn="l" defTabSz="914400" rtl="0" eaLnBrk="1" fontAlgn="auto" latinLnBrk="0" hangingPunct="1">
              <a:lnSpc>
                <a:spcPct val="118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3F0"/>
                </a:solidFill>
                <a:effectLst/>
                <a:uLnTx/>
                <a:uFillTx/>
                <a:latin typeface="Calibri" pitchFamily="34" charset="0"/>
                <a:ea typeface="Calibri" pitchFamily="34" charset="-122"/>
                <a:cs typeface="Calibri" pitchFamily="34" charset="-120"/>
              </a:rPr>
              <a:t>Orange Fit is the real variable — anywhere from 25% to 75%, so alignment isn't uniform yet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1078992" y="4361688"/>
            <a:ext cx="73152" cy="73152"/>
          </a:xfrm>
          <a:prstGeom prst="ellipse">
            <a:avLst/>
          </a:prstGeom>
          <a:solidFill>
            <a:srgbClr val="22D3E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1243584" y="4151376"/>
            <a:ext cx="4530852" cy="566928"/>
          </a:xfrm>
          <a:prstGeom prst="rect">
            <a:avLst/>
          </a:prstGeom>
          <a:noFill/>
          <a:ln/>
        </p:spPr>
        <p:txBody>
          <a:bodyPr wrap="square" rtlCol="0" anchor="ctr"/>
          <a:lstStyle/>
          <a:p>
            <a:pPr marL="0" marR="0" lvl="0" indent="0" algn="l" defTabSz="914400" rtl="0" eaLnBrk="1" fontAlgn="auto" latinLnBrk="0" hangingPunct="1">
              <a:lnSpc>
                <a:spcPct val="118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3F0"/>
                </a:solidFill>
                <a:effectLst/>
                <a:uLnTx/>
                <a:uFillTx/>
                <a:latin typeface="Calibri" pitchFamily="34" charset="0"/>
                <a:ea typeface="Calibri" pitchFamily="34" charset="-122"/>
                <a:cs typeface="Calibri" pitchFamily="34" charset="-120"/>
              </a:rPr>
              <a:t>Central-scenario market size: 31M€–543M€ for most picks, plus one flagged outlier near 3.36B€ that needs its own scrutiny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1060704" y="4805172"/>
            <a:ext cx="4713732" cy="0"/>
          </a:xfrm>
          <a:prstGeom prst="line">
            <a:avLst/>
          </a:prstGeom>
          <a:noFill/>
          <a:ln w="9525">
            <a:solidFill>
              <a:srgbClr val="2230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1001268" y="4946904"/>
            <a:ext cx="4860036" cy="1220724"/>
          </a:xfrm>
          <a:prstGeom prst="roundRect">
            <a:avLst>
              <a:gd name="adj" fmla="val 8000"/>
            </a:avLst>
          </a:prstGeom>
          <a:solidFill>
            <a:srgbClr val="0E1A33"/>
          </a:solidFill>
          <a:ln w="9525">
            <a:solidFill>
              <a:srgbClr val="22D3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1115568" y="5062728"/>
            <a:ext cx="4530852"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20" normalizeH="0" baseline="0" noProof="0" dirty="0">
                <a:ln>
                  <a:noFill/>
                </a:ln>
                <a:solidFill>
                  <a:srgbClr val="22D3EE"/>
                </a:solidFill>
                <a:effectLst/>
                <a:uLnTx/>
                <a:uFillTx/>
                <a:latin typeface="Arial" pitchFamily="34" charset="0"/>
                <a:ea typeface="Arial" pitchFamily="34" charset="-122"/>
                <a:cs typeface="Arial" pitchFamily="34" charset="-120"/>
              </a:rPr>
              <a:t>RECOMMENDED MOVE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1152144" y="5449190"/>
            <a:ext cx="4530852" cy="548640"/>
          </a:xfrm>
          <a:prstGeom prst="rect">
            <a:avLst/>
          </a:prstGeom>
          <a:noFill/>
          <a:ln/>
        </p:spPr>
        <p:txBody>
          <a:bodyPr wrap="square"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Prioritize Orange’s strongest opportunities, then validate their fit, buyer need, budget and timing with named accounts.</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6195060" y="2281428"/>
            <a:ext cx="5189220" cy="4023360"/>
          </a:xfrm>
          <a:prstGeom prst="roundRect">
            <a:avLst>
              <a:gd name="adj" fmla="val 2273"/>
            </a:avLst>
          </a:prstGeom>
          <a:solidFill>
            <a:srgbClr val="121A2C"/>
          </a:solidFill>
          <a:ln w="13970">
            <a:solidFill>
              <a:srgbClr val="F58A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6432804" y="2281428"/>
            <a:ext cx="4713732"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100" normalizeH="0" baseline="0" noProof="0" dirty="0">
                <a:ln>
                  <a:noFill/>
                </a:ln>
                <a:solidFill>
                  <a:srgbClr val="F58A3E"/>
                </a:solidFill>
                <a:effectLst/>
                <a:uLnTx/>
                <a:uFillTx/>
                <a:latin typeface="Arial" pitchFamily="34" charset="0"/>
                <a:ea typeface="Arial" pitchFamily="34" charset="-122"/>
                <a:cs typeface="Arial" pitchFamily="34" charset="-120"/>
              </a:rPr>
              <a:t>PRESALES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432804" y="2661302"/>
            <a:ext cx="4713732"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20" normalizeH="0" baseline="0" noProof="0" dirty="0">
                <a:ln>
                  <a:noFill/>
                </a:ln>
                <a:solidFill>
                  <a:srgbClr val="677089"/>
                </a:solidFill>
                <a:effectLst/>
                <a:uLnTx/>
                <a:uFillTx/>
                <a:latin typeface="Arial" pitchFamily="34" charset="0"/>
                <a:ea typeface="Arial" pitchFamily="34" charset="-122"/>
                <a:cs typeface="Arial" pitchFamily="34" charset="-120"/>
              </a:rPr>
              <a:t>WHAT THE DATA SHOWS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6432042" y="3159252"/>
            <a:ext cx="73152" cy="73152"/>
          </a:xfrm>
          <a:prstGeom prst="ellipse">
            <a:avLst/>
          </a:prstGeom>
          <a:solidFill>
            <a:srgbClr val="F58A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6615684" y="2908190"/>
            <a:ext cx="4530852" cy="566928"/>
          </a:xfrm>
          <a:prstGeom prst="rect">
            <a:avLst/>
          </a:prstGeom>
          <a:noFill/>
          <a:ln/>
        </p:spPr>
        <p:txBody>
          <a:bodyPr wrap="square" rtlCol="0" anchor="ctr"/>
          <a:lstStyle/>
          <a:p>
            <a:pPr marL="0" marR="0" lvl="0" indent="0" algn="l" defTabSz="914400" rtl="0" eaLnBrk="1" fontAlgn="auto" latinLnBrk="0" hangingPunct="1">
              <a:lnSpc>
                <a:spcPct val="118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3F0"/>
                </a:solidFill>
                <a:effectLst/>
                <a:uLnTx/>
                <a:uFillTx/>
                <a:latin typeface="Calibri" pitchFamily="34" charset="0"/>
                <a:ea typeface="Calibri" pitchFamily="34" charset="-122"/>
                <a:cs typeface="Calibri" pitchFamily="34" charset="-120"/>
              </a:rPr>
              <a:t>Orange Fit is rock-solid — every single top-5 pick already sits at 75%</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6431280" y="3741420"/>
            <a:ext cx="73152" cy="73152"/>
          </a:xfrm>
          <a:prstGeom prst="ellipse">
            <a:avLst/>
          </a:prstGeom>
          <a:solidFill>
            <a:srgbClr val="F58A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6615684" y="3480452"/>
            <a:ext cx="4530852" cy="566928"/>
          </a:xfrm>
          <a:prstGeom prst="rect">
            <a:avLst/>
          </a:prstGeom>
          <a:noFill/>
          <a:ln/>
        </p:spPr>
        <p:txBody>
          <a:bodyPr wrap="square" rtlCol="0" anchor="ctr"/>
          <a:lstStyle/>
          <a:p>
            <a:pPr marL="0" marR="0" lvl="0" indent="0" algn="l" defTabSz="914400" rtl="0" eaLnBrk="1" fontAlgn="auto" latinLnBrk="0" hangingPunct="1">
              <a:lnSpc>
                <a:spcPct val="118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3F0"/>
                </a:solidFill>
                <a:effectLst/>
                <a:uLnTx/>
                <a:uFillTx/>
                <a:latin typeface="Calibri" pitchFamily="34" charset="0"/>
                <a:ea typeface="Calibri" pitchFamily="34" charset="-122"/>
                <a:cs typeface="Calibri" pitchFamily="34" charset="-120"/>
              </a:rPr>
              <a:t>Attractiveness is the real variable — from 45% up to 76% across the five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1"/>
          <p:cNvSpPr/>
          <p:nvPr/>
        </p:nvSpPr>
        <p:spPr>
          <a:xfrm>
            <a:off x="6431280" y="4361688"/>
            <a:ext cx="73152" cy="73152"/>
          </a:xfrm>
          <a:prstGeom prst="ellipse">
            <a:avLst/>
          </a:prstGeom>
          <a:solidFill>
            <a:srgbClr val="F58A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6615684" y="4104894"/>
            <a:ext cx="4530852" cy="566928"/>
          </a:xfrm>
          <a:prstGeom prst="rect">
            <a:avLst/>
          </a:prstGeom>
          <a:noFill/>
          <a:ln/>
        </p:spPr>
        <p:txBody>
          <a:bodyPr wrap="square" rtlCol="0" anchor="ctr"/>
          <a:lstStyle/>
          <a:p>
            <a:pPr marL="0" marR="0" lvl="0" indent="0" algn="l" defTabSz="914400" rtl="0" eaLnBrk="1" fontAlgn="auto" latinLnBrk="0" hangingPunct="1">
              <a:lnSpc>
                <a:spcPct val="118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3F0"/>
                </a:solidFill>
                <a:effectLst/>
                <a:uLnTx/>
                <a:uFillTx/>
                <a:latin typeface="Calibri" pitchFamily="34" charset="0"/>
                <a:ea typeface="Calibri" pitchFamily="34" charset="-122"/>
                <a:cs typeface="Calibri" pitchFamily="34" charset="-120"/>
              </a:rPr>
              <a:t>Central-scenario market size is already sized for 4 of 5 picks (31M€ to a flagged 3.15B€ outlier) — only Public Sector still needs investigating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6467856" y="4805172"/>
            <a:ext cx="4713732" cy="0"/>
          </a:xfrm>
          <a:prstGeom prst="line">
            <a:avLst/>
          </a:prstGeom>
          <a:noFill/>
          <a:ln w="9525">
            <a:solidFill>
              <a:srgbClr val="2230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p:cNvSpPr/>
          <p:nvPr/>
        </p:nvSpPr>
        <p:spPr>
          <a:xfrm>
            <a:off x="6359652" y="4919870"/>
            <a:ext cx="4860036" cy="1247758"/>
          </a:xfrm>
          <a:prstGeom prst="roundRect">
            <a:avLst>
              <a:gd name="adj" fmla="val 8000"/>
            </a:avLst>
          </a:prstGeom>
          <a:solidFill>
            <a:srgbClr val="0E1A33"/>
          </a:solidFill>
          <a:ln w="9525">
            <a:solidFill>
              <a:srgbClr val="F58A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p:nvPr/>
        </p:nvSpPr>
        <p:spPr>
          <a:xfrm>
            <a:off x="6486144" y="5027113"/>
            <a:ext cx="4530852"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20" normalizeH="0" baseline="0" noProof="0" dirty="0">
                <a:ln>
                  <a:noFill/>
                </a:ln>
                <a:solidFill>
                  <a:srgbClr val="F58A3E"/>
                </a:solidFill>
                <a:effectLst/>
                <a:uLnTx/>
                <a:uFillTx/>
                <a:latin typeface="Arial" pitchFamily="34" charset="0"/>
                <a:ea typeface="Arial" pitchFamily="34" charset="-122"/>
                <a:cs typeface="Arial" pitchFamily="34" charset="-120"/>
              </a:rPr>
              <a:t>RECOMMENDED MOVE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6524244" y="5336320"/>
            <a:ext cx="4530852" cy="548640"/>
          </a:xfrm>
          <a:prstGeom prst="rect">
            <a:avLst/>
          </a:prstGeom>
          <a:noFill/>
          <a:ln/>
        </p:spPr>
        <p:txBody>
          <a:bodyPr wrap="square"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Start building RFP-ready proof points today — capability was never the open question.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457200" y="6473952"/>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77089"/>
                </a:solidFill>
                <a:effectLst/>
                <a:uLnTx/>
                <a:uFillTx/>
                <a:latin typeface="Calibri" pitchFamily="34" charset="0"/>
                <a:ea typeface="Calibri" pitchFamily="34" charset="-122"/>
                <a:cs typeface="Calibri" pitchFamily="34" charset="-120"/>
              </a:rPr>
              <a:t>Cobalt Data Society · Innovation Radar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8534095" y="6473952"/>
            <a:ext cx="3200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77089"/>
                </a:solidFill>
                <a:effectLst/>
                <a:uLnTx/>
                <a:uFillTx/>
                <a:latin typeface="Calibri" pitchFamily="34" charset="0"/>
                <a:ea typeface="Calibri" pitchFamily="34" charset="-122"/>
                <a:cs typeface="Calibri" pitchFamily="34" charset="-120"/>
              </a:rPr>
              <a:t>Business findings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6">
            <a:extLst>
              <a:ext uri="{FF2B5EF4-FFF2-40B4-BE49-F238E27FC236}">
                <a16:creationId xmlns:a16="http://schemas.microsoft.com/office/drawing/2014/main" id="{D4A439E4-B2EA-B29D-C7BF-5F6DA60EC9A1}"/>
              </a:ext>
            </a:extLst>
          </p:cNvPr>
          <p:cNvSpPr/>
          <p:nvPr/>
        </p:nvSpPr>
        <p:spPr>
          <a:xfrm>
            <a:off x="822960" y="1755648"/>
            <a:ext cx="10561320" cy="365760"/>
          </a:xfrm>
          <a:prstGeom prst="rect">
            <a:avLst/>
          </a:prstGeom>
          <a:noFill/>
          <a:ln/>
        </p:spPr>
        <p:txBody>
          <a:bodyPr wrap="square" rtlCol="0" anchor="ctr"/>
          <a:lstStyle/>
          <a:p>
            <a:pPr marL="0" indent="0">
              <a:buNone/>
            </a:pPr>
            <a:r>
              <a:rPr lang="en-US" sz="1300" i="1" dirty="0">
                <a:solidFill>
                  <a:srgbClr val="B9C2D6"/>
                </a:solidFill>
                <a:latin typeface="Calibri" pitchFamily="34" charset="0"/>
                <a:ea typeface="Calibri" pitchFamily="34" charset="-122"/>
                <a:cs typeface="Calibri" pitchFamily="34" charset="-120"/>
              </a:rPr>
              <a:t>Strategist and Sales read the same radar almost identically — so they get one shared move. Presales gets its own.</a:t>
            </a:r>
            <a:endParaRPr lang="en-US" sz="1300" dirty="0"/>
          </a:p>
        </p:txBody>
      </p:sp>
      <p:sp>
        <p:nvSpPr>
          <p:cNvPr id="44" name="Text 32">
            <a:extLst>
              <a:ext uri="{FF2B5EF4-FFF2-40B4-BE49-F238E27FC236}">
                <a16:creationId xmlns:a16="http://schemas.microsoft.com/office/drawing/2014/main" id="{0228A467-ED91-1C9A-22AC-5803ACEF5A69}"/>
              </a:ext>
            </a:extLst>
          </p:cNvPr>
          <p:cNvSpPr/>
          <p:nvPr/>
        </p:nvSpPr>
        <p:spPr>
          <a:xfrm>
            <a:off x="8751100" y="219191"/>
            <a:ext cx="3200400" cy="274320"/>
          </a:xfrm>
          <a:prstGeom prst="rect">
            <a:avLst/>
          </a:prstGeom>
          <a:noFill/>
          <a:ln/>
        </p:spPr>
        <p:txBody>
          <a:bodyPr wrap="square" rtlCol="0" anchor="ctr"/>
          <a:lstStyle/>
          <a:p>
            <a:pPr marL="0" indent="0" algn="r">
              <a:buNone/>
            </a:pPr>
            <a:r>
              <a:rPr lang="en-US" sz="900" dirty="0">
                <a:solidFill>
                  <a:srgbClr val="67708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822960" y="402336"/>
            <a:ext cx="237744" cy="237744"/>
          </a:xfrm>
          <a:prstGeom prst="ellipse">
            <a:avLst/>
          </a:prstGeom>
          <a:ln w="15875">
            <a:solidFill>
              <a:srgbClr val="22D3EE"/>
            </a:solidFill>
            <a:prstDash val="solid"/>
          </a:ln>
        </p:spPr>
        <p:txBody>
          <a:bodyPr/>
          <a:lstStyle/>
          <a:p>
            <a:endParaRPr lang="fr-BE"/>
          </a:p>
        </p:txBody>
      </p:sp>
      <p:sp>
        <p:nvSpPr>
          <p:cNvPr id="3" name="Shape 1"/>
          <p:cNvSpPr/>
          <p:nvPr/>
        </p:nvSpPr>
        <p:spPr>
          <a:xfrm>
            <a:off x="882396" y="461772"/>
            <a:ext cx="118872" cy="118872"/>
          </a:xfrm>
          <a:prstGeom prst="ellipse">
            <a:avLst/>
          </a:prstGeom>
          <a:ln w="15875">
            <a:solidFill>
              <a:srgbClr val="2F5CFF"/>
            </a:solidFill>
            <a:prstDash val="solid"/>
          </a:ln>
        </p:spPr>
        <p:txBody>
          <a:bodyPr/>
          <a:lstStyle/>
          <a:p>
            <a:endParaRPr lang="fr-BE"/>
          </a:p>
        </p:txBody>
      </p:sp>
      <p:sp>
        <p:nvSpPr>
          <p:cNvPr id="4" name="Shape 2"/>
          <p:cNvSpPr/>
          <p:nvPr/>
        </p:nvSpPr>
        <p:spPr>
          <a:xfrm>
            <a:off x="918972" y="498348"/>
            <a:ext cx="45720" cy="45720"/>
          </a:xfrm>
          <a:prstGeom prst="ellipse">
            <a:avLst/>
          </a:prstGeom>
          <a:solidFill>
            <a:srgbClr val="22D3EE"/>
          </a:solidFill>
          <a:ln/>
        </p:spPr>
        <p:txBody>
          <a:bodyPr/>
          <a:lstStyle/>
          <a:p>
            <a:endParaRPr lang="fr-BE"/>
          </a:p>
        </p:txBody>
      </p:sp>
      <p:sp>
        <p:nvSpPr>
          <p:cNvPr id="5" name="Text 3"/>
          <p:cNvSpPr/>
          <p:nvPr/>
        </p:nvSpPr>
        <p:spPr>
          <a:xfrm>
            <a:off x="1152144" y="356616"/>
            <a:ext cx="3657600" cy="292608"/>
          </a:xfrm>
          <a:prstGeom prst="rect">
            <a:avLst/>
          </a:prstGeom>
          <a:noFill/>
          <a:ln/>
        </p:spPr>
        <p:txBody>
          <a:bodyPr wrap="square" rtlCol="0" anchor="ctr"/>
          <a:lstStyle/>
          <a:p>
            <a:pPr marL="0" indent="0">
              <a:buNone/>
            </a:pPr>
            <a:r>
              <a:rPr lang="en-US" sz="1050" b="1" kern="0" spc="160" dirty="0">
                <a:solidFill>
                  <a:srgbClr val="9AA5B8"/>
                </a:solidFill>
                <a:latin typeface="Arial" pitchFamily="34" charset="0"/>
                <a:ea typeface="Arial" pitchFamily="34" charset="-122"/>
                <a:cs typeface="Arial" pitchFamily="34" charset="-120"/>
              </a:rPr>
              <a:t>COBALT DATA SOCIETY</a:t>
            </a:r>
            <a:endParaRPr lang="en-US" sz="1050" dirty="0"/>
          </a:p>
        </p:txBody>
      </p:sp>
      <p:sp>
        <p:nvSpPr>
          <p:cNvPr id="6" name="Text 4"/>
          <p:cNvSpPr/>
          <p:nvPr/>
        </p:nvSpPr>
        <p:spPr>
          <a:xfrm>
            <a:off x="822960" y="841248"/>
            <a:ext cx="9601200" cy="292608"/>
          </a:xfrm>
          <a:prstGeom prst="rect">
            <a:avLst/>
          </a:prstGeom>
          <a:noFill/>
          <a:ln/>
        </p:spPr>
        <p:txBody>
          <a:bodyPr wrap="square" rtlCol="0" anchor="ctr"/>
          <a:lstStyle/>
          <a:p>
            <a:pPr marL="0" indent="0">
              <a:buNone/>
            </a:pPr>
            <a:r>
              <a:rPr lang="en-US" sz="1200" b="1" kern="0" spc="150" dirty="0">
                <a:solidFill>
                  <a:srgbClr val="22D3EE"/>
                </a:solidFill>
                <a:latin typeface="Arial" pitchFamily="34" charset="0"/>
                <a:ea typeface="Arial" pitchFamily="34" charset="-122"/>
                <a:cs typeface="Arial" pitchFamily="34" charset="-120"/>
              </a:rPr>
              <a:t>POTENTIALS &amp; NEXT STEPS</a:t>
            </a:r>
            <a:endParaRPr lang="en-US" sz="1200" dirty="0"/>
          </a:p>
        </p:txBody>
      </p:sp>
      <p:sp>
        <p:nvSpPr>
          <p:cNvPr id="7" name="Text 5"/>
          <p:cNvSpPr/>
          <p:nvPr/>
        </p:nvSpPr>
        <p:spPr>
          <a:xfrm>
            <a:off x="822960" y="1152144"/>
            <a:ext cx="10515600" cy="77724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What's not there yet — and how we'll close it</a:t>
            </a:r>
            <a:endParaRPr lang="en-US" sz="2700" dirty="0"/>
          </a:p>
        </p:txBody>
      </p:sp>
      <p:sp>
        <p:nvSpPr>
          <p:cNvPr id="8" name="Shape 6"/>
          <p:cNvSpPr/>
          <p:nvPr/>
        </p:nvSpPr>
        <p:spPr>
          <a:xfrm>
            <a:off x="822960" y="2057400"/>
            <a:ext cx="2551176" cy="3063240"/>
          </a:xfrm>
          <a:prstGeom prst="roundRect">
            <a:avLst>
              <a:gd name="adj" fmla="val 3584"/>
            </a:avLst>
          </a:prstGeom>
          <a:solidFill>
            <a:srgbClr val="121A2C"/>
          </a:solidFill>
          <a:ln w="9525">
            <a:solidFill>
              <a:srgbClr val="1B2740"/>
            </a:solidFill>
            <a:prstDash val="solid"/>
          </a:ln>
        </p:spPr>
        <p:txBody>
          <a:bodyPr/>
          <a:lstStyle/>
          <a:p>
            <a:endParaRPr lang="fr-BE"/>
          </a:p>
        </p:txBody>
      </p:sp>
      <p:sp>
        <p:nvSpPr>
          <p:cNvPr id="9" name="Text 7"/>
          <p:cNvSpPr/>
          <p:nvPr/>
        </p:nvSpPr>
        <p:spPr>
          <a:xfrm>
            <a:off x="1005840" y="2212848"/>
            <a:ext cx="2185416" cy="274320"/>
          </a:xfrm>
          <a:prstGeom prst="rect">
            <a:avLst/>
          </a:prstGeom>
          <a:noFill/>
          <a:ln/>
        </p:spPr>
        <p:txBody>
          <a:bodyPr wrap="square" rtlCol="0" anchor="ctr"/>
          <a:lstStyle/>
          <a:p>
            <a:pPr marL="0" indent="0">
              <a:buNone/>
            </a:pPr>
            <a:r>
              <a:rPr lang="en-US" sz="950" b="1" kern="0" spc="100" dirty="0">
                <a:solidFill>
                  <a:srgbClr val="677089"/>
                </a:solidFill>
                <a:latin typeface="Arial" pitchFamily="34" charset="0"/>
                <a:ea typeface="Arial" pitchFamily="34" charset="-122"/>
                <a:cs typeface="Arial" pitchFamily="34" charset="-120"/>
              </a:rPr>
              <a:t>POTENTIAL</a:t>
            </a:r>
            <a:endParaRPr lang="en-US" sz="950" dirty="0"/>
          </a:p>
        </p:txBody>
      </p:sp>
      <p:sp>
        <p:nvSpPr>
          <p:cNvPr id="10" name="Text 8"/>
          <p:cNvSpPr/>
          <p:nvPr/>
        </p:nvSpPr>
        <p:spPr>
          <a:xfrm>
            <a:off x="1005840" y="2487168"/>
            <a:ext cx="2185416" cy="1234440"/>
          </a:xfrm>
          <a:prstGeom prst="rect">
            <a:avLst/>
          </a:prstGeom>
          <a:noFill/>
          <a:ln/>
        </p:spPr>
        <p:txBody>
          <a:bodyPr wrap="square" rtlCol="0" anchor="ctr"/>
          <a:lstStyle/>
          <a:p>
            <a:pPr marL="0" indent="0" algn="just">
              <a:lnSpc>
                <a:spcPct val="120000"/>
              </a:lnSpc>
              <a:buNone/>
            </a:pPr>
            <a:r>
              <a:rPr lang="en-US" sz="1100" dirty="0">
                <a:solidFill>
                  <a:srgbClr val="C3CBDB"/>
                </a:solidFill>
                <a:latin typeface="Calibri" pitchFamily="34" charset="0"/>
                <a:ea typeface="Calibri" pitchFamily="34" charset="-122"/>
                <a:cs typeface="Calibri" pitchFamily="34" charset="-120"/>
              </a:rPr>
              <a:t>The full market size isn't showing yet — an important number we hit a technical issue on</a:t>
            </a:r>
            <a:endParaRPr lang="en-US" sz="1100" dirty="0"/>
          </a:p>
        </p:txBody>
      </p:sp>
      <p:sp>
        <p:nvSpPr>
          <p:cNvPr id="11" name="Shape 9"/>
          <p:cNvSpPr/>
          <p:nvPr/>
        </p:nvSpPr>
        <p:spPr>
          <a:xfrm>
            <a:off x="1005840" y="3840480"/>
            <a:ext cx="2185416" cy="0"/>
          </a:xfrm>
          <a:prstGeom prst="line">
            <a:avLst/>
          </a:prstGeom>
          <a:noFill/>
          <a:ln w="9525">
            <a:solidFill>
              <a:srgbClr val="22304A"/>
            </a:solidFill>
            <a:prstDash val="solid"/>
          </a:ln>
        </p:spPr>
        <p:txBody>
          <a:bodyPr/>
          <a:lstStyle/>
          <a:p>
            <a:endParaRPr lang="fr-BE"/>
          </a:p>
        </p:txBody>
      </p:sp>
      <p:sp>
        <p:nvSpPr>
          <p:cNvPr id="12" name="Text 10"/>
          <p:cNvSpPr/>
          <p:nvPr/>
        </p:nvSpPr>
        <p:spPr>
          <a:xfrm>
            <a:off x="1005840" y="3977640"/>
            <a:ext cx="2185416" cy="274320"/>
          </a:xfrm>
          <a:prstGeom prst="rect">
            <a:avLst/>
          </a:prstGeom>
          <a:noFill/>
          <a:ln/>
        </p:spPr>
        <p:txBody>
          <a:bodyPr wrap="square" rtlCol="0" anchor="ctr"/>
          <a:lstStyle/>
          <a:p>
            <a:pPr marL="0" indent="0">
              <a:buNone/>
            </a:pPr>
            <a:r>
              <a:rPr lang="en-US" sz="950" b="1" kern="0" spc="100" dirty="0">
                <a:solidFill>
                  <a:srgbClr val="22D3EE"/>
                </a:solidFill>
                <a:latin typeface="Arial" pitchFamily="34" charset="0"/>
                <a:ea typeface="Arial" pitchFamily="34" charset="-122"/>
                <a:cs typeface="Arial" pitchFamily="34" charset="-120"/>
              </a:rPr>
              <a:t>NEXT STEP</a:t>
            </a:r>
            <a:endParaRPr lang="en-US" sz="950" dirty="0"/>
          </a:p>
        </p:txBody>
      </p:sp>
      <p:sp>
        <p:nvSpPr>
          <p:cNvPr id="13" name="Text 11"/>
          <p:cNvSpPr/>
          <p:nvPr/>
        </p:nvSpPr>
        <p:spPr>
          <a:xfrm>
            <a:off x="1005840" y="4251960"/>
            <a:ext cx="2185416" cy="822960"/>
          </a:xfrm>
          <a:prstGeom prst="rect">
            <a:avLst/>
          </a:prstGeom>
          <a:noFill/>
          <a:ln/>
        </p:spPr>
        <p:txBody>
          <a:bodyPr wrap="square" rtlCol="0" anchor="ctr"/>
          <a:lstStyle/>
          <a:p>
            <a:pPr marL="0" indent="0" algn="just">
              <a:lnSpc>
                <a:spcPct val="120000"/>
              </a:lnSpc>
              <a:buNone/>
            </a:pPr>
            <a:r>
              <a:rPr lang="en-US" sz="1100" dirty="0">
                <a:solidFill>
                  <a:srgbClr val="FFFFFF"/>
                </a:solidFill>
                <a:latin typeface="Calibri" pitchFamily="34" charset="0"/>
                <a:ea typeface="Calibri" pitchFamily="34" charset="-122"/>
                <a:cs typeface="Calibri" pitchFamily="34" charset="-120"/>
              </a:rPr>
              <a:t>Resolve the technical blocker and switch validated market-size figures back on</a:t>
            </a:r>
            <a:endParaRPr lang="en-US" sz="1100" dirty="0"/>
          </a:p>
        </p:txBody>
      </p:sp>
      <p:sp>
        <p:nvSpPr>
          <p:cNvPr id="14" name="Shape 12"/>
          <p:cNvSpPr/>
          <p:nvPr/>
        </p:nvSpPr>
        <p:spPr>
          <a:xfrm>
            <a:off x="3493008" y="2057400"/>
            <a:ext cx="2551176" cy="3063240"/>
          </a:xfrm>
          <a:prstGeom prst="roundRect">
            <a:avLst>
              <a:gd name="adj" fmla="val 3584"/>
            </a:avLst>
          </a:prstGeom>
          <a:solidFill>
            <a:srgbClr val="121A2C"/>
          </a:solidFill>
          <a:ln w="9525">
            <a:solidFill>
              <a:srgbClr val="1B2740"/>
            </a:solidFill>
            <a:prstDash val="solid"/>
          </a:ln>
        </p:spPr>
        <p:txBody>
          <a:bodyPr/>
          <a:lstStyle/>
          <a:p>
            <a:endParaRPr lang="fr-BE"/>
          </a:p>
        </p:txBody>
      </p:sp>
      <p:sp>
        <p:nvSpPr>
          <p:cNvPr id="15" name="Text 13"/>
          <p:cNvSpPr/>
          <p:nvPr/>
        </p:nvSpPr>
        <p:spPr>
          <a:xfrm>
            <a:off x="3675888" y="2212848"/>
            <a:ext cx="2185416" cy="274320"/>
          </a:xfrm>
          <a:prstGeom prst="rect">
            <a:avLst/>
          </a:prstGeom>
          <a:noFill/>
          <a:ln/>
        </p:spPr>
        <p:txBody>
          <a:bodyPr wrap="square" rtlCol="0" anchor="ctr"/>
          <a:lstStyle/>
          <a:p>
            <a:pPr marL="0" indent="0">
              <a:buNone/>
            </a:pPr>
            <a:r>
              <a:rPr lang="en-US" sz="950" b="1" kern="0" spc="100" dirty="0">
                <a:solidFill>
                  <a:srgbClr val="677089"/>
                </a:solidFill>
                <a:latin typeface="Arial" pitchFamily="34" charset="0"/>
                <a:ea typeface="Arial" pitchFamily="34" charset="-122"/>
                <a:cs typeface="Arial" pitchFamily="34" charset="-120"/>
              </a:rPr>
              <a:t>POTENTIAL</a:t>
            </a:r>
            <a:endParaRPr lang="en-US" sz="950" dirty="0"/>
          </a:p>
        </p:txBody>
      </p:sp>
      <p:sp>
        <p:nvSpPr>
          <p:cNvPr id="16" name="Text 14"/>
          <p:cNvSpPr/>
          <p:nvPr/>
        </p:nvSpPr>
        <p:spPr>
          <a:xfrm>
            <a:off x="3675888" y="2487168"/>
            <a:ext cx="2185416" cy="1234440"/>
          </a:xfrm>
          <a:prstGeom prst="rect">
            <a:avLst/>
          </a:prstGeom>
          <a:noFill/>
          <a:ln/>
        </p:spPr>
        <p:txBody>
          <a:bodyPr wrap="square" rtlCol="0" anchor="ctr"/>
          <a:lstStyle/>
          <a:p>
            <a:pPr marL="0" indent="0" algn="just">
              <a:lnSpc>
                <a:spcPct val="120000"/>
              </a:lnSpc>
              <a:buNone/>
            </a:pPr>
            <a:r>
              <a:rPr lang="en-US" sz="1100" dirty="0">
                <a:solidFill>
                  <a:srgbClr val="C3CBDB"/>
                </a:solidFill>
                <a:latin typeface="Calibri" pitchFamily="34" charset="0"/>
                <a:ea typeface="Calibri" pitchFamily="34" charset="-122"/>
                <a:cs typeface="Calibri" pitchFamily="34" charset="-120"/>
              </a:rPr>
              <a:t>Orange Fit is provisional, not a full right-to-win model</a:t>
            </a:r>
            <a:endParaRPr lang="en-US" sz="1100" dirty="0"/>
          </a:p>
        </p:txBody>
      </p:sp>
      <p:sp>
        <p:nvSpPr>
          <p:cNvPr id="17" name="Shape 15"/>
          <p:cNvSpPr/>
          <p:nvPr/>
        </p:nvSpPr>
        <p:spPr>
          <a:xfrm>
            <a:off x="3675888" y="3840480"/>
            <a:ext cx="2185416" cy="0"/>
          </a:xfrm>
          <a:prstGeom prst="line">
            <a:avLst/>
          </a:prstGeom>
          <a:noFill/>
          <a:ln w="9525">
            <a:solidFill>
              <a:srgbClr val="22304A"/>
            </a:solidFill>
            <a:prstDash val="solid"/>
          </a:ln>
        </p:spPr>
        <p:txBody>
          <a:bodyPr/>
          <a:lstStyle/>
          <a:p>
            <a:endParaRPr lang="fr-BE"/>
          </a:p>
        </p:txBody>
      </p:sp>
      <p:sp>
        <p:nvSpPr>
          <p:cNvPr id="18" name="Text 16"/>
          <p:cNvSpPr/>
          <p:nvPr/>
        </p:nvSpPr>
        <p:spPr>
          <a:xfrm>
            <a:off x="3675888" y="3977640"/>
            <a:ext cx="2185416" cy="274320"/>
          </a:xfrm>
          <a:prstGeom prst="rect">
            <a:avLst/>
          </a:prstGeom>
          <a:noFill/>
          <a:ln/>
        </p:spPr>
        <p:txBody>
          <a:bodyPr wrap="square" rtlCol="0" anchor="ctr"/>
          <a:lstStyle/>
          <a:p>
            <a:pPr marL="0" indent="0">
              <a:buNone/>
            </a:pPr>
            <a:r>
              <a:rPr lang="en-US" sz="950" b="1" kern="0" spc="100" dirty="0">
                <a:solidFill>
                  <a:srgbClr val="22D3EE"/>
                </a:solidFill>
                <a:latin typeface="Arial" pitchFamily="34" charset="0"/>
                <a:ea typeface="Arial" pitchFamily="34" charset="-122"/>
                <a:cs typeface="Arial" pitchFamily="34" charset="-120"/>
              </a:rPr>
              <a:t>NEXT STEP</a:t>
            </a:r>
            <a:endParaRPr lang="en-US" sz="950" dirty="0"/>
          </a:p>
        </p:txBody>
      </p:sp>
      <p:sp>
        <p:nvSpPr>
          <p:cNvPr id="19" name="Text 17"/>
          <p:cNvSpPr/>
          <p:nvPr/>
        </p:nvSpPr>
        <p:spPr>
          <a:xfrm>
            <a:off x="3675888" y="4251960"/>
            <a:ext cx="2185416" cy="822960"/>
          </a:xfrm>
          <a:prstGeom prst="rect">
            <a:avLst/>
          </a:prstGeom>
          <a:noFill/>
          <a:ln/>
        </p:spPr>
        <p:txBody>
          <a:bodyPr wrap="square" rtlCol="0" anchor="ctr"/>
          <a:lstStyle/>
          <a:p>
            <a:pPr marL="0" indent="0" algn="just">
              <a:lnSpc>
                <a:spcPct val="120000"/>
              </a:lnSpc>
              <a:buNone/>
            </a:pPr>
            <a:r>
              <a:rPr lang="en-US" sz="1100" dirty="0">
                <a:solidFill>
                  <a:srgbClr val="FFFFFF"/>
                </a:solidFill>
                <a:latin typeface="Calibri" pitchFamily="34" charset="0"/>
                <a:ea typeface="Calibri" pitchFamily="34" charset="-122"/>
                <a:cs typeface="Calibri" pitchFamily="34" charset="-120"/>
              </a:rPr>
              <a:t>Add CRM, account, delivery and competitor evidence</a:t>
            </a:r>
            <a:endParaRPr lang="en-US" sz="1100" dirty="0"/>
          </a:p>
        </p:txBody>
      </p:sp>
      <p:sp>
        <p:nvSpPr>
          <p:cNvPr id="20" name="Shape 18"/>
          <p:cNvSpPr/>
          <p:nvPr/>
        </p:nvSpPr>
        <p:spPr>
          <a:xfrm>
            <a:off x="6163056" y="2057400"/>
            <a:ext cx="2551176" cy="3063240"/>
          </a:xfrm>
          <a:prstGeom prst="roundRect">
            <a:avLst>
              <a:gd name="adj" fmla="val 3584"/>
            </a:avLst>
          </a:prstGeom>
          <a:solidFill>
            <a:srgbClr val="121A2C"/>
          </a:solidFill>
          <a:ln w="9525">
            <a:solidFill>
              <a:srgbClr val="1B2740"/>
            </a:solidFill>
            <a:prstDash val="solid"/>
          </a:ln>
        </p:spPr>
        <p:txBody>
          <a:bodyPr/>
          <a:lstStyle/>
          <a:p>
            <a:endParaRPr lang="fr-BE"/>
          </a:p>
        </p:txBody>
      </p:sp>
      <p:sp>
        <p:nvSpPr>
          <p:cNvPr id="21" name="Text 19"/>
          <p:cNvSpPr/>
          <p:nvPr/>
        </p:nvSpPr>
        <p:spPr>
          <a:xfrm>
            <a:off x="6345936" y="2212848"/>
            <a:ext cx="2185416" cy="274320"/>
          </a:xfrm>
          <a:prstGeom prst="rect">
            <a:avLst/>
          </a:prstGeom>
          <a:noFill/>
          <a:ln/>
        </p:spPr>
        <p:txBody>
          <a:bodyPr wrap="square" rtlCol="0" anchor="ctr"/>
          <a:lstStyle/>
          <a:p>
            <a:pPr marL="0" indent="0">
              <a:buNone/>
            </a:pPr>
            <a:r>
              <a:rPr lang="en-US" sz="950" b="1" kern="0" spc="100" dirty="0">
                <a:solidFill>
                  <a:srgbClr val="677089"/>
                </a:solidFill>
                <a:latin typeface="Arial" pitchFamily="34" charset="0"/>
                <a:ea typeface="Arial" pitchFamily="34" charset="-122"/>
                <a:cs typeface="Arial" pitchFamily="34" charset="-120"/>
              </a:rPr>
              <a:t>POTENTIAL</a:t>
            </a:r>
            <a:endParaRPr lang="en-US" sz="950" dirty="0"/>
          </a:p>
        </p:txBody>
      </p:sp>
      <p:sp>
        <p:nvSpPr>
          <p:cNvPr id="22" name="Text 20"/>
          <p:cNvSpPr/>
          <p:nvPr/>
        </p:nvSpPr>
        <p:spPr>
          <a:xfrm>
            <a:off x="6345936" y="2487168"/>
            <a:ext cx="2185416" cy="1234440"/>
          </a:xfrm>
          <a:prstGeom prst="rect">
            <a:avLst/>
          </a:prstGeom>
          <a:noFill/>
          <a:ln/>
        </p:spPr>
        <p:txBody>
          <a:bodyPr wrap="square" rtlCol="0" anchor="ctr"/>
          <a:lstStyle/>
          <a:p>
            <a:pPr marL="0" indent="0" algn="just">
              <a:lnSpc>
                <a:spcPct val="120000"/>
              </a:lnSpc>
              <a:buNone/>
            </a:pPr>
            <a:r>
              <a:rPr lang="en-US" sz="1100" dirty="0">
                <a:solidFill>
                  <a:srgbClr val="C3CBDB"/>
                </a:solidFill>
                <a:latin typeface="Calibri" pitchFamily="34" charset="0"/>
                <a:ea typeface="Calibri" pitchFamily="34" charset="-122"/>
                <a:cs typeface="Calibri" pitchFamily="34" charset="-120"/>
              </a:rPr>
              <a:t>Taxonomy classification is validated on a small pilot (25 cases, 92% accuracy)</a:t>
            </a:r>
            <a:endParaRPr lang="en-US" sz="1100" dirty="0"/>
          </a:p>
        </p:txBody>
      </p:sp>
      <p:sp>
        <p:nvSpPr>
          <p:cNvPr id="23" name="Shape 21"/>
          <p:cNvSpPr/>
          <p:nvPr/>
        </p:nvSpPr>
        <p:spPr>
          <a:xfrm>
            <a:off x="6345936" y="3840480"/>
            <a:ext cx="2185416" cy="0"/>
          </a:xfrm>
          <a:prstGeom prst="line">
            <a:avLst/>
          </a:prstGeom>
          <a:noFill/>
          <a:ln w="9525">
            <a:solidFill>
              <a:srgbClr val="22304A"/>
            </a:solidFill>
            <a:prstDash val="solid"/>
          </a:ln>
        </p:spPr>
        <p:txBody>
          <a:bodyPr/>
          <a:lstStyle/>
          <a:p>
            <a:endParaRPr lang="fr-BE"/>
          </a:p>
        </p:txBody>
      </p:sp>
      <p:sp>
        <p:nvSpPr>
          <p:cNvPr id="24" name="Text 22"/>
          <p:cNvSpPr/>
          <p:nvPr/>
        </p:nvSpPr>
        <p:spPr>
          <a:xfrm>
            <a:off x="6345936" y="3977640"/>
            <a:ext cx="2185416" cy="274320"/>
          </a:xfrm>
          <a:prstGeom prst="rect">
            <a:avLst/>
          </a:prstGeom>
          <a:noFill/>
          <a:ln/>
        </p:spPr>
        <p:txBody>
          <a:bodyPr wrap="square" rtlCol="0" anchor="ctr"/>
          <a:lstStyle/>
          <a:p>
            <a:pPr marL="0" indent="0">
              <a:buNone/>
            </a:pPr>
            <a:r>
              <a:rPr lang="en-US" sz="950" b="1" kern="0" spc="100" dirty="0">
                <a:solidFill>
                  <a:srgbClr val="22D3EE"/>
                </a:solidFill>
                <a:latin typeface="Arial" pitchFamily="34" charset="0"/>
                <a:ea typeface="Arial" pitchFamily="34" charset="-122"/>
                <a:cs typeface="Arial" pitchFamily="34" charset="-120"/>
              </a:rPr>
              <a:t>NEXT STEP</a:t>
            </a:r>
            <a:endParaRPr lang="en-US" sz="950" dirty="0"/>
          </a:p>
        </p:txBody>
      </p:sp>
      <p:sp>
        <p:nvSpPr>
          <p:cNvPr id="25" name="Text 23"/>
          <p:cNvSpPr/>
          <p:nvPr/>
        </p:nvSpPr>
        <p:spPr>
          <a:xfrm>
            <a:off x="6345936" y="4251960"/>
            <a:ext cx="2185416" cy="822960"/>
          </a:xfrm>
          <a:prstGeom prst="rect">
            <a:avLst/>
          </a:prstGeom>
          <a:noFill/>
          <a:ln/>
        </p:spPr>
        <p:txBody>
          <a:bodyPr wrap="square" rtlCol="0" anchor="ctr"/>
          <a:lstStyle/>
          <a:p>
            <a:pPr marL="0" indent="0" algn="just">
              <a:lnSpc>
                <a:spcPct val="120000"/>
              </a:lnSpc>
              <a:buNone/>
            </a:pPr>
            <a:r>
              <a:rPr lang="en-US" sz="1100" dirty="0">
                <a:solidFill>
                  <a:srgbClr val="FFFFFF"/>
                </a:solidFill>
                <a:latin typeface="Calibri" pitchFamily="34" charset="0"/>
                <a:ea typeface="Calibri" pitchFamily="34" charset="-122"/>
                <a:cs typeface="Calibri" pitchFamily="34" charset="-120"/>
              </a:rPr>
              <a:t>Keep growing human validation as labeled data accumulates</a:t>
            </a:r>
            <a:endParaRPr lang="en-US" sz="1100" dirty="0"/>
          </a:p>
        </p:txBody>
      </p:sp>
      <p:sp>
        <p:nvSpPr>
          <p:cNvPr id="26" name="Shape 24"/>
          <p:cNvSpPr/>
          <p:nvPr/>
        </p:nvSpPr>
        <p:spPr>
          <a:xfrm>
            <a:off x="8833104" y="2057400"/>
            <a:ext cx="2551176" cy="3063240"/>
          </a:xfrm>
          <a:prstGeom prst="roundRect">
            <a:avLst>
              <a:gd name="adj" fmla="val 3584"/>
            </a:avLst>
          </a:prstGeom>
          <a:solidFill>
            <a:srgbClr val="121A2C"/>
          </a:solidFill>
          <a:ln w="9525">
            <a:solidFill>
              <a:srgbClr val="1B2740"/>
            </a:solidFill>
            <a:prstDash val="solid"/>
          </a:ln>
        </p:spPr>
        <p:txBody>
          <a:bodyPr/>
          <a:lstStyle/>
          <a:p>
            <a:endParaRPr lang="fr-BE"/>
          </a:p>
        </p:txBody>
      </p:sp>
      <p:sp>
        <p:nvSpPr>
          <p:cNvPr id="27" name="Text 25"/>
          <p:cNvSpPr/>
          <p:nvPr/>
        </p:nvSpPr>
        <p:spPr>
          <a:xfrm>
            <a:off x="9015984" y="2212848"/>
            <a:ext cx="2185416" cy="274320"/>
          </a:xfrm>
          <a:prstGeom prst="rect">
            <a:avLst/>
          </a:prstGeom>
          <a:noFill/>
          <a:ln/>
        </p:spPr>
        <p:txBody>
          <a:bodyPr wrap="square" rtlCol="0" anchor="ctr"/>
          <a:lstStyle/>
          <a:p>
            <a:pPr marL="0" indent="0">
              <a:buNone/>
            </a:pPr>
            <a:r>
              <a:rPr lang="en-US" sz="950" b="1" kern="0" spc="100" dirty="0">
                <a:solidFill>
                  <a:srgbClr val="677089"/>
                </a:solidFill>
                <a:latin typeface="Arial" pitchFamily="34" charset="0"/>
                <a:ea typeface="Arial" pitchFamily="34" charset="-122"/>
                <a:cs typeface="Arial" pitchFamily="34" charset="-120"/>
              </a:rPr>
              <a:t>POTENTIAL</a:t>
            </a:r>
            <a:endParaRPr lang="en-US" sz="950" dirty="0"/>
          </a:p>
        </p:txBody>
      </p:sp>
      <p:sp>
        <p:nvSpPr>
          <p:cNvPr id="28" name="Text 26"/>
          <p:cNvSpPr/>
          <p:nvPr/>
        </p:nvSpPr>
        <p:spPr>
          <a:xfrm>
            <a:off x="9015984" y="2487168"/>
            <a:ext cx="2185416" cy="1234440"/>
          </a:xfrm>
          <a:prstGeom prst="rect">
            <a:avLst/>
          </a:prstGeom>
          <a:noFill/>
          <a:ln/>
        </p:spPr>
        <p:txBody>
          <a:bodyPr wrap="square" rtlCol="0" anchor="ctr"/>
          <a:lstStyle/>
          <a:p>
            <a:pPr marL="0" indent="0" algn="just">
              <a:lnSpc>
                <a:spcPct val="120000"/>
              </a:lnSpc>
              <a:buNone/>
            </a:pPr>
            <a:r>
              <a:rPr lang="en-US" sz="1100" dirty="0">
                <a:solidFill>
                  <a:srgbClr val="C3CBDB"/>
                </a:solidFill>
                <a:latin typeface="Calibri" pitchFamily="34" charset="0"/>
                <a:ea typeface="Calibri" pitchFamily="34" charset="-122"/>
                <a:cs typeface="Calibri" pitchFamily="34" charset="-120"/>
              </a:rPr>
              <a:t>Scores are transparent indices, not validated predictions of sales success</a:t>
            </a:r>
            <a:endParaRPr lang="en-US" sz="1100" dirty="0"/>
          </a:p>
        </p:txBody>
      </p:sp>
      <p:sp>
        <p:nvSpPr>
          <p:cNvPr id="29" name="Shape 27"/>
          <p:cNvSpPr/>
          <p:nvPr/>
        </p:nvSpPr>
        <p:spPr>
          <a:xfrm>
            <a:off x="9015984" y="3840480"/>
            <a:ext cx="2185416" cy="0"/>
          </a:xfrm>
          <a:prstGeom prst="line">
            <a:avLst/>
          </a:prstGeom>
          <a:noFill/>
          <a:ln w="9525">
            <a:solidFill>
              <a:srgbClr val="22304A"/>
            </a:solidFill>
            <a:prstDash val="solid"/>
          </a:ln>
        </p:spPr>
        <p:txBody>
          <a:bodyPr/>
          <a:lstStyle/>
          <a:p>
            <a:endParaRPr lang="fr-BE"/>
          </a:p>
        </p:txBody>
      </p:sp>
      <p:sp>
        <p:nvSpPr>
          <p:cNvPr id="30" name="Text 28"/>
          <p:cNvSpPr/>
          <p:nvPr/>
        </p:nvSpPr>
        <p:spPr>
          <a:xfrm>
            <a:off x="9015984" y="3977640"/>
            <a:ext cx="2185416" cy="274320"/>
          </a:xfrm>
          <a:prstGeom prst="rect">
            <a:avLst/>
          </a:prstGeom>
          <a:noFill/>
          <a:ln/>
        </p:spPr>
        <p:txBody>
          <a:bodyPr wrap="square" rtlCol="0" anchor="ctr"/>
          <a:lstStyle/>
          <a:p>
            <a:pPr marL="0" indent="0">
              <a:buNone/>
            </a:pPr>
            <a:r>
              <a:rPr lang="en-US" sz="950" b="1" kern="0" spc="100" dirty="0">
                <a:solidFill>
                  <a:srgbClr val="22D3EE"/>
                </a:solidFill>
                <a:latin typeface="Arial" pitchFamily="34" charset="0"/>
                <a:ea typeface="Arial" pitchFamily="34" charset="-122"/>
                <a:cs typeface="Arial" pitchFamily="34" charset="-120"/>
              </a:rPr>
              <a:t>NEXT STEP</a:t>
            </a:r>
            <a:endParaRPr lang="en-US" sz="950" dirty="0"/>
          </a:p>
        </p:txBody>
      </p:sp>
      <p:sp>
        <p:nvSpPr>
          <p:cNvPr id="31" name="Text 29"/>
          <p:cNvSpPr/>
          <p:nvPr/>
        </p:nvSpPr>
        <p:spPr>
          <a:xfrm>
            <a:off x="9015984" y="4251960"/>
            <a:ext cx="2185416" cy="822960"/>
          </a:xfrm>
          <a:prstGeom prst="rect">
            <a:avLst/>
          </a:prstGeom>
          <a:noFill/>
          <a:ln/>
        </p:spPr>
        <p:txBody>
          <a:bodyPr wrap="square" rtlCol="0" anchor="ctr"/>
          <a:lstStyle/>
          <a:p>
            <a:pPr marL="0" indent="0" algn="just">
              <a:lnSpc>
                <a:spcPct val="120000"/>
              </a:lnSpc>
              <a:buNone/>
            </a:pPr>
            <a:r>
              <a:rPr lang="en-US" sz="1100" dirty="0">
                <a:solidFill>
                  <a:srgbClr val="FFFFFF"/>
                </a:solidFill>
                <a:latin typeface="Calibri" pitchFamily="34" charset="0"/>
                <a:ea typeface="Calibri" pitchFamily="34" charset="-122"/>
                <a:cs typeface="Calibri" pitchFamily="34" charset="-120"/>
              </a:rPr>
              <a:t>Track real outcomes over time to calibrate the weights</a:t>
            </a:r>
            <a:endParaRPr lang="en-US" sz="1100" dirty="0"/>
          </a:p>
        </p:txBody>
      </p:sp>
      <p:sp>
        <p:nvSpPr>
          <p:cNvPr id="32" name="Text 30"/>
          <p:cNvSpPr/>
          <p:nvPr/>
        </p:nvSpPr>
        <p:spPr>
          <a:xfrm>
            <a:off x="822960" y="5349240"/>
            <a:ext cx="10515600" cy="502920"/>
          </a:xfrm>
          <a:prstGeom prst="rect">
            <a:avLst/>
          </a:prstGeom>
          <a:noFill/>
          <a:ln/>
        </p:spPr>
        <p:txBody>
          <a:bodyPr wrap="square" rtlCol="0" anchor="ctr"/>
          <a:lstStyle/>
          <a:p>
            <a:pPr marL="0" indent="0">
              <a:lnSpc>
                <a:spcPct val="120000"/>
              </a:lnSpc>
              <a:buNone/>
            </a:pPr>
            <a:r>
              <a:rPr lang="en-US" sz="1100" i="1" dirty="0">
                <a:solidFill>
                  <a:srgbClr val="9AA5B8"/>
                </a:solidFill>
                <a:latin typeface="Calibri" pitchFamily="34" charset="0"/>
                <a:ea typeface="Calibri" pitchFamily="34" charset="-122"/>
                <a:cs typeface="Calibri" pitchFamily="34" charset="-120"/>
              </a:rPr>
              <a:t>We collect public institutional signals, classify them into a closed taxonomy, and group them into traceable opportunity spaces — so Orange Business can decide what to validate next.</a:t>
            </a:r>
            <a:endParaRPr lang="en-US" sz="1100" dirty="0"/>
          </a:p>
        </p:txBody>
      </p:sp>
      <p:sp>
        <p:nvSpPr>
          <p:cNvPr id="33" name="Text 3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677089"/>
                </a:solidFill>
                <a:latin typeface="Calibri" pitchFamily="34" charset="0"/>
                <a:ea typeface="Calibri" pitchFamily="34" charset="-122"/>
                <a:cs typeface="Calibri" pitchFamily="34" charset="-120"/>
              </a:rPr>
              <a:t>Cobalt Data Society · Innovation Radar</a:t>
            </a:r>
            <a:endParaRPr lang="en-US" sz="900" dirty="0"/>
          </a:p>
        </p:txBody>
      </p:sp>
      <p:sp>
        <p:nvSpPr>
          <p:cNvPr id="34" name="Text 32"/>
          <p:cNvSpPr/>
          <p:nvPr/>
        </p:nvSpPr>
        <p:spPr>
          <a:xfrm>
            <a:off x="8534095" y="6473952"/>
            <a:ext cx="3200400" cy="274320"/>
          </a:xfrm>
          <a:prstGeom prst="rect">
            <a:avLst/>
          </a:prstGeom>
          <a:noFill/>
          <a:ln/>
        </p:spPr>
        <p:txBody>
          <a:bodyPr wrap="square" rtlCol="0" anchor="ctr"/>
          <a:lstStyle/>
          <a:p>
            <a:pPr marL="0" indent="0" algn="r">
              <a:buNone/>
            </a:pPr>
            <a:r>
              <a:rPr lang="en-US" sz="900" dirty="0">
                <a:solidFill>
                  <a:srgbClr val="677089"/>
                </a:solidFill>
                <a:latin typeface="Calibri" pitchFamily="34" charset="0"/>
                <a:ea typeface="Calibri" pitchFamily="34" charset="-122"/>
                <a:cs typeface="Calibri" pitchFamily="34" charset="-120"/>
              </a:rPr>
              <a:t>Limitations</a:t>
            </a:r>
            <a:endParaRPr lang="en-US" sz="900" dirty="0"/>
          </a:p>
        </p:txBody>
      </p:sp>
      <p:sp>
        <p:nvSpPr>
          <p:cNvPr id="36" name="Text 32">
            <a:extLst>
              <a:ext uri="{FF2B5EF4-FFF2-40B4-BE49-F238E27FC236}">
                <a16:creationId xmlns:a16="http://schemas.microsoft.com/office/drawing/2014/main" id="{8E774224-F992-D846-4ECB-3F8E39CDACF5}"/>
              </a:ext>
            </a:extLst>
          </p:cNvPr>
          <p:cNvSpPr/>
          <p:nvPr/>
        </p:nvSpPr>
        <p:spPr>
          <a:xfrm>
            <a:off x="8751100" y="219191"/>
            <a:ext cx="3200400" cy="274320"/>
          </a:xfrm>
          <a:prstGeom prst="rect">
            <a:avLst/>
          </a:prstGeom>
          <a:noFill/>
          <a:ln/>
        </p:spPr>
        <p:txBody>
          <a:bodyPr wrap="square" rtlCol="0" anchor="ctr"/>
          <a:lstStyle/>
          <a:p>
            <a:pPr marL="0" indent="0" algn="r">
              <a:buNone/>
            </a:pPr>
            <a:r>
              <a:rPr lang="en-US" sz="900" dirty="0">
                <a:solidFill>
                  <a:srgbClr val="67708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9326880" y="4297680"/>
            <a:ext cx="2011680" cy="2011680"/>
          </a:xfrm>
          <a:prstGeom prst="ellipse">
            <a:avLst/>
          </a:prstGeom>
          <a:ln w="15875">
            <a:solidFill>
              <a:srgbClr val="1B2740"/>
            </a:solidFill>
            <a:prstDash val="solid"/>
          </a:ln>
        </p:spPr>
        <p:txBody>
          <a:bodyPr/>
          <a:lstStyle/>
          <a:p>
            <a:endParaRPr lang="fr-BE"/>
          </a:p>
        </p:txBody>
      </p:sp>
      <p:sp>
        <p:nvSpPr>
          <p:cNvPr id="3" name="Shape 1"/>
          <p:cNvSpPr/>
          <p:nvPr/>
        </p:nvSpPr>
        <p:spPr>
          <a:xfrm>
            <a:off x="9646920" y="4617720"/>
            <a:ext cx="1371600" cy="1371600"/>
          </a:xfrm>
          <a:prstGeom prst="ellipse">
            <a:avLst/>
          </a:prstGeom>
          <a:ln w="15875">
            <a:solidFill>
              <a:srgbClr val="1B2740"/>
            </a:solidFill>
            <a:prstDash val="solid"/>
          </a:ln>
        </p:spPr>
        <p:txBody>
          <a:bodyPr/>
          <a:lstStyle/>
          <a:p>
            <a:endParaRPr lang="fr-BE"/>
          </a:p>
        </p:txBody>
      </p:sp>
      <p:sp>
        <p:nvSpPr>
          <p:cNvPr id="4" name="Shape 2"/>
          <p:cNvSpPr/>
          <p:nvPr/>
        </p:nvSpPr>
        <p:spPr>
          <a:xfrm>
            <a:off x="9921240" y="4892040"/>
            <a:ext cx="822960" cy="822960"/>
          </a:xfrm>
          <a:prstGeom prst="ellipse">
            <a:avLst/>
          </a:prstGeom>
          <a:ln w="15875">
            <a:solidFill>
              <a:srgbClr val="2F5CFF"/>
            </a:solidFill>
            <a:prstDash val="solid"/>
          </a:ln>
        </p:spPr>
        <p:txBody>
          <a:bodyPr/>
          <a:lstStyle/>
          <a:p>
            <a:endParaRPr lang="fr-BE"/>
          </a:p>
        </p:txBody>
      </p:sp>
      <p:sp>
        <p:nvSpPr>
          <p:cNvPr id="5" name="Shape 3"/>
          <p:cNvSpPr/>
          <p:nvPr/>
        </p:nvSpPr>
        <p:spPr>
          <a:xfrm>
            <a:off x="822960" y="661111"/>
            <a:ext cx="273406" cy="273406"/>
          </a:xfrm>
          <a:prstGeom prst="ellipse">
            <a:avLst/>
          </a:prstGeom>
          <a:ln w="15875">
            <a:solidFill>
              <a:srgbClr val="22D3EE"/>
            </a:solidFill>
            <a:prstDash val="solid"/>
          </a:ln>
        </p:spPr>
        <p:txBody>
          <a:bodyPr/>
          <a:lstStyle/>
          <a:p>
            <a:endParaRPr lang="fr-BE"/>
          </a:p>
        </p:txBody>
      </p:sp>
      <p:sp>
        <p:nvSpPr>
          <p:cNvPr id="6" name="Shape 4"/>
          <p:cNvSpPr/>
          <p:nvPr/>
        </p:nvSpPr>
        <p:spPr>
          <a:xfrm>
            <a:off x="891311" y="729463"/>
            <a:ext cx="136703" cy="136703"/>
          </a:xfrm>
          <a:prstGeom prst="ellipse">
            <a:avLst/>
          </a:prstGeom>
          <a:ln w="15875">
            <a:solidFill>
              <a:srgbClr val="2F5CFF"/>
            </a:solidFill>
            <a:prstDash val="solid"/>
          </a:ln>
        </p:spPr>
        <p:txBody>
          <a:bodyPr/>
          <a:lstStyle/>
          <a:p>
            <a:endParaRPr lang="fr-BE"/>
          </a:p>
        </p:txBody>
      </p:sp>
      <p:sp>
        <p:nvSpPr>
          <p:cNvPr id="7" name="Shape 5"/>
          <p:cNvSpPr/>
          <p:nvPr/>
        </p:nvSpPr>
        <p:spPr>
          <a:xfrm>
            <a:off x="933374" y="771525"/>
            <a:ext cx="52578" cy="52578"/>
          </a:xfrm>
          <a:prstGeom prst="ellipse">
            <a:avLst/>
          </a:prstGeom>
          <a:solidFill>
            <a:srgbClr val="22D3EE"/>
          </a:solidFill>
          <a:ln/>
        </p:spPr>
        <p:txBody>
          <a:bodyPr/>
          <a:lstStyle/>
          <a:p>
            <a:endParaRPr lang="fr-BE"/>
          </a:p>
        </p:txBody>
      </p:sp>
      <p:sp>
        <p:nvSpPr>
          <p:cNvPr id="8" name="Text 6"/>
          <p:cNvSpPr/>
          <p:nvPr/>
        </p:nvSpPr>
        <p:spPr>
          <a:xfrm>
            <a:off x="1201522" y="612648"/>
            <a:ext cx="3657600" cy="292608"/>
          </a:xfrm>
          <a:prstGeom prst="rect">
            <a:avLst/>
          </a:prstGeom>
          <a:noFill/>
          <a:ln/>
        </p:spPr>
        <p:txBody>
          <a:bodyPr wrap="square" rtlCol="0" anchor="ctr"/>
          <a:lstStyle/>
          <a:p>
            <a:pPr marL="0" indent="0">
              <a:buNone/>
            </a:pPr>
            <a:r>
              <a:rPr lang="en-US" sz="1208" b="1" kern="0" spc="160" dirty="0">
                <a:solidFill>
                  <a:srgbClr val="9AA5B8"/>
                </a:solidFill>
                <a:latin typeface="Arial" pitchFamily="34" charset="0"/>
                <a:ea typeface="Arial" pitchFamily="34" charset="-122"/>
                <a:cs typeface="Arial" pitchFamily="34" charset="-120"/>
              </a:rPr>
              <a:t>COBALT DATA SOCIETY</a:t>
            </a:r>
            <a:endParaRPr lang="en-US" sz="1208" dirty="0"/>
          </a:p>
        </p:txBody>
      </p:sp>
      <p:sp>
        <p:nvSpPr>
          <p:cNvPr id="9" name="Text 7"/>
          <p:cNvSpPr/>
          <p:nvPr/>
        </p:nvSpPr>
        <p:spPr>
          <a:xfrm>
            <a:off x="822960" y="2194560"/>
            <a:ext cx="9601200" cy="1554480"/>
          </a:xfrm>
          <a:prstGeom prst="rect">
            <a:avLst/>
          </a:prstGeom>
          <a:noFill/>
          <a:ln/>
        </p:spPr>
        <p:txBody>
          <a:bodyPr wrap="square" rtlCol="0" anchor="ctr"/>
          <a:lstStyle/>
          <a:p>
            <a:pPr marL="0" indent="0">
              <a:lnSpc>
                <a:spcPct val="108000"/>
              </a:lnSpc>
              <a:buNone/>
            </a:pPr>
            <a:r>
              <a:rPr lang="en-US" sz="4000" b="1" dirty="0">
                <a:solidFill>
                  <a:srgbClr val="FFFFFF"/>
                </a:solidFill>
                <a:latin typeface="Arial" pitchFamily="34" charset="0"/>
                <a:ea typeface="Arial" pitchFamily="34" charset="-122"/>
                <a:cs typeface="Arial" pitchFamily="34" charset="-120"/>
              </a:rPr>
              <a:t>Let's put your next opportunity</a:t>
            </a:r>
            <a:endParaRPr lang="en-US" sz="4000" dirty="0"/>
          </a:p>
          <a:p>
            <a:pPr marL="0" indent="0">
              <a:lnSpc>
                <a:spcPct val="108000"/>
              </a:lnSpc>
              <a:buNone/>
            </a:pPr>
            <a:r>
              <a:rPr lang="en-US" sz="4000" b="1" dirty="0">
                <a:solidFill>
                  <a:srgbClr val="FFFFFF"/>
                </a:solidFill>
                <a:latin typeface="Arial" pitchFamily="34" charset="0"/>
                <a:ea typeface="Arial" pitchFamily="34" charset="-122"/>
                <a:cs typeface="Arial" pitchFamily="34" charset="-120"/>
              </a:rPr>
              <a:t>on the radar.</a:t>
            </a:r>
            <a:endParaRPr lang="en-US" sz="4000" dirty="0"/>
          </a:p>
        </p:txBody>
      </p:sp>
      <p:sp>
        <p:nvSpPr>
          <p:cNvPr id="10" name="Shape 8"/>
          <p:cNvSpPr/>
          <p:nvPr/>
        </p:nvSpPr>
        <p:spPr>
          <a:xfrm>
            <a:off x="822960" y="3794760"/>
            <a:ext cx="2926080" cy="0"/>
          </a:xfrm>
          <a:prstGeom prst="line">
            <a:avLst/>
          </a:prstGeom>
          <a:noFill/>
          <a:ln w="28575">
            <a:solidFill>
              <a:srgbClr val="2F5CFF"/>
            </a:solidFill>
            <a:prstDash val="solid"/>
          </a:ln>
        </p:spPr>
        <p:txBody>
          <a:bodyPr/>
          <a:lstStyle/>
          <a:p>
            <a:endParaRPr lang="fr-BE"/>
          </a:p>
        </p:txBody>
      </p:sp>
      <p:sp>
        <p:nvSpPr>
          <p:cNvPr id="11" name="Text 9"/>
          <p:cNvSpPr/>
          <p:nvPr/>
        </p:nvSpPr>
        <p:spPr>
          <a:xfrm>
            <a:off x="822960" y="3977640"/>
            <a:ext cx="8229600" cy="457200"/>
          </a:xfrm>
          <a:prstGeom prst="rect">
            <a:avLst/>
          </a:prstGeom>
          <a:noFill/>
          <a:ln/>
        </p:spPr>
        <p:txBody>
          <a:bodyPr wrap="square" rtlCol="0" anchor="ctr"/>
          <a:lstStyle/>
          <a:p>
            <a:pPr marL="0" indent="0">
              <a:buNone/>
            </a:pPr>
            <a:r>
              <a:rPr lang="en-US" sz="1600" i="1" dirty="0">
                <a:solidFill>
                  <a:srgbClr val="9AA5B8"/>
                </a:solidFill>
                <a:latin typeface="Calibri" pitchFamily="34" charset="0"/>
                <a:ea typeface="Calibri" pitchFamily="34" charset="-122"/>
                <a:cs typeface="Calibri" pitchFamily="34" charset="-120"/>
              </a:rPr>
              <a:t>Thank you !</a:t>
            </a:r>
            <a:endParaRPr lang="en-US" sz="1600" dirty="0"/>
          </a:p>
        </p:txBody>
      </p:sp>
      <p:sp>
        <p:nvSpPr>
          <p:cNvPr id="12" name="Text 10"/>
          <p:cNvSpPr/>
          <p:nvPr/>
        </p:nvSpPr>
        <p:spPr>
          <a:xfrm>
            <a:off x="822960" y="6217920"/>
            <a:ext cx="7315200" cy="320040"/>
          </a:xfrm>
          <a:prstGeom prst="rect">
            <a:avLst/>
          </a:prstGeom>
          <a:noFill/>
          <a:ln/>
        </p:spPr>
        <p:txBody>
          <a:bodyPr wrap="square" rtlCol="0" anchor="ctr"/>
          <a:lstStyle/>
          <a:p>
            <a:pPr marL="0" indent="0">
              <a:buNone/>
            </a:pPr>
            <a:r>
              <a:rPr lang="en-US" sz="1100" b="1" kern="0" spc="150" dirty="0">
                <a:solidFill>
                  <a:srgbClr val="677089"/>
                </a:solidFill>
                <a:latin typeface="Arial" pitchFamily="34" charset="0"/>
                <a:ea typeface="Arial" pitchFamily="34" charset="-122"/>
                <a:cs typeface="Arial" pitchFamily="34" charset="-120"/>
              </a:rPr>
              <a:t>COBALT DATA SOCIETY  ×  ORANGE BUSINESS</a:t>
            </a:r>
            <a:endParaRPr lang="en-US" sz="1100" dirty="0"/>
          </a:p>
        </p:txBody>
      </p:sp>
      <p:sp>
        <p:nvSpPr>
          <p:cNvPr id="14" name="Text 32">
            <a:extLst>
              <a:ext uri="{FF2B5EF4-FFF2-40B4-BE49-F238E27FC236}">
                <a16:creationId xmlns:a16="http://schemas.microsoft.com/office/drawing/2014/main" id="{25D39FE9-CC61-DE2D-AEA2-EC3813EDBA77}"/>
              </a:ext>
            </a:extLst>
          </p:cNvPr>
          <p:cNvSpPr/>
          <p:nvPr/>
        </p:nvSpPr>
        <p:spPr>
          <a:xfrm>
            <a:off x="8751100" y="219191"/>
            <a:ext cx="3200400" cy="274320"/>
          </a:xfrm>
          <a:prstGeom prst="rect">
            <a:avLst/>
          </a:prstGeom>
          <a:noFill/>
          <a:ln/>
        </p:spPr>
        <p:txBody>
          <a:bodyPr wrap="square" rtlCol="0" anchor="ctr"/>
          <a:lstStyle/>
          <a:p>
            <a:pPr marL="0" indent="0" algn="r">
              <a:buNone/>
            </a:pPr>
            <a:r>
              <a:rPr lang="en-US" sz="900" dirty="0">
                <a:solidFill>
                  <a:srgbClr val="677089"/>
                </a:solidFill>
                <a:latin typeface="Calibri" pitchFamily="34" charset="0"/>
                <a:ea typeface="Calibri" pitchFamily="34" charset="-122"/>
                <a:cs typeface="Calibri" pitchFamily="34" charset="-120"/>
              </a:rPr>
              <a:t>9</a:t>
            </a:r>
            <a:endParaRPr lang="en-US" sz="900" dirty="0"/>
          </a:p>
        </p:txBody>
      </p:sp>
      <p:sp>
        <p:nvSpPr>
          <p:cNvPr id="15" name="Shape 3">
            <a:extLst>
              <a:ext uri="{FF2B5EF4-FFF2-40B4-BE49-F238E27FC236}">
                <a16:creationId xmlns:a16="http://schemas.microsoft.com/office/drawing/2014/main" id="{0E54241B-CEC3-5C3E-BF3E-76D4D1B0F82C}"/>
              </a:ext>
            </a:extLst>
          </p:cNvPr>
          <p:cNvSpPr/>
          <p:nvPr/>
        </p:nvSpPr>
        <p:spPr>
          <a:xfrm>
            <a:off x="10289483" y="5235651"/>
            <a:ext cx="104361" cy="113872"/>
          </a:xfrm>
          <a:prstGeom prst="ellipse">
            <a:avLst/>
          </a:prstGeom>
          <a:solidFill>
            <a:srgbClr val="22D3EE"/>
          </a:solidFill>
          <a:ln/>
        </p:spPr>
        <p:txBody>
          <a:bodyPr/>
          <a:lstStyle/>
          <a:p>
            <a:endParaRPr lang="fr-B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2228</Words>
  <Application>Microsoft Office PowerPoint</Application>
  <PresentationFormat>Grand écran</PresentationFormat>
  <Paragraphs>264</Paragraphs>
  <Slides>10</Slides>
  <Notes>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Aptos</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Cobalt Data Society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 Radar — Product Pitch</dc:title>
  <dc:subject>PptxGenJS Presentation</dc:subject>
  <dc:creator>Cobalt Data Society</dc:creator>
  <cp:lastModifiedBy>Iness Khatiri</cp:lastModifiedBy>
  <cp:revision>5</cp:revision>
  <dcterms:created xsi:type="dcterms:W3CDTF">2026-08-27T18:39:25Z</dcterms:created>
  <dcterms:modified xsi:type="dcterms:W3CDTF">2026-08-28T09:24:06Z</dcterms:modified>
</cp:coreProperties>
</file>